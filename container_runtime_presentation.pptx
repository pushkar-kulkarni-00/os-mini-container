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900" b="0" i="0" u="none" strike="noStrike">
                <a:solidFill>
                  <a:srgbClr val="8FA3B1"/>
                </a:solidFill>
                <a:latin typeface="Arial"/>
              </a:defRPr>
            </a:pPr>
            <a:r>
              <a:rPr sz="900" b="0" i="0" u="none" strike="noStrike">
                <a:solidFill>
                  <a:srgbClr val="8FA3B1"/>
                </a:solidFill>
                <a:latin typeface="Arial"/>
              </a:rPr>
              <a:t>cpu_hog: 10-Second Burn (Relative Completion Times)</a:t>
            </a:r>
          </a:p>
        </c:rich>
      </c:tx>
      <c:layout/>
      <c:overlay val="0"/>
    </c:title>
    <c:autoTitleDeleted val="0"/>
    <c:plotArea>
      <c:layout/>
      <c:barChart>
        <c:barDir val="col"/>
        <c:grouping val="clustered"/>
        <c:varyColors val="0"/>
        <c:ser>
          <c:idx val="0"/>
          <c:order val="0"/>
          <c:tx>
            <c:strRef>
              <c:f>Sheet1!$B$1</c:f>
              <c:strCache>
                <c:ptCount val="1"/>
                <c:pt idx="0">
                  <c:v>Completion Time (sec)</c:v>
                </c:pt>
              </c:strCache>
            </c:strRef>
          </c:tx>
          <c:spPr>
            <a:solidFill>
              <a:srgbClr val="F5A623"/>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nice = -10</c:v>
                  </c:pt>
                  <c:pt idx="1">
                    <c:v>nice = 0</c:v>
                  </c:pt>
                  <c:pt idx="2">
                    <c:v>nice = +10</c:v>
                  </c:pt>
                </c:lvl>
              </c:multiLvlStrCache>
            </c:multiLvlStrRef>
          </c:cat>
          <c:val>
            <c:numRef>
              <c:f>Sheet1!$B$2:$B$4</c:f>
              <c:numCache>
                <c:formatCode>General</c:formatCode>
                <c:ptCount val="3"/>
                <c:pt idx="0">
                  <c:v>6</c:v>
                </c:pt>
                <c:pt idx="1">
                  <c:v>10</c:v>
                </c:pt>
                <c:pt idx="2">
                  <c:v>17</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3B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E405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3B1"/>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6253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Good morning/afternoon. Today I will be presenting my Operating Systems project titled "Supervised Multi-Container Runtime and Kernel Memory Monitor."
This project involves building a mini container runtime from scratch — similar to Docker but stripped to its core OS primitives. It uses Linux namespaces and clone() for isolation, a Linux kernel module for real-time memory monitoring, a bounded-buffer producer-consumer system for logging, and workload generators to stress-test the system.
The entire project is implemented in C — both user-space and kernel-space.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core problem this project addresses is: how do you reliably monitor and enforce per-container memory limits in a Linux environment?
User-space polling is too slow and expensive. The /proc filesystem can tell you RSS, but polling it every second from user-space consumes CPU. A kernel module running inside the kernel timer subsystem is far more efficient.
The objectives map directly to core OS topics: namespaces for isolation, IPC for control-plane communication, synchronization for the logging buffer, and the CFS scheduler for workload prioritization experiments.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Let me walk you through the system architecture.
At the top, we have User Space with two main roles: the Supervisor — which is a long-running instance of engine — and the CLI Client which is just another invocation of the same binary.
The Supervisor accepts commands over a UNIX domain socket, spawns isolated containers using clone() with namespace flags, and tracks their state in a linked list protected by metadata_lock.
Each Container runs inside its own PID, UTS, and Mount namespace. It uses chroot for filesystem isolation, and its stdout/stderr are piped back to the supervisor through a pipe that feeds a bounded buffer.
At the bottom is Kernel Space — our monitor.ko module. The supervisor opens /dev/container_monitor and uses ioctl() to register each container's PID with soft and hard memory limits. The kernel module then fires a timer every second to check RSS and enforce limits.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project consists of six main files.
engine.c is the heart of the user-space runtime. It serves dual roles: as a long-running supervisor daemon and as a thin CLI client.
monitor.c is a Linux kernel module that creates a character device. The supervisor communicates with it through ioctl calls, registering each container's PID for periodic RSS monitoring.
monitor_ioctl.h is the shared header that defines the ioctl command codes and the monitor_request structure — it's compiled into both the kernel module and user-space binary.
The three workload generators — cpu_hog, memory_hog, and io_pulse — serve as test programs that can be copied into a container's rootfs and run to exercise different aspects of the system.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engine.c is intentionally split into two roles in a single binary. When you run "engine supervisor", it stays running as the control-plane server. All other subcommands — start, run, stop, ps, logs — act as thin clients that connect over a UNIX domain socket.
The key data structures to know: container_record_t is the metadata struct for each running container; it lives in a linked list protected by metadata_lock. bounded_buffer_t is a circular buffer of 16 log chunks with two condition variables for the producer-consumer pattern. supervisor_ctx_t is the God object passed around the supervisor — it holds the server socket, monitor device fd, and logger thread.
The state machine has 5 states: STARTING → RUNNING → either STOPPED (graceful), KILLED (hard limit), or EXITED (process ended naturally).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slide shows the complete lifecycle of spawning a container.
Step 1: The CLI client serializes a control_request_t struct and sends it over the UNIX domain socket to the supervisor.
Step 2: The supervisor allocates a 1 MiB stack using malloc — this is the stack that clone() will use for the new process.
Step 3: clone() is called with three key namespace flags: CLONE_NEWPID gives the child its own PID namespace (it sees itself as PID 1), CLONE_NEWUTS allows setting a custom hostname, and CLONE_NEWNS creates a private mount namespace. SIGCHLD ensures the supervisor gets notified when the child exits.
Step 4: Inside child_fn(), the container performs: chroot to its rootfs, mount /proc inside the container, setpriority for CFS scheduling, redirect stdout/stderr to the supervisor's pipe, and finally execv to run the workload.
Step 5: The supervisor then calls ioctl on /dev/container_monitor to register this PID with the kernel module for memory tracking.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There are two distinct IPC channels in this design — this is an important design decision.
The control plane uses a UNIX domain socket at /tmp/mini_runtime.sock. When you run "engine start", the binary connects to this socket, sends a control_request_t struct, waits for a control_response_t, and exits. This is low frequency — one message per user action.
The data plane uses anonymous pipes. Before calling clone(), the supervisor creates a pipe. The write end is passed to child_fn() via child_config_t and is dup2'd over STDOUT_FILENO inside the container. The supervisor's parent process reads from the read end and pushes chunks into the bounded buffer.
The key reason for separation is: if logs were sent over the control socket, a slow log consumer could block control commands. By using a dedicated pipe for logs, the control plane remains responsive regardless of log volume.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logging system is a classic producer-consumer pattern with a bounded circular buffer of 16 slots.
The producer is a thread inside the supervisor that reads from the pipe connected to the container's stdout. It calls bounded_buffer_push, which acquires the mutex, waits on the not_full condition variable if the buffer is full, inserts the chunk, and then signals not_empty to wake the consumer.
The consumer is the logging_thread. It wakes on not_empty, pops a log_item_t, routes it to the correct per-container log file based on container_id, and signals not_full for the producer.
Both the mutex and condition variables prevent busy-waiting — this is efficient synchronization. The shutting_down flag is critical: it prevents the producer or consumer from blocking forever when the supervisor is asked to shut down.
The log_item_t struct carries the container_id alongside the chunk data so the single consumer thread can route logs to multiple files.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kernel module follows the standard Linux LKM pattern. On module_init, it allocates a dynamic character device major number, creates the /dev/container_monitor device node, and starts a kernel timer set to fire every CHECK_INTERVAL_SEC = 1 second.
The ioctl handler handles two commands: MONITOR_REGISTER allocates a node with kmalloc, copies the request from user space with copy_from_user, and inserts it into a kernel linked list. MONITOR_UNREGISTER searches by PID, removes the node with list_del, and frees it with kfree.
The critical question examiners often ask: why a kernel module and not /proc polling? The answer is efficiency and accuracy. The kernel timer fires at hardware interrupt level with minimal jitter. get_mm_rss() directly reads the memory descriptor without the text parsing overhead of /proc. And send_sig() can atomically kill the process without any user-space round trips.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memory monitoring logic centers on RSS — Resident Set Size — which is the number of pages currently backed by physical RAM. This is the right metric because virtual address space can be mapped but not yet allocated; RSS reflects actual memory pressure.
The kernel provides get_mm_rss() to read this value directly from the mm_struct. We protect the task_struct lookup with rcu_read_lock and get_task_mm to ensure the process doesn't disappear under us.
Soft limit is a warning threshold. When RSS crosses it, we call log_soft_limit_event() which issues a KERN_WARNING via printk. The soft_warned flag on the node prevents spam — only one warning per container registration.
Hard limit is enforced with send_sig(SIGKILL). This immediately terminates the container process. The node is then removed from the list.
The use of list_for_each_entry_safe is critical here — it saves the next pointer before the loop body so deleting the current node doesn't corrupt the iteration.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three workload generators are designed to stress different subsystems.
cpu_hog uses a simple linear congruential generator — a multiply-and-add loop — to keep the CPU busy. It prints once per second so you can observe timing. When you run two instances with different nice values, the one with nice=-10 gets more CPU slices and finishes sooner.
memory_hog is the key workload for testing the kernel module. Each iteration allocates a chunk and memsets it — this is critical because malloc alone doesn't commit physical pages; only writing to them (page fault handling) actually increases RSS. When RSS crosses the soft limit, the kernel module logs a warning in dmesg. When it crosses the hard limit, SIGKILL is sent.
io_pulse does short writes with fsync between them. fsync forces the kernel to flush dirty pages to storage, making this a genuine I/O-bound process. When mixed with cpu_hog, you can see how the CFS scheduler handles the different sleep/wake patterns.
All three are designed to be compiled into an Alpine or minimal rootfs for running inside containers.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CFS scheduler assigns CPU time proportional to weights derived from nice values. The weight table goes from 88761 at nice=-20 to 15 at nice=+19 — a nearly 6000× range. In practice, nice=-10 vs nice=0 gives roughly a 3× CPU share advantage on a lightly loaded system.
In the experiment: we launch two cpu_hog containers simultaneously — one with --nice -10 and one with --nice +10. The nice=-10 container will complete its 10-second burn noticeably sooner because it accumulates real CPU time faster even though both are running concurrently.
For memory experiments: launch memory_hog with --hard-mib 32. Watch dmesg for "[container_monitor] HARD LIMIT" followed by the process being killed. This demonstrates the kernel module working in real time.
The mixed workload experiment shows that io_pulse spends most of its time sleeping in usleep. During that time, cpu_hog gets all the CPU — this is correct CFS behavior.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slide summarizes all the core OS topics demonstrated in the project.
Linux Namespaces: PID namespace gives the container its own process numbering (it sees itself as PID 1). UTS namespace lets it have its own hostname. Mount namespace ensures mount points are private.
clone() is the lower-level version of fork() that accepts flags for namespace creation. We pass CLONE_NEWPID | CLONE_NEWUTS | CLONE_NEWNS plus a custom stack and entry function.
chroot changes the apparent root of the filesystem — every path lookup from that point starts at the specified directory. This provides filesystem isolation without full virtualization.
The mutex and condition variables are textbook producer-consumer. The bounded buffer ensures the producer doesn't overwhelm memory, and the consumer never busy-waits.
UNIX domain sockets and pipes together show two different IPC mechanisms with different tradeoffs — sockets are bidirectional and can carry response data; pipes are simpler for streaming output.
The LKM runs in ring 0 with full kernel privileges. It can directly manipulate process structures, read mm_struct, and send signals — things that user-space cannot do atomically.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Four key design decisions shaped this project.
Mutex vs Spinlock: In the kernel module, we chose mutex because our timer callback doesn't run in hard interrupt context. A mutex can sleep, which is acceptable in a softirq/timer context. If this were called from a hardware IRQ handler, we'd need a spinlock.
UNIX socket for control: The alternative was a named FIFO (mkfifo). FIFOs only go one direction, so you'd need two FIFOs for request-response. A UNIX socket is cleaner for command-response patterns.
Bounded buffer capacity 16: This is a deliberate backpressure mechanism. If we used an unbounded queue, a very chatty container could cause memory_hog-like behavior in the supervisor itself. The 16 slot limit means the pipe reader will block if the disk is slow — acceptable tradeoff.
clone() over fork+setns: fork() doesn't accept namespace flags. Using fork() and then calling setns() to switch namespaces is two operations — there's a window where the child exists in the parent's namespace. clone() does this atomically.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These are the most technically interesting challenges from this project.
Use-after-free in timer callback: this is a classic kernel bug. If you use list_for_each_entry and call list_del + kfree inside the loop, the loop's internal pointer is corrupted. list_for_each_entry_safe solves this by saving the next pointer before the body executes.
/proc visibility: when you chroot, the container has its own root filesystem. /proc is a virtual filesystem that must be explicitly mounted to reflect the PID namespace. Without this, ps and other tools inside the container won't work.
Soft-limit spam: without the warned flag, every timer tick would emit a warning once RSS exceeds the soft limit. Since the timer fires every second, this would flood dmesg.
The SIGCHLD race is subtle: if the container exits and SIGCHLD fires before the supervisor calls unregister, the kernel module will try to get RSS for a dead PID. The get_rss_bytes() function handles this — if find_vpid() returns NULL, it returns -1, and the timer callback auto-removes the node.
The kernel 6.4 API change is a real-world portability challenge — the class_create() signature changed. The version guard ensures the module compiles on both Ubuntu 22.04 (kernel 5.15) and 24.04 (kernel 6.8).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Here's the complete demo flow to run during a viva.
Step 1: Run environment-check.sh with --build-only to avoid needing root. It checks for Ubuntu 22/24, verifies kernel headers are installed, and runs make all to build both the kernel module and user-space binary.
Step 2: insmod loads the module. You'll see the /dev/container_monitor device appear and dmesg will show "Module loaded. Device: /dev/container_monitor".
Step 3: Start the supervisor in the background. It opens /dev/container_monitor and creates the UNIX socket at /tmp/mini_runtime.sock.
Step 4: Use "engine start" to launch containers. Use different workloads — memory_hog with --hard-mib 32 to trigger the hard limit, and cpu_hog with --nice to demonstrate scheduling.
Step 5: Watch dmesg in real time with "dmesg -w". You'll see the SOFT LIMIT warning when memory_hog crosses 40 MiB and HARD LIMIT when it reaches 32 MiB (or whatever you set). "engine logs c1" shows the container's stdout.
Step 6: Stop containers and rmmod the module. dmesg will show "Module unloaded" and all state is cleaned up.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 conclusion, this project successfully implements a complete miniature container runtime from first principles.
We built namespace isolation using clone() with PID, UTS, and Mount namespace flags. We implemented a kernel module that monitors RSS in real time and enforces memory limits without any user-space polling overhead. We designed a thread-safe bounded buffer logging system that collects output from multiple containers simultaneously. And we demonstrated CFS scheduling behavior using nice values with quantifiable completion time differences.
For future work, the most meaningful additions would be: cgroup v2 for CPU bandwidth limiting (not just memory), network namespaces for isolated networking, and overlay filesystem support so multiple containers can share a base image.
This project touches almost every major OS concept: process management, virtual memory, synchronization, IPC, scheduling, and kernel programming. That's what makes it a comprehensive systems programming exercise.
Thank you.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583680" y="-731520"/>
            <a:ext cx="3657600" cy="3657600"/>
          </a:xfrm>
          <a:prstGeom prst="ellipse">
            <a:avLst/>
          </a:prstGeom>
          <a:solidFill>
            <a:srgbClr val="0E9AA7">
              <a:alpha val="20000"/>
            </a:srgbClr>
          </a:solidFill>
          <a:ln w="12700">
            <a:solidFill>
              <a:srgbClr val="0E9AA7">
                <a:alpha val="20000"/>
              </a:srgbClr>
            </a:solidFill>
            <a:prstDash val="solid"/>
          </a:ln>
        </p:spPr>
      </p:sp>
      <p:sp>
        <p:nvSpPr>
          <p:cNvPr id="3" name="Shape 1"/>
          <p:cNvSpPr/>
          <p:nvPr/>
        </p:nvSpPr>
        <p:spPr>
          <a:xfrm>
            <a:off x="-731520" y="2926080"/>
            <a:ext cx="2743200" cy="2743200"/>
          </a:xfrm>
          <a:prstGeom prst="ellipse">
            <a:avLst/>
          </a:prstGeom>
          <a:solidFill>
            <a:srgbClr val="00D9A5">
              <a:alpha val="15000"/>
            </a:srgbClr>
          </a:solidFill>
          <a:ln w="12700">
            <a:solidFill>
              <a:srgbClr val="00D9A5">
                <a:alpha val="15000"/>
              </a:srgbClr>
            </a:solidFill>
            <a:prstDash val="solid"/>
          </a:ln>
        </p:spPr>
      </p:sp>
      <p:sp>
        <p:nvSpPr>
          <p:cNvPr id="4" name="Text 2"/>
          <p:cNvSpPr/>
          <p:nvPr/>
        </p:nvSpPr>
        <p:spPr>
          <a:xfrm>
            <a:off x="548640" y="731520"/>
            <a:ext cx="7680960" cy="685800"/>
          </a:xfrm>
          <a:prstGeom prst="rect">
            <a:avLst/>
          </a:prstGeom>
          <a:noFill/>
          <a:ln/>
        </p:spPr>
        <p:txBody>
          <a:bodyPr wrap="square" lIns="0" tIns="0" rIns="0" bIns="0"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Supervised Multi-Container</a:t>
            </a:r>
            <a:endParaRPr lang="en-US" sz="3800" dirty="0"/>
          </a:p>
        </p:txBody>
      </p:sp>
      <p:sp>
        <p:nvSpPr>
          <p:cNvPr id="5" name="Text 3"/>
          <p:cNvSpPr/>
          <p:nvPr/>
        </p:nvSpPr>
        <p:spPr>
          <a:xfrm>
            <a:off x="548640" y="1389888"/>
            <a:ext cx="7680960" cy="685800"/>
          </a:xfrm>
          <a:prstGeom prst="rect">
            <a:avLst/>
          </a:prstGeom>
          <a:noFill/>
          <a:ln/>
        </p:spPr>
        <p:txBody>
          <a:bodyPr wrap="square" lIns="0" tIns="0" rIns="0" bIns="0" rtlCol="0" anchor="ctr"/>
          <a:lstStyle/>
          <a:p>
            <a:pPr algn="l" indent="0" marL="0">
              <a:buNone/>
            </a:pPr>
            <a:r>
              <a:rPr lang="en-US" sz="3800" b="1" dirty="0">
                <a:solidFill>
                  <a:srgbClr val="00D9A5"/>
                </a:solidFill>
                <a:latin typeface="Calibri" pitchFamily="34" charset="0"/>
                <a:ea typeface="Calibri" pitchFamily="34" charset="-122"/>
                <a:cs typeface="Calibri" pitchFamily="34" charset="-120"/>
              </a:rPr>
              <a:t>Runtime &amp; Kernel Memory Monitor</a:t>
            </a:r>
            <a:endParaRPr lang="en-US" sz="3800" dirty="0"/>
          </a:p>
        </p:txBody>
      </p:sp>
      <p:sp>
        <p:nvSpPr>
          <p:cNvPr id="6" name="Text 4"/>
          <p:cNvSpPr/>
          <p:nvPr/>
        </p:nvSpPr>
        <p:spPr>
          <a:xfrm>
            <a:off x="548640" y="2331720"/>
            <a:ext cx="6400800" cy="347472"/>
          </a:xfrm>
          <a:prstGeom prst="rect">
            <a:avLst/>
          </a:prstGeom>
          <a:noFill/>
          <a:ln/>
        </p:spPr>
        <p:txBody>
          <a:bodyPr wrap="square" lIns="0" tIns="0" rIns="0" bIns="0" rtlCol="0" anchor="ctr"/>
          <a:lstStyle/>
          <a:p>
            <a:pPr algn="l" indent="0" marL="0">
              <a:buNone/>
            </a:pPr>
            <a:r>
              <a:rPr lang="en-US" sz="1700" dirty="0">
                <a:solidFill>
                  <a:srgbClr val="8FA3B1"/>
                </a:solidFill>
                <a:latin typeface="Calibri" pitchFamily="34" charset="0"/>
                <a:ea typeface="Calibri" pitchFamily="34" charset="-122"/>
                <a:cs typeface="Calibri" pitchFamily="34" charset="-120"/>
              </a:rPr>
              <a:t>An Operating Systems Project</a:t>
            </a:r>
            <a:endParaRPr lang="en-US" sz="1700" dirty="0"/>
          </a:p>
        </p:txBody>
      </p:sp>
      <p:sp>
        <p:nvSpPr>
          <p:cNvPr id="7" name="Shape 5"/>
          <p:cNvSpPr/>
          <p:nvPr/>
        </p:nvSpPr>
        <p:spPr>
          <a:xfrm>
            <a:off x="548640" y="2834640"/>
            <a:ext cx="8046720" cy="13716"/>
          </a:xfrm>
          <a:prstGeom prst="rect">
            <a:avLst/>
          </a:prstGeom>
          <a:solidFill>
            <a:srgbClr val="00D9A5"/>
          </a:solidFill>
          <a:ln w="12700">
            <a:solidFill>
              <a:srgbClr val="00D9A5"/>
            </a:solidFill>
            <a:prstDash val="solid"/>
          </a:ln>
        </p:spPr>
      </p:sp>
      <p:sp>
        <p:nvSpPr>
          <p:cNvPr id="8" name="Shape 6"/>
          <p:cNvSpPr/>
          <p:nvPr/>
        </p:nvSpPr>
        <p:spPr>
          <a:xfrm>
            <a:off x="548640" y="2971800"/>
            <a:ext cx="1554480" cy="256032"/>
          </a:xfrm>
          <a:prstGeom prst="rect">
            <a:avLst/>
          </a:prstGeom>
          <a:solidFill>
            <a:srgbClr val="0E9AA7">
              <a:alpha val="70000"/>
            </a:srgbClr>
          </a:solidFill>
          <a:ln w="12700">
            <a:solidFill>
              <a:srgbClr val="0E9AA7"/>
            </a:solidFill>
            <a:prstDash val="solid"/>
          </a:ln>
        </p:spPr>
      </p:sp>
      <p:sp>
        <p:nvSpPr>
          <p:cNvPr id="9" name="Text 7"/>
          <p:cNvSpPr/>
          <p:nvPr/>
        </p:nvSpPr>
        <p:spPr>
          <a:xfrm>
            <a:off x="548640" y="2971800"/>
            <a:ext cx="155448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engine.c</a:t>
            </a:r>
            <a:endParaRPr lang="en-US" sz="800" dirty="0"/>
          </a:p>
        </p:txBody>
      </p:sp>
      <p:sp>
        <p:nvSpPr>
          <p:cNvPr id="10" name="Shape 8"/>
          <p:cNvSpPr/>
          <p:nvPr/>
        </p:nvSpPr>
        <p:spPr>
          <a:xfrm>
            <a:off x="2212848" y="2971800"/>
            <a:ext cx="1554480" cy="256032"/>
          </a:xfrm>
          <a:prstGeom prst="rect">
            <a:avLst/>
          </a:prstGeom>
          <a:solidFill>
            <a:srgbClr val="0E9AA7">
              <a:alpha val="70000"/>
            </a:srgbClr>
          </a:solidFill>
          <a:ln w="12700">
            <a:solidFill>
              <a:srgbClr val="0E9AA7"/>
            </a:solidFill>
            <a:prstDash val="solid"/>
          </a:ln>
        </p:spPr>
      </p:sp>
      <p:sp>
        <p:nvSpPr>
          <p:cNvPr id="11" name="Text 9"/>
          <p:cNvSpPr/>
          <p:nvPr/>
        </p:nvSpPr>
        <p:spPr>
          <a:xfrm>
            <a:off x="2212848" y="2971800"/>
            <a:ext cx="155448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monitor.c (KM)</a:t>
            </a:r>
            <a:endParaRPr lang="en-US" sz="800" dirty="0"/>
          </a:p>
        </p:txBody>
      </p:sp>
      <p:sp>
        <p:nvSpPr>
          <p:cNvPr id="12" name="Shape 10"/>
          <p:cNvSpPr/>
          <p:nvPr/>
        </p:nvSpPr>
        <p:spPr>
          <a:xfrm>
            <a:off x="3877056" y="2971800"/>
            <a:ext cx="1554480" cy="256032"/>
          </a:xfrm>
          <a:prstGeom prst="rect">
            <a:avLst/>
          </a:prstGeom>
          <a:solidFill>
            <a:srgbClr val="0E9AA7">
              <a:alpha val="70000"/>
            </a:srgbClr>
          </a:solidFill>
          <a:ln w="12700">
            <a:solidFill>
              <a:srgbClr val="0E9AA7"/>
            </a:solidFill>
            <a:prstDash val="solid"/>
          </a:ln>
        </p:spPr>
      </p:sp>
      <p:sp>
        <p:nvSpPr>
          <p:cNvPr id="13" name="Text 11"/>
          <p:cNvSpPr/>
          <p:nvPr/>
        </p:nvSpPr>
        <p:spPr>
          <a:xfrm>
            <a:off x="3877056" y="2971800"/>
            <a:ext cx="155448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clone() + namespaces</a:t>
            </a:r>
            <a:endParaRPr lang="en-US" sz="800" dirty="0"/>
          </a:p>
        </p:txBody>
      </p:sp>
      <p:sp>
        <p:nvSpPr>
          <p:cNvPr id="14" name="Shape 12"/>
          <p:cNvSpPr/>
          <p:nvPr/>
        </p:nvSpPr>
        <p:spPr>
          <a:xfrm>
            <a:off x="5541264" y="2971800"/>
            <a:ext cx="1554480" cy="256032"/>
          </a:xfrm>
          <a:prstGeom prst="rect">
            <a:avLst/>
          </a:prstGeom>
          <a:solidFill>
            <a:srgbClr val="0E9AA7">
              <a:alpha val="70000"/>
            </a:srgbClr>
          </a:solidFill>
          <a:ln w="12700">
            <a:solidFill>
              <a:srgbClr val="0E9AA7"/>
            </a:solidFill>
            <a:prstDash val="solid"/>
          </a:ln>
        </p:spPr>
      </p:sp>
      <p:sp>
        <p:nvSpPr>
          <p:cNvPr id="15" name="Text 13"/>
          <p:cNvSpPr/>
          <p:nvPr/>
        </p:nvSpPr>
        <p:spPr>
          <a:xfrm>
            <a:off x="5541264" y="2971800"/>
            <a:ext cx="155448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CFS Scheduling</a:t>
            </a:r>
            <a:endParaRPr lang="en-US" sz="800" dirty="0"/>
          </a:p>
        </p:txBody>
      </p:sp>
      <p:sp>
        <p:nvSpPr>
          <p:cNvPr id="16" name="Shape 14"/>
          <p:cNvSpPr/>
          <p:nvPr/>
        </p:nvSpPr>
        <p:spPr>
          <a:xfrm>
            <a:off x="7205472" y="2971800"/>
            <a:ext cx="1554480" cy="256032"/>
          </a:xfrm>
          <a:prstGeom prst="rect">
            <a:avLst/>
          </a:prstGeom>
          <a:solidFill>
            <a:srgbClr val="0E9AA7">
              <a:alpha val="70000"/>
            </a:srgbClr>
          </a:solidFill>
          <a:ln w="12700">
            <a:solidFill>
              <a:srgbClr val="0E9AA7"/>
            </a:solidFill>
            <a:prstDash val="solid"/>
          </a:ln>
        </p:spPr>
      </p:sp>
      <p:sp>
        <p:nvSpPr>
          <p:cNvPr id="17" name="Text 15"/>
          <p:cNvSpPr/>
          <p:nvPr/>
        </p:nvSpPr>
        <p:spPr>
          <a:xfrm>
            <a:off x="7205472" y="2971800"/>
            <a:ext cx="155448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Producer-Consumer</a:t>
            </a:r>
            <a:endParaRPr lang="en-US" sz="800" dirty="0"/>
          </a:p>
        </p:txBody>
      </p:sp>
      <p:sp>
        <p:nvSpPr>
          <p:cNvPr id="18" name="Text 16"/>
          <p:cNvSpPr/>
          <p:nvPr/>
        </p:nvSpPr>
        <p:spPr>
          <a:xfrm>
            <a:off x="548640" y="4389120"/>
            <a:ext cx="8046720" cy="274320"/>
          </a:xfrm>
          <a:prstGeom prst="rect">
            <a:avLst/>
          </a:prstGeom>
          <a:noFill/>
          <a:ln/>
        </p:spPr>
        <p:txBody>
          <a:bodyPr wrap="square" lIns="0" tIns="0" rIns="0" bIns="0" rtlCol="0" anchor="ctr"/>
          <a:lstStyle/>
          <a:p>
            <a:pPr algn="l" indent="0" marL="0">
              <a:buNone/>
            </a:pPr>
            <a:r>
              <a:rPr lang="en-US" sz="1000" dirty="0">
                <a:solidFill>
                  <a:srgbClr val="8FA3B1"/>
                </a:solidFill>
                <a:latin typeface="Calibri" pitchFamily="34" charset="0"/>
                <a:ea typeface="Calibri" pitchFamily="34" charset="-122"/>
                <a:cs typeface="Calibri" pitchFamily="34" charset="-120"/>
              </a:rPr>
              <a:t>Kernel Module  •  User-Space Runtime  •  Linux Namespaces  •  Memory Monitoring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800" b="1" dirty="0">
                <a:solidFill>
                  <a:srgbClr val="1B2A3B"/>
                </a:solidFill>
                <a:latin typeface="Calibri" pitchFamily="34" charset="0"/>
                <a:ea typeface="Calibri" pitchFamily="34" charset="-122"/>
                <a:cs typeface="Calibri" pitchFamily="34" charset="-120"/>
              </a:rPr>
              <a:t>Problem Statement &amp; Objective</a:t>
            </a:r>
            <a:endParaRPr lang="en-US" sz="2800" dirty="0"/>
          </a:p>
        </p:txBody>
      </p:sp>
      <p:sp>
        <p:nvSpPr>
          <p:cNvPr id="3" name="Shape 1"/>
          <p:cNvSpPr/>
          <p:nvPr/>
        </p:nvSpPr>
        <p:spPr>
          <a:xfrm>
            <a:off x="457200" y="841248"/>
            <a:ext cx="1097280" cy="201168"/>
          </a:xfrm>
          <a:prstGeom prst="rect">
            <a:avLst/>
          </a:prstGeom>
          <a:solidFill>
            <a:srgbClr val="00D9A5"/>
          </a:solidFill>
          <a:ln w="12700">
            <a:solidFill>
              <a:srgbClr val="00D9A5"/>
            </a:solidFill>
            <a:prstDash val="solid"/>
          </a:ln>
        </p:spPr>
      </p:sp>
      <p:sp>
        <p:nvSpPr>
          <p:cNvPr id="4" name="Text 2"/>
          <p:cNvSpPr/>
          <p:nvPr/>
        </p:nvSpPr>
        <p:spPr>
          <a:xfrm>
            <a:off x="457200" y="841248"/>
            <a:ext cx="1097280" cy="201168"/>
          </a:xfrm>
          <a:prstGeom prst="rect">
            <a:avLst/>
          </a:prstGeom>
          <a:noFill/>
          <a:ln/>
        </p:spPr>
        <p:txBody>
          <a:bodyPr wrap="square" lIns="0" tIns="0" rIns="0" bIns="0" rtlCol="0" anchor="ctr"/>
          <a:lstStyle/>
          <a:p>
            <a:pPr algn="ctr" indent="0" marL="0">
              <a:buNone/>
            </a:pPr>
            <a:r>
              <a:rPr lang="en-US" sz="800" b="1" dirty="0">
                <a:solidFill>
                  <a:srgbClr val="0D1B2A"/>
                </a:solidFill>
                <a:latin typeface="Calibri" pitchFamily="34" charset="0"/>
                <a:ea typeface="Calibri" pitchFamily="34" charset="-122"/>
                <a:cs typeface="Calibri" pitchFamily="34" charset="-120"/>
              </a:rPr>
              <a:t>MOTIVATION</a:t>
            </a:r>
            <a:endParaRPr lang="en-US" sz="800" dirty="0"/>
          </a:p>
        </p:txBody>
      </p:sp>
      <p:sp>
        <p:nvSpPr>
          <p:cNvPr id="5" name="Shape 3"/>
          <p:cNvSpPr/>
          <p:nvPr/>
        </p:nvSpPr>
        <p:spPr>
          <a:xfrm>
            <a:off x="457200" y="777240"/>
            <a:ext cx="8229600" cy="22860"/>
          </a:xfrm>
          <a:prstGeom prst="rect">
            <a:avLst/>
          </a:prstGeom>
          <a:solidFill>
            <a:srgbClr val="0E9AA7"/>
          </a:solidFill>
          <a:ln w="12700">
            <a:solidFill>
              <a:srgbClr val="0E9AA7"/>
            </a:solidFill>
            <a:prstDash val="solid"/>
          </a:ln>
        </p:spPr>
      </p:sp>
      <p:sp>
        <p:nvSpPr>
          <p:cNvPr id="6" name="Text 4"/>
          <p:cNvSpPr/>
          <p:nvPr/>
        </p:nvSpPr>
        <p:spPr>
          <a:xfrm>
            <a:off x="457200" y="960120"/>
            <a:ext cx="3840480" cy="274320"/>
          </a:xfrm>
          <a:prstGeom prst="rect">
            <a:avLst/>
          </a:prstGeom>
          <a:noFill/>
          <a:ln/>
        </p:spPr>
        <p:txBody>
          <a:bodyPr wrap="square" lIns="0" tIns="0" rIns="0" bIns="0" rtlCol="0" anchor="ctr"/>
          <a:lstStyle/>
          <a:p>
            <a:pPr indent="0" marL="0">
              <a:buNone/>
            </a:pPr>
            <a:r>
              <a:rPr lang="en-US" sz="1400" b="1" dirty="0">
                <a:solidFill>
                  <a:srgbClr val="0E9AA7"/>
                </a:solidFill>
                <a:latin typeface="Calibri" pitchFamily="34" charset="0"/>
                <a:ea typeface="Calibri" pitchFamily="34" charset="-122"/>
                <a:cs typeface="Calibri" pitchFamily="34" charset="-120"/>
              </a:rPr>
              <a:t>The Problem</a:t>
            </a:r>
            <a:endParaRPr lang="en-US" sz="1400" dirty="0"/>
          </a:p>
        </p:txBody>
      </p:sp>
      <p:sp>
        <p:nvSpPr>
          <p:cNvPr id="7" name="Text 5"/>
          <p:cNvSpPr/>
          <p:nvPr/>
        </p:nvSpPr>
        <p:spPr>
          <a:xfrm>
            <a:off x="457200" y="1261872"/>
            <a:ext cx="3840480" cy="3200400"/>
          </a:xfrm>
          <a:prstGeom prst="rect">
            <a:avLst/>
          </a:prstGeom>
          <a:noFill/>
          <a:ln/>
        </p:spPr>
        <p:txBody>
          <a:bodyPr wrap="square" lIns="50800" tIns="50800" rIns="50800" bIns="50800" rtlCol="0" anchor="t"/>
          <a:lstStyle/>
          <a:p>
            <a:pPr marL="342900" indent="-342900">
              <a:buSzPct val="100000"/>
              <a:buChar char="•"/>
            </a:pPr>
            <a:r>
              <a:rPr lang="en-US" sz="1250" dirty="0">
                <a:solidFill>
                  <a:srgbClr val="1B2A3B"/>
                </a:solidFill>
                <a:latin typeface="Calibri" pitchFamily="34" charset="0"/>
                <a:ea typeface="Calibri" pitchFamily="34" charset="-122"/>
                <a:cs typeface="Calibri" pitchFamily="34" charset="-120"/>
              </a:rPr>
              <a:t>Containers share the host kernel — resource leaks in one container can affect all</a:t>
            </a:r>
            <a:endParaRPr lang="en-US" sz="1250" dirty="0"/>
          </a:p>
          <a:p>
            <a:pPr marL="342900" indent="-342900">
              <a:buSzPct val="100000"/>
              <a:buChar char="•"/>
            </a:pPr>
            <a:r>
              <a:rPr lang="en-US" sz="1250" dirty="0">
                <a:solidFill>
                  <a:srgbClr val="1B2A3B"/>
                </a:solidFill>
                <a:latin typeface="Calibri" pitchFamily="34" charset="0"/>
                <a:ea typeface="Calibri" pitchFamily="34" charset="-122"/>
                <a:cs typeface="Calibri" pitchFamily="34" charset="-120"/>
              </a:rPr>
              <a:t>User-space tools like /proc have limits — frequent polling is expensive</a:t>
            </a:r>
            <a:endParaRPr lang="en-US" sz="1250" dirty="0"/>
          </a:p>
          <a:p>
            <a:pPr marL="342900" indent="-342900">
              <a:buSzPct val="100000"/>
              <a:buChar char="•"/>
            </a:pPr>
            <a:r>
              <a:rPr lang="en-US" sz="1250" dirty="0">
                <a:solidFill>
                  <a:srgbClr val="1B2A3B"/>
                </a:solidFill>
                <a:latin typeface="Calibri" pitchFamily="34" charset="0"/>
                <a:ea typeface="Calibri" pitchFamily="34" charset="-122"/>
                <a:cs typeface="Calibri" pitchFamily="34" charset="-120"/>
              </a:rPr>
              <a:t>No built-in way to enforce memory soft/hard limits per-container in a simple runtime</a:t>
            </a:r>
            <a:endParaRPr lang="en-US" sz="1250" dirty="0"/>
          </a:p>
          <a:p>
            <a:pPr marL="342900" indent="-342900">
              <a:buSzPct val="100000"/>
              <a:buChar char="•"/>
            </a:pPr>
            <a:r>
              <a:rPr lang="en-US" sz="1250" dirty="0">
                <a:solidFill>
                  <a:srgbClr val="1B2A3B"/>
                </a:solidFill>
                <a:latin typeface="Calibri" pitchFamily="34" charset="0"/>
                <a:ea typeface="Calibri" pitchFamily="34" charset="-122"/>
                <a:cs typeface="Calibri" pitchFamily="34" charset="-120"/>
              </a:rPr>
              <a:t>Standard process monitoring cannot track kernel RSS accurately without privilege</a:t>
            </a:r>
            <a:endParaRPr lang="en-US" sz="1250" dirty="0"/>
          </a:p>
          <a:p>
            <a:pPr marL="342900" indent="-342900">
              <a:buSzPct val="100000"/>
              <a:buChar char="•"/>
            </a:pPr>
            <a:r>
              <a:rPr lang="en-US" sz="1250" dirty="0">
                <a:solidFill>
                  <a:srgbClr val="1B2A3B"/>
                </a:solidFill>
                <a:latin typeface="Calibri" pitchFamily="34" charset="0"/>
                <a:ea typeface="Calibri" pitchFamily="34" charset="-122"/>
                <a:cs typeface="Calibri" pitchFamily="34" charset="-120"/>
              </a:rPr>
              <a:t>Logging from multiple containers needs ordering, fairness, and no busy-wait</a:t>
            </a:r>
            <a:endParaRPr lang="en-US" sz="1250" dirty="0"/>
          </a:p>
        </p:txBody>
      </p:sp>
      <p:sp>
        <p:nvSpPr>
          <p:cNvPr id="8" name="Text 6"/>
          <p:cNvSpPr/>
          <p:nvPr/>
        </p:nvSpPr>
        <p:spPr>
          <a:xfrm>
            <a:off x="4663440" y="960120"/>
            <a:ext cx="4023360" cy="274320"/>
          </a:xfrm>
          <a:prstGeom prst="rect">
            <a:avLst/>
          </a:prstGeom>
          <a:noFill/>
          <a:ln/>
        </p:spPr>
        <p:txBody>
          <a:bodyPr wrap="square" lIns="0" tIns="0" rIns="0" bIns="0" rtlCol="0" anchor="ctr"/>
          <a:lstStyle/>
          <a:p>
            <a:pPr indent="0" marL="0">
              <a:buNone/>
            </a:pPr>
            <a:r>
              <a:rPr lang="en-US" sz="1400" b="1" dirty="0">
                <a:solidFill>
                  <a:srgbClr val="00D9A5"/>
                </a:solidFill>
                <a:latin typeface="Calibri" pitchFamily="34" charset="0"/>
                <a:ea typeface="Calibri" pitchFamily="34" charset="-122"/>
                <a:cs typeface="Calibri" pitchFamily="34" charset="-120"/>
              </a:rPr>
              <a:t>Project Objectives</a:t>
            </a:r>
            <a:endParaRPr lang="en-US" sz="1400" dirty="0"/>
          </a:p>
        </p:txBody>
      </p:sp>
      <p:sp>
        <p:nvSpPr>
          <p:cNvPr id="9" name="Text 7"/>
          <p:cNvSpPr/>
          <p:nvPr/>
        </p:nvSpPr>
        <p:spPr>
          <a:xfrm>
            <a:off x="4663440" y="1261872"/>
            <a:ext cx="4023360" cy="3200400"/>
          </a:xfrm>
          <a:prstGeom prst="rect">
            <a:avLst/>
          </a:prstGeom>
          <a:noFill/>
          <a:ln/>
        </p:spPr>
        <p:txBody>
          <a:bodyPr wrap="square" lIns="50800" tIns="50800" rIns="50800" bIns="50800" rtlCol="0" anchor="t"/>
          <a:lstStyle/>
          <a:p>
            <a:pPr marL="342900" indent="-342900">
              <a:buSzPct val="100000"/>
              <a:buChar char="•"/>
            </a:pPr>
            <a:r>
              <a:rPr lang="en-US" sz="1250" b="1" dirty="0">
                <a:solidFill>
                  <a:srgbClr val="1B2A3B"/>
                </a:solidFill>
                <a:latin typeface="Calibri" pitchFamily="34" charset="0"/>
                <a:ea typeface="Calibri" pitchFamily="34" charset="-122"/>
                <a:cs typeface="Calibri" pitchFamily="34" charset="-120"/>
              </a:rPr>
              <a:t>Build a supervised container runtime (engine.c)</a:t>
            </a:r>
            <a:endParaRPr lang="en-US" sz="1250" dirty="0"/>
          </a:p>
          <a:p>
            <a:pPr marL="342900" indent="-342900">
              <a:buSzPct val="100000"/>
              <a:buChar char="•"/>
            </a:pPr>
            <a:r>
              <a:rPr lang="en-US" sz="1250" dirty="0">
                <a:solidFill>
                  <a:srgbClr val="1B2A3B"/>
                </a:solidFill>
                <a:latin typeface="Calibri" pitchFamily="34" charset="0"/>
                <a:ea typeface="Calibri" pitchFamily="34" charset="-122"/>
                <a:cs typeface="Calibri" pitchFamily="34" charset="-120"/>
              </a:rPr>
              <a:t>Launch isolated containers using clone() + Linux namespaces</a:t>
            </a:r>
            <a:endParaRPr lang="en-US" sz="1250" dirty="0"/>
          </a:p>
          <a:p>
            <a:pPr marL="342900" indent="-342900">
              <a:buSzPct val="100000"/>
              <a:buChar char="•"/>
            </a:pPr>
            <a:r>
              <a:rPr lang="en-US" sz="1250" b="1" dirty="0">
                <a:solidFill>
                  <a:srgbClr val="1B2A3B"/>
                </a:solidFill>
                <a:latin typeface="Calibri" pitchFamily="34" charset="0"/>
                <a:ea typeface="Calibri" pitchFamily="34" charset="-122"/>
                <a:cs typeface="Calibri" pitchFamily="34" charset="-120"/>
              </a:rPr>
              <a:t>Implement a kernel module (monitor.c) for RSS monitoring</a:t>
            </a:r>
            <a:endParaRPr lang="en-US" sz="1250" dirty="0"/>
          </a:p>
          <a:p>
            <a:pPr marL="342900" indent="-342900">
              <a:buSzPct val="100000"/>
              <a:buChar char="•"/>
            </a:pPr>
            <a:r>
              <a:rPr lang="en-US" sz="1250" dirty="0">
                <a:solidFill>
                  <a:srgbClr val="1B2A3B"/>
                </a:solidFill>
                <a:latin typeface="Calibri" pitchFamily="34" charset="0"/>
                <a:ea typeface="Calibri" pitchFamily="34" charset="-122"/>
                <a:cs typeface="Calibri" pitchFamily="34" charset="-120"/>
              </a:rPr>
              <a:t>Enforce soft-limit warnings and hard-limit SIGKILL</a:t>
            </a:r>
            <a:endParaRPr lang="en-US" sz="1250" dirty="0"/>
          </a:p>
          <a:p>
            <a:pPr marL="342900" indent="-342900">
              <a:buSzPct val="100000"/>
              <a:buChar char="•"/>
            </a:pPr>
            <a:r>
              <a:rPr lang="en-US" sz="1250" dirty="0">
                <a:solidFill>
                  <a:srgbClr val="1B2A3B"/>
                </a:solidFill>
                <a:latin typeface="Calibri" pitchFamily="34" charset="0"/>
                <a:ea typeface="Calibri" pitchFamily="34" charset="-122"/>
                <a:cs typeface="Calibri" pitchFamily="34" charset="-120"/>
              </a:rPr>
              <a:t>Design a thread-safe bounded-buffer logging system</a:t>
            </a:r>
            <a:endParaRPr lang="en-US" sz="1250" dirty="0"/>
          </a:p>
          <a:p>
            <a:pPr marL="342900" indent="-342900">
              <a:buSzPct val="100000"/>
              <a:buChar char="•"/>
            </a:pPr>
            <a:r>
              <a:rPr lang="en-US" sz="1250" dirty="0">
                <a:solidFill>
                  <a:srgbClr val="1B2A3B"/>
                </a:solidFill>
                <a:latin typeface="Calibri" pitchFamily="34" charset="0"/>
                <a:ea typeface="Calibri" pitchFamily="34" charset="-122"/>
                <a:cs typeface="Calibri" pitchFamily="34" charset="-120"/>
              </a:rPr>
              <a:t>Compare CFS scheduling behavior using nice values</a:t>
            </a:r>
            <a:endParaRPr lang="en-US" sz="1250" dirty="0"/>
          </a:p>
          <a:p>
            <a:pPr marL="342900" indent="-342900">
              <a:buSzPct val="100000"/>
              <a:buChar char="•"/>
            </a:pPr>
            <a:r>
              <a:rPr lang="en-US" sz="1250" dirty="0">
                <a:solidFill>
                  <a:srgbClr val="1B2A3B"/>
                </a:solidFill>
                <a:latin typeface="Calibri" pitchFamily="34" charset="0"/>
                <a:ea typeface="Calibri" pitchFamily="34" charset="-122"/>
                <a:cs typeface="Calibri" pitchFamily="34" charset="-120"/>
              </a:rPr>
              <a:t>Stress test with cpu_hog, memory_hog, io_pulse workloads</a:t>
            </a:r>
            <a:endParaRPr lang="en-US" sz="1250" dirty="0"/>
          </a:p>
        </p:txBody>
      </p:sp>
      <p:sp>
        <p:nvSpPr>
          <p:cNvPr id="10" name="Shape 8"/>
          <p:cNvSpPr/>
          <p:nvPr/>
        </p:nvSpPr>
        <p:spPr>
          <a:xfrm>
            <a:off x="457200" y="4663440"/>
            <a:ext cx="8229600" cy="22860"/>
          </a:xfrm>
          <a:prstGeom prst="rect">
            <a:avLst/>
          </a:prstGeom>
          <a:solidFill>
            <a:srgbClr val="F5A623"/>
          </a:solidFill>
          <a:ln w="12700">
            <a:solidFill>
              <a:srgbClr val="F5A623"/>
            </a:solidFill>
            <a:prstDash val="solid"/>
          </a:ln>
        </p:spPr>
      </p:sp>
      <p:sp>
        <p:nvSpPr>
          <p:cNvPr id="11" name="Text 9"/>
          <p:cNvSpPr/>
          <p:nvPr/>
        </p:nvSpPr>
        <p:spPr>
          <a:xfrm>
            <a:off x="457200" y="4709160"/>
            <a:ext cx="8229600" cy="256032"/>
          </a:xfrm>
          <a:prstGeom prst="rect">
            <a:avLst/>
          </a:prstGeom>
          <a:noFill/>
          <a:ln/>
        </p:spPr>
        <p:txBody>
          <a:bodyPr wrap="square" lIns="0" tIns="0" rIns="0" bIns="0" rtlCol="0" anchor="ctr"/>
          <a:lstStyle/>
          <a:p>
            <a:pPr algn="ctr" indent="0" marL="0">
              <a:buNone/>
            </a:pPr>
            <a:r>
              <a:rPr lang="en-US" sz="1000" b="1" dirty="0">
                <a:solidFill>
                  <a:srgbClr val="1B2A3B"/>
                </a:solidFill>
                <a:latin typeface="Calibri" pitchFamily="34" charset="0"/>
                <a:ea typeface="Calibri" pitchFamily="34" charset="-122"/>
                <a:cs typeface="Calibri" pitchFamily="34" charset="-120"/>
              </a:rPr>
              <a:t>Core OS Concepts:  Namespaces  •  Kernel Modules  •  IPC  •  Scheduler  •  Virtual Memory  •  Synchronization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3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System Architecture Overview</a:t>
            </a:r>
            <a:endParaRPr lang="en-US" sz="2800" dirty="0"/>
          </a:p>
        </p:txBody>
      </p:sp>
      <p:sp>
        <p:nvSpPr>
          <p:cNvPr id="3" name="Shape 1"/>
          <p:cNvSpPr/>
          <p:nvPr/>
        </p:nvSpPr>
        <p:spPr>
          <a:xfrm>
            <a:off x="457200" y="841248"/>
            <a:ext cx="1097280" cy="201168"/>
          </a:xfrm>
          <a:prstGeom prst="rect">
            <a:avLst/>
          </a:prstGeom>
          <a:solidFill>
            <a:srgbClr val="00D9A5"/>
          </a:solidFill>
          <a:ln w="12700">
            <a:solidFill>
              <a:srgbClr val="00D9A5"/>
            </a:solidFill>
            <a:prstDash val="solid"/>
          </a:ln>
        </p:spPr>
      </p:sp>
      <p:sp>
        <p:nvSpPr>
          <p:cNvPr id="4" name="Text 2"/>
          <p:cNvSpPr/>
          <p:nvPr/>
        </p:nvSpPr>
        <p:spPr>
          <a:xfrm>
            <a:off x="457200" y="841248"/>
            <a:ext cx="1097280" cy="201168"/>
          </a:xfrm>
          <a:prstGeom prst="rect">
            <a:avLst/>
          </a:prstGeom>
          <a:noFill/>
          <a:ln/>
        </p:spPr>
        <p:txBody>
          <a:bodyPr wrap="square" lIns="0" tIns="0" rIns="0" bIns="0" rtlCol="0" anchor="ctr"/>
          <a:lstStyle/>
          <a:p>
            <a:pPr algn="ctr" indent="0" marL="0">
              <a:buNone/>
            </a:pPr>
            <a:r>
              <a:rPr lang="en-US" sz="800" b="1" dirty="0">
                <a:solidFill>
                  <a:srgbClr val="0D1B2A"/>
                </a:solidFill>
                <a:latin typeface="Calibri" pitchFamily="34" charset="0"/>
                <a:ea typeface="Calibri" pitchFamily="34" charset="-122"/>
                <a:cs typeface="Calibri" pitchFamily="34" charset="-120"/>
              </a:rPr>
              <a:t>ARCHITECTURE</a:t>
            </a:r>
            <a:endParaRPr lang="en-US" sz="800" dirty="0"/>
          </a:p>
        </p:txBody>
      </p:sp>
      <p:sp>
        <p:nvSpPr>
          <p:cNvPr id="5" name="Shape 3"/>
          <p:cNvSpPr/>
          <p:nvPr/>
        </p:nvSpPr>
        <p:spPr>
          <a:xfrm>
            <a:off x="457200" y="777240"/>
            <a:ext cx="8229600" cy="22860"/>
          </a:xfrm>
          <a:prstGeom prst="rect">
            <a:avLst/>
          </a:prstGeom>
          <a:solidFill>
            <a:srgbClr val="00D9A5"/>
          </a:solidFill>
          <a:ln w="12700">
            <a:solidFill>
              <a:srgbClr val="00D9A5"/>
            </a:solidFill>
            <a:prstDash val="solid"/>
          </a:ln>
        </p:spPr>
      </p:sp>
      <p:sp>
        <p:nvSpPr>
          <p:cNvPr id="6" name="Shape 4"/>
          <p:cNvSpPr/>
          <p:nvPr/>
        </p:nvSpPr>
        <p:spPr>
          <a:xfrm>
            <a:off x="320040" y="960120"/>
            <a:ext cx="8503920" cy="2651760"/>
          </a:xfrm>
          <a:prstGeom prst="rect">
            <a:avLst/>
          </a:prstGeom>
          <a:solidFill>
            <a:srgbClr val="162534"/>
          </a:solidFill>
          <a:ln w="19050">
            <a:solidFill>
              <a:srgbClr val="0E9AA7"/>
            </a:solidFill>
            <a:prstDash val="solid"/>
          </a:ln>
        </p:spPr>
      </p:sp>
      <p:sp>
        <p:nvSpPr>
          <p:cNvPr id="7" name="Text 5"/>
          <p:cNvSpPr/>
          <p:nvPr/>
        </p:nvSpPr>
        <p:spPr>
          <a:xfrm>
            <a:off x="411480" y="987552"/>
            <a:ext cx="1371600" cy="201168"/>
          </a:xfrm>
          <a:prstGeom prst="rect">
            <a:avLst/>
          </a:prstGeom>
          <a:noFill/>
          <a:ln/>
        </p:spPr>
        <p:txBody>
          <a:bodyPr wrap="square" lIns="0" tIns="0" rIns="0" bIns="0" rtlCol="0" anchor="ctr"/>
          <a:lstStyle/>
          <a:p>
            <a:pPr indent="0" marL="0">
              <a:buNone/>
            </a:pPr>
            <a:r>
              <a:rPr lang="en-US" sz="800" b="1" dirty="0">
                <a:solidFill>
                  <a:srgbClr val="0E9AA7"/>
                </a:solidFill>
                <a:latin typeface="Calibri" pitchFamily="34" charset="0"/>
                <a:ea typeface="Calibri" pitchFamily="34" charset="-122"/>
                <a:cs typeface="Calibri" pitchFamily="34" charset="-120"/>
              </a:rPr>
              <a:t>USER SPACE</a:t>
            </a:r>
            <a:endParaRPr lang="en-US" sz="800" dirty="0"/>
          </a:p>
        </p:txBody>
      </p:sp>
      <p:sp>
        <p:nvSpPr>
          <p:cNvPr id="8" name="Shape 6"/>
          <p:cNvSpPr/>
          <p:nvPr/>
        </p:nvSpPr>
        <p:spPr>
          <a:xfrm>
            <a:off x="502920" y="1261872"/>
            <a:ext cx="2194560" cy="2103120"/>
          </a:xfrm>
          <a:prstGeom prst="rect">
            <a:avLst/>
          </a:prstGeom>
          <a:solidFill>
            <a:srgbClr val="0E9AA7">
              <a:alpha val="30000"/>
            </a:srgbClr>
          </a:solidFill>
          <a:ln w="12700">
            <a:solidFill>
              <a:srgbClr val="0E9AA7"/>
            </a:solidFill>
            <a:prstDash val="solid"/>
          </a:ln>
        </p:spPr>
      </p:sp>
      <p:sp>
        <p:nvSpPr>
          <p:cNvPr id="9" name="Text 7"/>
          <p:cNvSpPr/>
          <p:nvPr/>
        </p:nvSpPr>
        <p:spPr>
          <a:xfrm>
            <a:off x="502920" y="1371600"/>
            <a:ext cx="219456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engine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(Supervisor)</a:t>
            </a:r>
            <a:endParaRPr lang="en-US" sz="1100" dirty="0"/>
          </a:p>
        </p:txBody>
      </p:sp>
      <p:sp>
        <p:nvSpPr>
          <p:cNvPr id="10" name="Text 8"/>
          <p:cNvSpPr/>
          <p:nvPr/>
        </p:nvSpPr>
        <p:spPr>
          <a:xfrm>
            <a:off x="594360" y="1828800"/>
            <a:ext cx="2011680" cy="1371600"/>
          </a:xfrm>
          <a:prstGeom prst="rect">
            <a:avLst/>
          </a:prstGeom>
          <a:noFill/>
          <a:ln/>
        </p:spPr>
        <p:txBody>
          <a:bodyPr wrap="square" lIns="0" tIns="0" rIns="0" bIns="0" rtlCol="0" anchor="ctr"/>
          <a:lstStyle/>
          <a:p>
            <a:pPr indent="0" marL="0">
              <a:buNone/>
            </a:pPr>
            <a:r>
              <a:rPr lang="en-US" sz="900" dirty="0">
                <a:solidFill>
                  <a:srgbClr val="F0F4F8"/>
                </a:solidFill>
                <a:latin typeface="Calibri" pitchFamily="34" charset="0"/>
                <a:ea typeface="Calibri" pitchFamily="34" charset="-122"/>
                <a:cs typeface="Calibri" pitchFamily="34" charset="-120"/>
              </a:rPr>
              <a:t>• UNIX socket server</a:t>
            </a:r>
            <a:endParaRPr lang="en-US" sz="900" dirty="0"/>
          </a:p>
          <a:p>
            <a:pPr indent="0" marL="0">
              <a:buNone/>
            </a:pPr>
            <a:r>
              <a:rPr lang="en-US" sz="900" dirty="0">
                <a:solidFill>
                  <a:srgbClr val="F0F4F8"/>
                </a:solidFill>
                <a:latin typeface="Calibri" pitchFamily="34" charset="0"/>
                <a:ea typeface="Calibri" pitchFamily="34" charset="-122"/>
                <a:cs typeface="Calibri" pitchFamily="34" charset="-120"/>
              </a:rPr>
              <a:t>• metadata_lock</a:t>
            </a:r>
            <a:endParaRPr lang="en-US" sz="900" dirty="0"/>
          </a:p>
          <a:p>
            <a:pPr indent="0" marL="0">
              <a:buNone/>
            </a:pPr>
            <a:r>
              <a:rPr lang="en-US" sz="900" dirty="0">
                <a:solidFill>
                  <a:srgbClr val="F0F4F8"/>
                </a:solidFill>
                <a:latin typeface="Calibri" pitchFamily="34" charset="0"/>
                <a:ea typeface="Calibri" pitchFamily="34" charset="-122"/>
                <a:cs typeface="Calibri" pitchFamily="34" charset="-120"/>
              </a:rPr>
              <a:t>• bounded_buffer</a:t>
            </a:r>
            <a:endParaRPr lang="en-US" sz="900" dirty="0"/>
          </a:p>
          <a:p>
            <a:pPr indent="0" marL="0">
              <a:buNone/>
            </a:pPr>
            <a:r>
              <a:rPr lang="en-US" sz="900" dirty="0">
                <a:solidFill>
                  <a:srgbClr val="F0F4F8"/>
                </a:solidFill>
                <a:latin typeface="Calibri" pitchFamily="34" charset="0"/>
                <a:ea typeface="Calibri" pitchFamily="34" charset="-122"/>
                <a:cs typeface="Calibri" pitchFamily="34" charset="-120"/>
              </a:rPr>
              <a:t>• logging_thread</a:t>
            </a:r>
            <a:endParaRPr lang="en-US" sz="900" dirty="0"/>
          </a:p>
          <a:p>
            <a:pPr indent="0" marL="0">
              <a:buNone/>
            </a:pPr>
            <a:r>
              <a:rPr lang="en-US" sz="900" dirty="0">
                <a:solidFill>
                  <a:srgbClr val="F0F4F8"/>
                </a:solidFill>
                <a:latin typeface="Calibri" pitchFamily="34" charset="0"/>
                <a:ea typeface="Calibri" pitchFamily="34" charset="-122"/>
                <a:cs typeface="Calibri" pitchFamily="34" charset="-120"/>
              </a:rPr>
              <a:t>• SIGCHLD handler</a:t>
            </a:r>
            <a:endParaRPr lang="en-US" sz="900" dirty="0"/>
          </a:p>
        </p:txBody>
      </p:sp>
      <p:sp>
        <p:nvSpPr>
          <p:cNvPr id="11" name="Shape 9"/>
          <p:cNvSpPr/>
          <p:nvPr/>
        </p:nvSpPr>
        <p:spPr>
          <a:xfrm>
            <a:off x="3063240" y="1261872"/>
            <a:ext cx="1188720" cy="2103120"/>
          </a:xfrm>
          <a:prstGeom prst="rect">
            <a:avLst/>
          </a:prstGeom>
          <a:solidFill>
            <a:srgbClr val="00D9A5">
              <a:alpha val="20000"/>
            </a:srgbClr>
          </a:solidFill>
          <a:ln w="12700">
            <a:solidFill>
              <a:srgbClr val="00D9A5"/>
            </a:solidFill>
            <a:prstDash val="solid"/>
          </a:ln>
        </p:spPr>
      </p:sp>
      <p:sp>
        <p:nvSpPr>
          <p:cNvPr id="12" name="Text 10"/>
          <p:cNvSpPr/>
          <p:nvPr/>
        </p:nvSpPr>
        <p:spPr>
          <a:xfrm>
            <a:off x="3063240" y="1353312"/>
            <a:ext cx="11887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Container C1</a:t>
            </a:r>
            <a:endParaRPr lang="en-US" sz="900" dirty="0"/>
          </a:p>
        </p:txBody>
      </p:sp>
      <p:sp>
        <p:nvSpPr>
          <p:cNvPr id="13" name="Text 11"/>
          <p:cNvSpPr/>
          <p:nvPr/>
        </p:nvSpPr>
        <p:spPr>
          <a:xfrm>
            <a:off x="3063240" y="1591056"/>
            <a:ext cx="1188720" cy="201168"/>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(clone)</a:t>
            </a:r>
            <a:endParaRPr lang="en-US" sz="850" dirty="0"/>
          </a:p>
        </p:txBody>
      </p:sp>
      <p:sp>
        <p:nvSpPr>
          <p:cNvPr id="14" name="Text 12"/>
          <p:cNvSpPr/>
          <p:nvPr/>
        </p:nvSpPr>
        <p:spPr>
          <a:xfrm>
            <a:off x="3136392" y="1828800"/>
            <a:ext cx="1078992" cy="1371600"/>
          </a:xfrm>
          <a:prstGeom prst="rect">
            <a:avLst/>
          </a:prstGeom>
          <a:noFill/>
          <a:ln/>
        </p:spPr>
        <p:txBody>
          <a:bodyPr wrap="square" lIns="0" tIns="0" rIns="0" bIns="0" rtlCol="0" anchor="ctr"/>
          <a:lstStyle/>
          <a:p>
            <a:pPr indent="0" marL="0">
              <a:buNone/>
            </a:pPr>
            <a:r>
              <a:rPr lang="en-US" sz="850" dirty="0">
                <a:solidFill>
                  <a:srgbClr val="F0F4F8"/>
                </a:solidFill>
                <a:latin typeface="Calibri" pitchFamily="34" charset="0"/>
                <a:ea typeface="Calibri" pitchFamily="34" charset="-122"/>
                <a:cs typeface="Calibri" pitchFamily="34" charset="-120"/>
              </a:rPr>
              <a:t>PID NS</a:t>
            </a:r>
            <a:endParaRPr lang="en-US" sz="850" dirty="0"/>
          </a:p>
          <a:p>
            <a:pPr indent="0" marL="0">
              <a:buNone/>
            </a:pPr>
            <a:r>
              <a:rPr lang="en-US" sz="850" dirty="0">
                <a:solidFill>
                  <a:srgbClr val="F0F4F8"/>
                </a:solidFill>
                <a:latin typeface="Calibri" pitchFamily="34" charset="0"/>
                <a:ea typeface="Calibri" pitchFamily="34" charset="-122"/>
                <a:cs typeface="Calibri" pitchFamily="34" charset="-120"/>
              </a:rPr>
              <a:t>UTS NS</a:t>
            </a:r>
            <a:endParaRPr lang="en-US" sz="850" dirty="0"/>
          </a:p>
          <a:p>
            <a:pPr indent="0" marL="0">
              <a:buNone/>
            </a:pPr>
            <a:r>
              <a:rPr lang="en-US" sz="850" dirty="0">
                <a:solidFill>
                  <a:srgbClr val="F0F4F8"/>
                </a:solidFill>
                <a:latin typeface="Calibri" pitchFamily="34" charset="0"/>
                <a:ea typeface="Calibri" pitchFamily="34" charset="-122"/>
                <a:cs typeface="Calibri" pitchFamily="34" charset="-120"/>
              </a:rPr>
              <a:t>MNT NS</a:t>
            </a:r>
            <a:endParaRPr lang="en-US" sz="850" dirty="0"/>
          </a:p>
          <a:p>
            <a:pPr indent="0" marL="0">
              <a:buNone/>
            </a:pPr>
            <a:r>
              <a:rPr lang="en-US" sz="850" dirty="0">
                <a:solidFill>
                  <a:srgbClr val="F0F4F8"/>
                </a:solidFill>
                <a:latin typeface="Calibri" pitchFamily="34" charset="0"/>
                <a:ea typeface="Calibri" pitchFamily="34" charset="-122"/>
                <a:cs typeface="Calibri" pitchFamily="34" charset="-120"/>
              </a:rPr>
              <a:t>chroot</a:t>
            </a:r>
            <a:endParaRPr lang="en-US" sz="850" dirty="0"/>
          </a:p>
          <a:p>
            <a:pPr indent="0" marL="0">
              <a:buNone/>
            </a:pPr>
            <a:r>
              <a:rPr lang="en-US" sz="850" dirty="0">
                <a:solidFill>
                  <a:srgbClr val="F0F4F8"/>
                </a:solidFill>
                <a:latin typeface="Calibri" pitchFamily="34" charset="0"/>
                <a:ea typeface="Calibri" pitchFamily="34" charset="-122"/>
                <a:cs typeface="Calibri" pitchFamily="34" charset="-120"/>
              </a:rPr>
              <a:t>pipe→log</a:t>
            </a:r>
            <a:endParaRPr lang="en-US" sz="850" dirty="0"/>
          </a:p>
        </p:txBody>
      </p:sp>
      <p:sp>
        <p:nvSpPr>
          <p:cNvPr id="15" name="Shape 13"/>
          <p:cNvSpPr/>
          <p:nvPr/>
        </p:nvSpPr>
        <p:spPr>
          <a:xfrm>
            <a:off x="4325112" y="1261872"/>
            <a:ext cx="1188720" cy="2103120"/>
          </a:xfrm>
          <a:prstGeom prst="rect">
            <a:avLst/>
          </a:prstGeom>
          <a:solidFill>
            <a:srgbClr val="00D9A5">
              <a:alpha val="20000"/>
            </a:srgbClr>
          </a:solidFill>
          <a:ln w="12700">
            <a:solidFill>
              <a:srgbClr val="00D9A5"/>
            </a:solidFill>
            <a:prstDash val="solid"/>
          </a:ln>
        </p:spPr>
      </p:sp>
      <p:sp>
        <p:nvSpPr>
          <p:cNvPr id="16" name="Text 14"/>
          <p:cNvSpPr/>
          <p:nvPr/>
        </p:nvSpPr>
        <p:spPr>
          <a:xfrm>
            <a:off x="4325112" y="1353312"/>
            <a:ext cx="11887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Container C2</a:t>
            </a:r>
            <a:endParaRPr lang="en-US" sz="900" dirty="0"/>
          </a:p>
        </p:txBody>
      </p:sp>
      <p:sp>
        <p:nvSpPr>
          <p:cNvPr id="17" name="Text 15"/>
          <p:cNvSpPr/>
          <p:nvPr/>
        </p:nvSpPr>
        <p:spPr>
          <a:xfrm>
            <a:off x="4325112" y="1591056"/>
            <a:ext cx="1188720" cy="201168"/>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(clone)</a:t>
            </a:r>
            <a:endParaRPr lang="en-US" sz="850" dirty="0"/>
          </a:p>
        </p:txBody>
      </p:sp>
      <p:sp>
        <p:nvSpPr>
          <p:cNvPr id="18" name="Text 16"/>
          <p:cNvSpPr/>
          <p:nvPr/>
        </p:nvSpPr>
        <p:spPr>
          <a:xfrm>
            <a:off x="4398264" y="1828800"/>
            <a:ext cx="1078992" cy="1371600"/>
          </a:xfrm>
          <a:prstGeom prst="rect">
            <a:avLst/>
          </a:prstGeom>
          <a:noFill/>
          <a:ln/>
        </p:spPr>
        <p:txBody>
          <a:bodyPr wrap="square" lIns="0" tIns="0" rIns="0" bIns="0" rtlCol="0" anchor="ctr"/>
          <a:lstStyle/>
          <a:p>
            <a:pPr indent="0" marL="0">
              <a:buNone/>
            </a:pPr>
            <a:r>
              <a:rPr lang="en-US" sz="850" dirty="0">
                <a:solidFill>
                  <a:srgbClr val="F0F4F8"/>
                </a:solidFill>
                <a:latin typeface="Calibri" pitchFamily="34" charset="0"/>
                <a:ea typeface="Calibri" pitchFamily="34" charset="-122"/>
                <a:cs typeface="Calibri" pitchFamily="34" charset="-120"/>
              </a:rPr>
              <a:t>PID NS</a:t>
            </a:r>
            <a:endParaRPr lang="en-US" sz="850" dirty="0"/>
          </a:p>
          <a:p>
            <a:pPr indent="0" marL="0">
              <a:buNone/>
            </a:pPr>
            <a:r>
              <a:rPr lang="en-US" sz="850" dirty="0">
                <a:solidFill>
                  <a:srgbClr val="F0F4F8"/>
                </a:solidFill>
                <a:latin typeface="Calibri" pitchFamily="34" charset="0"/>
                <a:ea typeface="Calibri" pitchFamily="34" charset="-122"/>
                <a:cs typeface="Calibri" pitchFamily="34" charset="-120"/>
              </a:rPr>
              <a:t>UTS NS</a:t>
            </a:r>
            <a:endParaRPr lang="en-US" sz="850" dirty="0"/>
          </a:p>
          <a:p>
            <a:pPr indent="0" marL="0">
              <a:buNone/>
            </a:pPr>
            <a:r>
              <a:rPr lang="en-US" sz="850" dirty="0">
                <a:solidFill>
                  <a:srgbClr val="F0F4F8"/>
                </a:solidFill>
                <a:latin typeface="Calibri" pitchFamily="34" charset="0"/>
                <a:ea typeface="Calibri" pitchFamily="34" charset="-122"/>
                <a:cs typeface="Calibri" pitchFamily="34" charset="-120"/>
              </a:rPr>
              <a:t>MNT NS</a:t>
            </a:r>
            <a:endParaRPr lang="en-US" sz="850" dirty="0"/>
          </a:p>
          <a:p>
            <a:pPr indent="0" marL="0">
              <a:buNone/>
            </a:pPr>
            <a:r>
              <a:rPr lang="en-US" sz="850" dirty="0">
                <a:solidFill>
                  <a:srgbClr val="F0F4F8"/>
                </a:solidFill>
                <a:latin typeface="Calibri" pitchFamily="34" charset="0"/>
                <a:ea typeface="Calibri" pitchFamily="34" charset="-122"/>
                <a:cs typeface="Calibri" pitchFamily="34" charset="-120"/>
              </a:rPr>
              <a:t>chroot</a:t>
            </a:r>
            <a:endParaRPr lang="en-US" sz="850" dirty="0"/>
          </a:p>
          <a:p>
            <a:pPr indent="0" marL="0">
              <a:buNone/>
            </a:pPr>
            <a:r>
              <a:rPr lang="en-US" sz="850" dirty="0">
                <a:solidFill>
                  <a:srgbClr val="F0F4F8"/>
                </a:solidFill>
                <a:latin typeface="Calibri" pitchFamily="34" charset="0"/>
                <a:ea typeface="Calibri" pitchFamily="34" charset="-122"/>
                <a:cs typeface="Calibri" pitchFamily="34" charset="-120"/>
              </a:rPr>
              <a:t>pipe→log</a:t>
            </a:r>
            <a:endParaRPr lang="en-US" sz="850" dirty="0"/>
          </a:p>
        </p:txBody>
      </p:sp>
      <p:sp>
        <p:nvSpPr>
          <p:cNvPr id="19" name="Shape 17"/>
          <p:cNvSpPr/>
          <p:nvPr/>
        </p:nvSpPr>
        <p:spPr>
          <a:xfrm>
            <a:off x="5586984" y="1261872"/>
            <a:ext cx="1188720" cy="2103120"/>
          </a:xfrm>
          <a:prstGeom prst="rect">
            <a:avLst/>
          </a:prstGeom>
          <a:solidFill>
            <a:srgbClr val="00D9A5">
              <a:alpha val="20000"/>
            </a:srgbClr>
          </a:solidFill>
          <a:ln w="12700">
            <a:solidFill>
              <a:srgbClr val="00D9A5"/>
            </a:solidFill>
            <a:prstDash val="solid"/>
          </a:ln>
        </p:spPr>
      </p:sp>
      <p:sp>
        <p:nvSpPr>
          <p:cNvPr id="20" name="Text 18"/>
          <p:cNvSpPr/>
          <p:nvPr/>
        </p:nvSpPr>
        <p:spPr>
          <a:xfrm>
            <a:off x="5586984" y="1353312"/>
            <a:ext cx="11887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Container C3</a:t>
            </a:r>
            <a:endParaRPr lang="en-US" sz="900" dirty="0"/>
          </a:p>
        </p:txBody>
      </p:sp>
      <p:sp>
        <p:nvSpPr>
          <p:cNvPr id="21" name="Text 19"/>
          <p:cNvSpPr/>
          <p:nvPr/>
        </p:nvSpPr>
        <p:spPr>
          <a:xfrm>
            <a:off x="5586984" y="1591056"/>
            <a:ext cx="1188720" cy="201168"/>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(clone)</a:t>
            </a:r>
            <a:endParaRPr lang="en-US" sz="850" dirty="0"/>
          </a:p>
        </p:txBody>
      </p:sp>
      <p:sp>
        <p:nvSpPr>
          <p:cNvPr id="22" name="Text 20"/>
          <p:cNvSpPr/>
          <p:nvPr/>
        </p:nvSpPr>
        <p:spPr>
          <a:xfrm>
            <a:off x="5660136" y="1828800"/>
            <a:ext cx="1078992" cy="1371600"/>
          </a:xfrm>
          <a:prstGeom prst="rect">
            <a:avLst/>
          </a:prstGeom>
          <a:noFill/>
          <a:ln/>
        </p:spPr>
        <p:txBody>
          <a:bodyPr wrap="square" lIns="0" tIns="0" rIns="0" bIns="0" rtlCol="0" anchor="ctr"/>
          <a:lstStyle/>
          <a:p>
            <a:pPr indent="0" marL="0">
              <a:buNone/>
            </a:pPr>
            <a:r>
              <a:rPr lang="en-US" sz="850" dirty="0">
                <a:solidFill>
                  <a:srgbClr val="F0F4F8"/>
                </a:solidFill>
                <a:latin typeface="Calibri" pitchFamily="34" charset="0"/>
                <a:ea typeface="Calibri" pitchFamily="34" charset="-122"/>
                <a:cs typeface="Calibri" pitchFamily="34" charset="-120"/>
              </a:rPr>
              <a:t>PID NS</a:t>
            </a:r>
            <a:endParaRPr lang="en-US" sz="850" dirty="0"/>
          </a:p>
          <a:p>
            <a:pPr indent="0" marL="0">
              <a:buNone/>
            </a:pPr>
            <a:r>
              <a:rPr lang="en-US" sz="850" dirty="0">
                <a:solidFill>
                  <a:srgbClr val="F0F4F8"/>
                </a:solidFill>
                <a:latin typeface="Calibri" pitchFamily="34" charset="0"/>
                <a:ea typeface="Calibri" pitchFamily="34" charset="-122"/>
                <a:cs typeface="Calibri" pitchFamily="34" charset="-120"/>
              </a:rPr>
              <a:t>UTS NS</a:t>
            </a:r>
            <a:endParaRPr lang="en-US" sz="850" dirty="0"/>
          </a:p>
          <a:p>
            <a:pPr indent="0" marL="0">
              <a:buNone/>
            </a:pPr>
            <a:r>
              <a:rPr lang="en-US" sz="850" dirty="0">
                <a:solidFill>
                  <a:srgbClr val="F0F4F8"/>
                </a:solidFill>
                <a:latin typeface="Calibri" pitchFamily="34" charset="0"/>
                <a:ea typeface="Calibri" pitchFamily="34" charset="-122"/>
                <a:cs typeface="Calibri" pitchFamily="34" charset="-120"/>
              </a:rPr>
              <a:t>MNT NS</a:t>
            </a:r>
            <a:endParaRPr lang="en-US" sz="850" dirty="0"/>
          </a:p>
          <a:p>
            <a:pPr indent="0" marL="0">
              <a:buNone/>
            </a:pPr>
            <a:r>
              <a:rPr lang="en-US" sz="850" dirty="0">
                <a:solidFill>
                  <a:srgbClr val="F0F4F8"/>
                </a:solidFill>
                <a:latin typeface="Calibri" pitchFamily="34" charset="0"/>
                <a:ea typeface="Calibri" pitchFamily="34" charset="-122"/>
                <a:cs typeface="Calibri" pitchFamily="34" charset="-120"/>
              </a:rPr>
              <a:t>chroot</a:t>
            </a:r>
            <a:endParaRPr lang="en-US" sz="850" dirty="0"/>
          </a:p>
          <a:p>
            <a:pPr indent="0" marL="0">
              <a:buNone/>
            </a:pPr>
            <a:r>
              <a:rPr lang="en-US" sz="850" dirty="0">
                <a:solidFill>
                  <a:srgbClr val="F0F4F8"/>
                </a:solidFill>
                <a:latin typeface="Calibri" pitchFamily="34" charset="0"/>
                <a:ea typeface="Calibri" pitchFamily="34" charset="-122"/>
                <a:cs typeface="Calibri" pitchFamily="34" charset="-120"/>
              </a:rPr>
              <a:t>pipe→log</a:t>
            </a:r>
            <a:endParaRPr lang="en-US" sz="850" dirty="0"/>
          </a:p>
        </p:txBody>
      </p:sp>
      <p:sp>
        <p:nvSpPr>
          <p:cNvPr id="23" name="Shape 21"/>
          <p:cNvSpPr/>
          <p:nvPr/>
        </p:nvSpPr>
        <p:spPr>
          <a:xfrm>
            <a:off x="6903720" y="1261872"/>
            <a:ext cx="1600200" cy="2103120"/>
          </a:xfrm>
          <a:prstGeom prst="rect">
            <a:avLst/>
          </a:prstGeom>
          <a:solidFill>
            <a:srgbClr val="F5A623">
              <a:alpha val="25000"/>
            </a:srgbClr>
          </a:solidFill>
          <a:ln w="12700">
            <a:solidFill>
              <a:srgbClr val="F5A623"/>
            </a:solidFill>
            <a:prstDash val="solid"/>
          </a:ln>
        </p:spPr>
      </p:sp>
      <p:sp>
        <p:nvSpPr>
          <p:cNvPr id="24" name="Text 22"/>
          <p:cNvSpPr/>
          <p:nvPr/>
        </p:nvSpPr>
        <p:spPr>
          <a:xfrm>
            <a:off x="6903720" y="1353312"/>
            <a:ext cx="160020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CLI Client</a:t>
            </a:r>
            <a:endParaRPr lang="en-US" sz="1000" dirty="0"/>
          </a:p>
        </p:txBody>
      </p:sp>
      <p:sp>
        <p:nvSpPr>
          <p:cNvPr id="25" name="Text 23"/>
          <p:cNvSpPr/>
          <p:nvPr/>
        </p:nvSpPr>
        <p:spPr>
          <a:xfrm>
            <a:off x="6903720" y="1600200"/>
            <a:ext cx="1600200" cy="20116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(engine)</a:t>
            </a:r>
            <a:endParaRPr lang="en-US" sz="900" dirty="0"/>
          </a:p>
        </p:txBody>
      </p:sp>
      <p:sp>
        <p:nvSpPr>
          <p:cNvPr id="26" name="Text 24"/>
          <p:cNvSpPr/>
          <p:nvPr/>
        </p:nvSpPr>
        <p:spPr>
          <a:xfrm>
            <a:off x="6995160" y="1847088"/>
            <a:ext cx="1417320" cy="1371600"/>
          </a:xfrm>
          <a:prstGeom prst="rect">
            <a:avLst/>
          </a:prstGeom>
          <a:noFill/>
          <a:ln/>
        </p:spPr>
        <p:txBody>
          <a:bodyPr wrap="square" lIns="0" tIns="0" rIns="0" bIns="0" rtlCol="0" anchor="ctr"/>
          <a:lstStyle/>
          <a:p>
            <a:pPr indent="0" marL="0">
              <a:buNone/>
            </a:pPr>
            <a:r>
              <a:rPr lang="en-US" sz="900" dirty="0">
                <a:solidFill>
                  <a:srgbClr val="F0F4F8"/>
                </a:solidFill>
                <a:latin typeface="Calibri" pitchFamily="34" charset="0"/>
                <a:ea typeface="Calibri" pitchFamily="34" charset="-122"/>
                <a:cs typeface="Calibri" pitchFamily="34" charset="-120"/>
              </a:rPr>
              <a:t>start / run</a:t>
            </a:r>
            <a:endParaRPr lang="en-US" sz="900" dirty="0"/>
          </a:p>
          <a:p>
            <a:pPr indent="0" marL="0">
              <a:buNone/>
            </a:pPr>
            <a:r>
              <a:rPr lang="en-US" sz="900" dirty="0">
                <a:solidFill>
                  <a:srgbClr val="F0F4F8"/>
                </a:solidFill>
                <a:latin typeface="Calibri" pitchFamily="34" charset="0"/>
                <a:ea typeface="Calibri" pitchFamily="34" charset="-122"/>
                <a:cs typeface="Calibri" pitchFamily="34" charset="-120"/>
              </a:rPr>
              <a:t>stop / ps</a:t>
            </a:r>
            <a:endParaRPr lang="en-US" sz="900" dirty="0"/>
          </a:p>
          <a:p>
            <a:pPr indent="0" marL="0">
              <a:buNone/>
            </a:pPr>
            <a:r>
              <a:rPr lang="en-US" sz="900" dirty="0">
                <a:solidFill>
                  <a:srgbClr val="F0F4F8"/>
                </a:solidFill>
                <a:latin typeface="Calibri" pitchFamily="34" charset="0"/>
                <a:ea typeface="Calibri" pitchFamily="34" charset="-122"/>
                <a:cs typeface="Calibri" pitchFamily="34" charset="-120"/>
              </a:rPr>
              <a:t>logs</a:t>
            </a:r>
            <a:endParaRPr lang="en-US" sz="900" dirty="0"/>
          </a:p>
          <a:p>
            <a:pPr indent="0" marL="0">
              <a:buNone/>
            </a:pPr>
            <a:r>
              <a:rPr lang="en-US" sz="900" dirty="0">
                <a:solidFill>
                  <a:srgbClr val="F0F4F8"/>
                </a:solidFill>
                <a:latin typeface="Calibri" pitchFamily="34" charset="0"/>
                <a:ea typeface="Calibri" pitchFamily="34" charset="-122"/>
                <a:cs typeface="Calibri" pitchFamily="34" charset="-120"/>
              </a:rPr>
              <a:t>→ UNIX sock</a:t>
            </a:r>
            <a:endParaRPr lang="en-US" sz="900" dirty="0"/>
          </a:p>
        </p:txBody>
      </p:sp>
      <p:sp>
        <p:nvSpPr>
          <p:cNvPr id="27" name="Shape 25"/>
          <p:cNvSpPr/>
          <p:nvPr/>
        </p:nvSpPr>
        <p:spPr>
          <a:xfrm>
            <a:off x="320040" y="3749040"/>
            <a:ext cx="8503920" cy="1005840"/>
          </a:xfrm>
          <a:prstGeom prst="rect">
            <a:avLst/>
          </a:prstGeom>
          <a:solidFill>
            <a:srgbClr val="0A121D"/>
          </a:solidFill>
          <a:ln w="19050">
            <a:solidFill>
              <a:srgbClr val="E63946"/>
            </a:solidFill>
            <a:prstDash val="solid"/>
          </a:ln>
        </p:spPr>
      </p:sp>
      <p:sp>
        <p:nvSpPr>
          <p:cNvPr id="28" name="Text 26"/>
          <p:cNvSpPr/>
          <p:nvPr/>
        </p:nvSpPr>
        <p:spPr>
          <a:xfrm>
            <a:off x="411480" y="3776472"/>
            <a:ext cx="1645920" cy="201168"/>
          </a:xfrm>
          <a:prstGeom prst="rect">
            <a:avLst/>
          </a:prstGeom>
          <a:noFill/>
          <a:ln/>
        </p:spPr>
        <p:txBody>
          <a:bodyPr wrap="square" lIns="0" tIns="0" rIns="0" bIns="0" rtlCol="0" anchor="ctr"/>
          <a:lstStyle/>
          <a:p>
            <a:pPr indent="0" marL="0">
              <a:buNone/>
            </a:pPr>
            <a:r>
              <a:rPr lang="en-US" sz="800" b="1" dirty="0">
                <a:solidFill>
                  <a:srgbClr val="E63946"/>
                </a:solidFill>
                <a:latin typeface="Calibri" pitchFamily="34" charset="0"/>
                <a:ea typeface="Calibri" pitchFamily="34" charset="-122"/>
                <a:cs typeface="Calibri" pitchFamily="34" charset="-120"/>
              </a:rPr>
              <a:t>KERNEL SPACE</a:t>
            </a:r>
            <a:endParaRPr lang="en-US" sz="800" dirty="0"/>
          </a:p>
        </p:txBody>
      </p:sp>
      <p:sp>
        <p:nvSpPr>
          <p:cNvPr id="29" name="Text 27"/>
          <p:cNvSpPr/>
          <p:nvPr/>
        </p:nvSpPr>
        <p:spPr>
          <a:xfrm>
            <a:off x="2286000" y="3822192"/>
            <a:ext cx="2286000"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monitor.ko  (LKM)</a:t>
            </a:r>
            <a:endParaRPr lang="en-US" sz="1000" dirty="0"/>
          </a:p>
        </p:txBody>
      </p:sp>
      <p:sp>
        <p:nvSpPr>
          <p:cNvPr id="30" name="Text 28"/>
          <p:cNvSpPr/>
          <p:nvPr/>
        </p:nvSpPr>
        <p:spPr>
          <a:xfrm>
            <a:off x="502920" y="4114800"/>
            <a:ext cx="8229600" cy="457200"/>
          </a:xfrm>
          <a:prstGeom prst="rect">
            <a:avLst/>
          </a:prstGeom>
          <a:noFill/>
          <a:ln/>
        </p:spPr>
        <p:txBody>
          <a:bodyPr wrap="square" lIns="0" tIns="0" rIns="0" bIns="0" rtlCol="0" anchor="ctr"/>
          <a:lstStyle/>
          <a:p>
            <a:pPr algn="ctr" indent="0" marL="0">
              <a:buNone/>
            </a:pPr>
            <a:r>
              <a:rPr lang="en-US" sz="1000" dirty="0">
                <a:solidFill>
                  <a:srgbClr val="8FA3B1"/>
                </a:solidFill>
                <a:latin typeface="Calibri" pitchFamily="34" charset="0"/>
                <a:ea typeface="Calibri" pitchFamily="34" charset="-122"/>
                <a:cs typeface="Calibri" pitchFamily="34" charset="-120"/>
              </a:rPr>
              <a:t>Timer Callback (1 Hz)  •  RSS via get_mm_rss()  •  SIGKILL via send_sig()  •  /dev/container_monitor (ioctl)</a:t>
            </a:r>
            <a:endParaRPr lang="en-US" sz="1000" dirty="0"/>
          </a:p>
        </p:txBody>
      </p:sp>
      <p:sp>
        <p:nvSpPr>
          <p:cNvPr id="31" name="Shape 29"/>
          <p:cNvSpPr/>
          <p:nvPr/>
        </p:nvSpPr>
        <p:spPr>
          <a:xfrm>
            <a:off x="1508760" y="3383280"/>
            <a:ext cx="54864" cy="347472"/>
          </a:xfrm>
          <a:prstGeom prst="rect">
            <a:avLst/>
          </a:prstGeom>
          <a:solidFill>
            <a:srgbClr val="F5A623"/>
          </a:solidFill>
          <a:ln w="12700">
            <a:solidFill>
              <a:srgbClr val="F5A623"/>
            </a:solidFill>
            <a:prstDash val="solid"/>
          </a:ln>
        </p:spPr>
      </p:sp>
      <p:sp>
        <p:nvSpPr>
          <p:cNvPr id="32" name="Text 30"/>
          <p:cNvSpPr/>
          <p:nvPr/>
        </p:nvSpPr>
        <p:spPr>
          <a:xfrm>
            <a:off x="914400" y="3291840"/>
            <a:ext cx="1188720" cy="182880"/>
          </a:xfrm>
          <a:prstGeom prst="rect">
            <a:avLst/>
          </a:prstGeom>
          <a:noFill/>
          <a:ln/>
        </p:spPr>
        <p:txBody>
          <a:bodyPr wrap="square" lIns="0" tIns="0" rIns="0" bIns="0" rtlCol="0" anchor="ctr"/>
          <a:lstStyle/>
          <a:p>
            <a:pPr algn="ctr" indent="0" marL="0">
              <a:buNone/>
            </a:pPr>
            <a:r>
              <a:rPr lang="en-US" sz="800" dirty="0">
                <a:solidFill>
                  <a:srgbClr val="F5A623"/>
                </a:solidFill>
                <a:latin typeface="Calibri" pitchFamily="34" charset="0"/>
                <a:ea typeface="Calibri" pitchFamily="34" charset="-122"/>
                <a:cs typeface="Calibri" pitchFamily="34" charset="-120"/>
              </a:rPr>
              <a:t>ioctl()</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800" b="1" dirty="0">
                <a:solidFill>
                  <a:srgbClr val="1B2A3B"/>
                </a:solidFill>
                <a:latin typeface="Calibri" pitchFamily="34" charset="0"/>
                <a:ea typeface="Calibri" pitchFamily="34" charset="-122"/>
                <a:cs typeface="Calibri" pitchFamily="34" charset="-120"/>
              </a:rPr>
              <a:t>Components of the System</a:t>
            </a:r>
            <a:endParaRPr lang="en-US" sz="2800" dirty="0"/>
          </a:p>
        </p:txBody>
      </p:sp>
      <p:sp>
        <p:nvSpPr>
          <p:cNvPr id="3" name="Shape 1"/>
          <p:cNvSpPr/>
          <p:nvPr/>
        </p:nvSpPr>
        <p:spPr>
          <a:xfrm>
            <a:off x="457200" y="841248"/>
            <a:ext cx="1097280" cy="201168"/>
          </a:xfrm>
          <a:prstGeom prst="rect">
            <a:avLst/>
          </a:prstGeom>
          <a:solidFill>
            <a:srgbClr val="00D9A5"/>
          </a:solidFill>
          <a:ln w="12700">
            <a:solidFill>
              <a:srgbClr val="00D9A5"/>
            </a:solidFill>
            <a:prstDash val="solid"/>
          </a:ln>
        </p:spPr>
      </p:sp>
      <p:sp>
        <p:nvSpPr>
          <p:cNvPr id="4" name="Text 2"/>
          <p:cNvSpPr/>
          <p:nvPr/>
        </p:nvSpPr>
        <p:spPr>
          <a:xfrm>
            <a:off x="457200" y="841248"/>
            <a:ext cx="1097280" cy="201168"/>
          </a:xfrm>
          <a:prstGeom prst="rect">
            <a:avLst/>
          </a:prstGeom>
          <a:noFill/>
          <a:ln/>
        </p:spPr>
        <p:txBody>
          <a:bodyPr wrap="square" lIns="0" tIns="0" rIns="0" bIns="0" rtlCol="0" anchor="ctr"/>
          <a:lstStyle/>
          <a:p>
            <a:pPr algn="ctr" indent="0" marL="0">
              <a:buNone/>
            </a:pPr>
            <a:r>
              <a:rPr lang="en-US" sz="800" b="1" dirty="0">
                <a:solidFill>
                  <a:srgbClr val="0D1B2A"/>
                </a:solidFill>
                <a:latin typeface="Calibri" pitchFamily="34" charset="0"/>
                <a:ea typeface="Calibri" pitchFamily="34" charset="-122"/>
                <a:cs typeface="Calibri" pitchFamily="34" charset="-120"/>
              </a:rPr>
              <a:t>COMPONENTS</a:t>
            </a:r>
            <a:endParaRPr lang="en-US" sz="800" dirty="0"/>
          </a:p>
        </p:txBody>
      </p:sp>
      <p:sp>
        <p:nvSpPr>
          <p:cNvPr id="5" name="Shape 3"/>
          <p:cNvSpPr/>
          <p:nvPr/>
        </p:nvSpPr>
        <p:spPr>
          <a:xfrm>
            <a:off x="457200" y="777240"/>
            <a:ext cx="8229600" cy="22860"/>
          </a:xfrm>
          <a:prstGeom prst="rect">
            <a:avLst/>
          </a:prstGeom>
          <a:solidFill>
            <a:srgbClr val="0E9AA7"/>
          </a:solidFill>
          <a:ln w="12700">
            <a:solidFill>
              <a:srgbClr val="0E9AA7"/>
            </a:solidFill>
            <a:prstDash val="solid"/>
          </a:ln>
        </p:spPr>
      </p:sp>
      <p:sp>
        <p:nvSpPr>
          <p:cNvPr id="6" name="Shape 4"/>
          <p:cNvSpPr/>
          <p:nvPr/>
        </p:nvSpPr>
        <p:spPr>
          <a:xfrm>
            <a:off x="457200" y="960120"/>
            <a:ext cx="2651760" cy="1600200"/>
          </a:xfrm>
          <a:prstGeom prst="rect">
            <a:avLst/>
          </a:prstGeom>
          <a:solidFill>
            <a:srgbClr val="FFFFFF"/>
          </a:solidFill>
          <a:ln w="12700">
            <a:solidFill>
              <a:srgbClr val="D6E3EE"/>
            </a:solidFill>
            <a:prstDash val="solid"/>
          </a:ln>
          <a:effectLst>
            <a:outerShdw sx="100000" sy="100000" kx="0" ky="0" algn="bl" rotWithShape="0" blurRad="50800" dist="25400" dir="8100000">
              <a:srgbClr val="000000">
                <a:alpha val="10000"/>
              </a:srgbClr>
            </a:outerShdw>
          </a:effectLst>
        </p:spPr>
      </p:sp>
      <p:sp>
        <p:nvSpPr>
          <p:cNvPr id="7" name="Shape 5"/>
          <p:cNvSpPr/>
          <p:nvPr/>
        </p:nvSpPr>
        <p:spPr>
          <a:xfrm>
            <a:off x="457200" y="960120"/>
            <a:ext cx="64008" cy="1600200"/>
          </a:xfrm>
          <a:prstGeom prst="rect">
            <a:avLst/>
          </a:prstGeom>
          <a:solidFill>
            <a:srgbClr val="0E9AA7"/>
          </a:solidFill>
          <a:ln w="12700">
            <a:solidFill>
              <a:srgbClr val="0E9AA7"/>
            </a:solidFill>
            <a:prstDash val="solid"/>
          </a:ln>
        </p:spPr>
      </p:sp>
      <p:sp>
        <p:nvSpPr>
          <p:cNvPr id="8" name="Text 6"/>
          <p:cNvSpPr/>
          <p:nvPr/>
        </p:nvSpPr>
        <p:spPr>
          <a:xfrm>
            <a:off x="594360" y="1033272"/>
            <a:ext cx="2450592" cy="256032"/>
          </a:xfrm>
          <a:prstGeom prst="rect">
            <a:avLst/>
          </a:prstGeom>
          <a:noFill/>
          <a:ln/>
        </p:spPr>
        <p:txBody>
          <a:bodyPr wrap="square" lIns="0" tIns="0" rIns="0" bIns="0" rtlCol="0" anchor="ctr"/>
          <a:lstStyle/>
          <a:p>
            <a:pPr indent="0" marL="0">
              <a:buNone/>
            </a:pPr>
            <a:r>
              <a:rPr lang="en-US" sz="1250" b="1" dirty="0">
                <a:solidFill>
                  <a:srgbClr val="0E9AA7"/>
                </a:solidFill>
                <a:latin typeface="Consolas" pitchFamily="34" charset="0"/>
                <a:ea typeface="Consolas" pitchFamily="34" charset="-122"/>
                <a:cs typeface="Consolas" pitchFamily="34" charset="-120"/>
              </a:rPr>
              <a:t>engine.c</a:t>
            </a:r>
            <a:endParaRPr lang="en-US" sz="1250" dirty="0"/>
          </a:p>
        </p:txBody>
      </p:sp>
      <p:sp>
        <p:nvSpPr>
          <p:cNvPr id="9" name="Text 7"/>
          <p:cNvSpPr/>
          <p:nvPr/>
        </p:nvSpPr>
        <p:spPr>
          <a:xfrm>
            <a:off x="594360" y="1289304"/>
            <a:ext cx="2450592" cy="201168"/>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User-Space Supervisor &amp; CLI</a:t>
            </a:r>
            <a:endParaRPr lang="en-US" sz="900" dirty="0"/>
          </a:p>
        </p:txBody>
      </p:sp>
      <p:sp>
        <p:nvSpPr>
          <p:cNvPr id="10" name="Text 8"/>
          <p:cNvSpPr/>
          <p:nvPr/>
        </p:nvSpPr>
        <p:spPr>
          <a:xfrm>
            <a:off x="594360" y="1508760"/>
            <a:ext cx="2450592" cy="914400"/>
          </a:xfrm>
          <a:prstGeom prst="rect">
            <a:avLst/>
          </a:prstGeom>
          <a:noFill/>
          <a:ln/>
        </p:spPr>
        <p:txBody>
          <a:bodyPr wrap="square" lIns="0" tIns="0" rIns="0" bIns="0" rtlCol="0" anchor="t"/>
          <a:lstStyle/>
          <a:p>
            <a:pPr indent="0" marL="0">
              <a:buNone/>
            </a:pPr>
            <a:r>
              <a:rPr lang="en-US" sz="950" dirty="0">
                <a:solidFill>
                  <a:srgbClr val="1B2A3B"/>
                </a:solidFill>
                <a:latin typeface="Calibri" pitchFamily="34" charset="0"/>
                <a:ea typeface="Calibri" pitchFamily="34" charset="-122"/>
                <a:cs typeface="Calibri" pitchFamily="34" charset="-120"/>
              </a:rPr>
              <a:t>Supervisor process + CLI client</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clone() container launcher</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UNIX socket control plane</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Bounded-buffer log system</a:t>
            </a:r>
            <a:endParaRPr lang="en-US" sz="950" dirty="0"/>
          </a:p>
        </p:txBody>
      </p:sp>
      <p:sp>
        <p:nvSpPr>
          <p:cNvPr id="11" name="Shape 9"/>
          <p:cNvSpPr/>
          <p:nvPr/>
        </p:nvSpPr>
        <p:spPr>
          <a:xfrm>
            <a:off x="3291840" y="960120"/>
            <a:ext cx="2651760" cy="1600200"/>
          </a:xfrm>
          <a:prstGeom prst="rect">
            <a:avLst/>
          </a:prstGeom>
          <a:solidFill>
            <a:srgbClr val="FFFFFF"/>
          </a:solidFill>
          <a:ln w="12700">
            <a:solidFill>
              <a:srgbClr val="D6E3EE"/>
            </a:solidFill>
            <a:prstDash val="solid"/>
          </a:ln>
          <a:effectLst>
            <a:outerShdw sx="100000" sy="100000" kx="0" ky="0" algn="bl" rotWithShape="0" blurRad="50800" dist="25400" dir="8100000">
              <a:srgbClr val="000000">
                <a:alpha val="10000"/>
              </a:srgbClr>
            </a:outerShdw>
          </a:effectLst>
        </p:spPr>
      </p:sp>
      <p:sp>
        <p:nvSpPr>
          <p:cNvPr id="12" name="Shape 10"/>
          <p:cNvSpPr/>
          <p:nvPr/>
        </p:nvSpPr>
        <p:spPr>
          <a:xfrm>
            <a:off x="3291840" y="960120"/>
            <a:ext cx="64008" cy="1600200"/>
          </a:xfrm>
          <a:prstGeom prst="rect">
            <a:avLst/>
          </a:prstGeom>
          <a:solidFill>
            <a:srgbClr val="E63946"/>
          </a:solidFill>
          <a:ln w="12700">
            <a:solidFill>
              <a:srgbClr val="E63946"/>
            </a:solidFill>
            <a:prstDash val="solid"/>
          </a:ln>
        </p:spPr>
      </p:sp>
      <p:sp>
        <p:nvSpPr>
          <p:cNvPr id="13" name="Text 11"/>
          <p:cNvSpPr/>
          <p:nvPr/>
        </p:nvSpPr>
        <p:spPr>
          <a:xfrm>
            <a:off x="3429000" y="1033272"/>
            <a:ext cx="2450592" cy="256032"/>
          </a:xfrm>
          <a:prstGeom prst="rect">
            <a:avLst/>
          </a:prstGeom>
          <a:noFill/>
          <a:ln/>
        </p:spPr>
        <p:txBody>
          <a:bodyPr wrap="square" lIns="0" tIns="0" rIns="0" bIns="0" rtlCol="0" anchor="ctr"/>
          <a:lstStyle/>
          <a:p>
            <a:pPr indent="0" marL="0">
              <a:buNone/>
            </a:pPr>
            <a:r>
              <a:rPr lang="en-US" sz="1250" b="1" dirty="0">
                <a:solidFill>
                  <a:srgbClr val="E63946"/>
                </a:solidFill>
                <a:latin typeface="Consolas" pitchFamily="34" charset="0"/>
                <a:ea typeface="Consolas" pitchFamily="34" charset="-122"/>
                <a:cs typeface="Consolas" pitchFamily="34" charset="-120"/>
              </a:rPr>
              <a:t>monitor.c</a:t>
            </a:r>
            <a:endParaRPr lang="en-US" sz="1250" dirty="0"/>
          </a:p>
        </p:txBody>
      </p:sp>
      <p:sp>
        <p:nvSpPr>
          <p:cNvPr id="14" name="Text 12"/>
          <p:cNvSpPr/>
          <p:nvPr/>
        </p:nvSpPr>
        <p:spPr>
          <a:xfrm>
            <a:off x="3429000" y="1289304"/>
            <a:ext cx="2450592" cy="201168"/>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Linux Kernel Module (LKM)</a:t>
            </a:r>
            <a:endParaRPr lang="en-US" sz="900" dirty="0"/>
          </a:p>
        </p:txBody>
      </p:sp>
      <p:sp>
        <p:nvSpPr>
          <p:cNvPr id="15" name="Text 13"/>
          <p:cNvSpPr/>
          <p:nvPr/>
        </p:nvSpPr>
        <p:spPr>
          <a:xfrm>
            <a:off x="3429000" y="1508760"/>
            <a:ext cx="2450592" cy="914400"/>
          </a:xfrm>
          <a:prstGeom prst="rect">
            <a:avLst/>
          </a:prstGeom>
          <a:noFill/>
          <a:ln/>
        </p:spPr>
        <p:txBody>
          <a:bodyPr wrap="square" lIns="0" tIns="0" rIns="0" bIns="0" rtlCol="0" anchor="t"/>
          <a:lstStyle/>
          <a:p>
            <a:pPr indent="0" marL="0">
              <a:buNone/>
            </a:pPr>
            <a:r>
              <a:rPr lang="en-US" sz="950" dirty="0">
                <a:solidFill>
                  <a:srgbClr val="1B2A3B"/>
                </a:solidFill>
                <a:latin typeface="Calibri" pitchFamily="34" charset="0"/>
                <a:ea typeface="Calibri" pitchFamily="34" charset="-122"/>
                <a:cs typeface="Calibri" pitchFamily="34" charset="-120"/>
              </a:rPr>
              <a:t>Character device /dev/container_monitor</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Timer-based RSS polling (1 Hz)</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Soft-limit warning via printk</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Hard-limit enforcement via SIGKILL</a:t>
            </a:r>
            <a:endParaRPr lang="en-US" sz="950" dirty="0"/>
          </a:p>
        </p:txBody>
      </p:sp>
      <p:sp>
        <p:nvSpPr>
          <p:cNvPr id="16" name="Shape 14"/>
          <p:cNvSpPr/>
          <p:nvPr/>
        </p:nvSpPr>
        <p:spPr>
          <a:xfrm>
            <a:off x="6126480" y="960120"/>
            <a:ext cx="2651760" cy="1600200"/>
          </a:xfrm>
          <a:prstGeom prst="rect">
            <a:avLst/>
          </a:prstGeom>
          <a:solidFill>
            <a:srgbClr val="FFFFFF"/>
          </a:solidFill>
          <a:ln w="12700">
            <a:solidFill>
              <a:srgbClr val="D6E3EE"/>
            </a:solidFill>
            <a:prstDash val="solid"/>
          </a:ln>
          <a:effectLst>
            <a:outerShdw sx="100000" sy="100000" kx="0" ky="0" algn="bl" rotWithShape="0" blurRad="50800" dist="25400" dir="8100000">
              <a:srgbClr val="000000">
                <a:alpha val="10000"/>
              </a:srgbClr>
            </a:outerShdw>
          </a:effectLst>
        </p:spPr>
      </p:sp>
      <p:sp>
        <p:nvSpPr>
          <p:cNvPr id="17" name="Shape 15"/>
          <p:cNvSpPr/>
          <p:nvPr/>
        </p:nvSpPr>
        <p:spPr>
          <a:xfrm>
            <a:off x="6126480" y="960120"/>
            <a:ext cx="64008" cy="1600200"/>
          </a:xfrm>
          <a:prstGeom prst="rect">
            <a:avLst/>
          </a:prstGeom>
          <a:solidFill>
            <a:srgbClr val="F5A623"/>
          </a:solidFill>
          <a:ln w="12700">
            <a:solidFill>
              <a:srgbClr val="F5A623"/>
            </a:solidFill>
            <a:prstDash val="solid"/>
          </a:ln>
        </p:spPr>
      </p:sp>
      <p:sp>
        <p:nvSpPr>
          <p:cNvPr id="18" name="Text 16"/>
          <p:cNvSpPr/>
          <p:nvPr/>
        </p:nvSpPr>
        <p:spPr>
          <a:xfrm>
            <a:off x="6263640" y="1033272"/>
            <a:ext cx="2450592" cy="256032"/>
          </a:xfrm>
          <a:prstGeom prst="rect">
            <a:avLst/>
          </a:prstGeom>
          <a:noFill/>
          <a:ln/>
        </p:spPr>
        <p:txBody>
          <a:bodyPr wrap="square" lIns="0" tIns="0" rIns="0" bIns="0" rtlCol="0" anchor="ctr"/>
          <a:lstStyle/>
          <a:p>
            <a:pPr indent="0" marL="0">
              <a:buNone/>
            </a:pPr>
            <a:r>
              <a:rPr lang="en-US" sz="1250" b="1" dirty="0">
                <a:solidFill>
                  <a:srgbClr val="F5A623"/>
                </a:solidFill>
                <a:latin typeface="Consolas" pitchFamily="34" charset="0"/>
                <a:ea typeface="Consolas" pitchFamily="34" charset="-122"/>
                <a:cs typeface="Consolas" pitchFamily="34" charset="-120"/>
              </a:rPr>
              <a:t>monitor_ioctl.h</a:t>
            </a:r>
            <a:endParaRPr lang="en-US" sz="1250" dirty="0"/>
          </a:p>
        </p:txBody>
      </p:sp>
      <p:sp>
        <p:nvSpPr>
          <p:cNvPr id="19" name="Text 17"/>
          <p:cNvSpPr/>
          <p:nvPr/>
        </p:nvSpPr>
        <p:spPr>
          <a:xfrm>
            <a:off x="6263640" y="1289304"/>
            <a:ext cx="2450592" cy="201168"/>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Shared IPC Contract</a:t>
            </a:r>
            <a:endParaRPr lang="en-US" sz="900" dirty="0"/>
          </a:p>
        </p:txBody>
      </p:sp>
      <p:sp>
        <p:nvSpPr>
          <p:cNvPr id="20" name="Text 18"/>
          <p:cNvSpPr/>
          <p:nvPr/>
        </p:nvSpPr>
        <p:spPr>
          <a:xfrm>
            <a:off x="6263640" y="1508760"/>
            <a:ext cx="2450592" cy="914400"/>
          </a:xfrm>
          <a:prstGeom prst="rect">
            <a:avLst/>
          </a:prstGeom>
          <a:noFill/>
          <a:ln/>
        </p:spPr>
        <p:txBody>
          <a:bodyPr wrap="square" lIns="0" tIns="0" rIns="0" bIns="0" rtlCol="0" anchor="t"/>
          <a:lstStyle/>
          <a:p>
            <a:pPr indent="0" marL="0">
              <a:buNone/>
            </a:pPr>
            <a:r>
              <a:rPr lang="en-US" sz="950" dirty="0">
                <a:solidFill>
                  <a:srgbClr val="1B2A3B"/>
                </a:solidFill>
                <a:latin typeface="Calibri" pitchFamily="34" charset="0"/>
                <a:ea typeface="Calibri" pitchFamily="34" charset="-122"/>
                <a:cs typeface="Calibri" pitchFamily="34" charset="-120"/>
              </a:rPr>
              <a:t>struct monitor_request</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MONITOR_REGISTER ioctl</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MONITOR_UNREGISTER ioctl</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Shared between kernel and user</a:t>
            </a:r>
            <a:endParaRPr lang="en-US" sz="950" dirty="0"/>
          </a:p>
        </p:txBody>
      </p:sp>
      <p:sp>
        <p:nvSpPr>
          <p:cNvPr id="21" name="Shape 19"/>
          <p:cNvSpPr/>
          <p:nvPr/>
        </p:nvSpPr>
        <p:spPr>
          <a:xfrm>
            <a:off x="457200" y="2743200"/>
            <a:ext cx="2651760" cy="1600200"/>
          </a:xfrm>
          <a:prstGeom prst="rect">
            <a:avLst/>
          </a:prstGeom>
          <a:solidFill>
            <a:srgbClr val="FFFFFF"/>
          </a:solidFill>
          <a:ln w="12700">
            <a:solidFill>
              <a:srgbClr val="D6E3EE"/>
            </a:solidFill>
            <a:prstDash val="solid"/>
          </a:ln>
          <a:effectLst>
            <a:outerShdw sx="100000" sy="100000" kx="0" ky="0" algn="bl" rotWithShape="0" blurRad="50800" dist="25400" dir="8100000">
              <a:srgbClr val="000000">
                <a:alpha val="10000"/>
              </a:srgbClr>
            </a:outerShdw>
          </a:effectLst>
        </p:spPr>
      </p:sp>
      <p:sp>
        <p:nvSpPr>
          <p:cNvPr id="22" name="Shape 20"/>
          <p:cNvSpPr/>
          <p:nvPr/>
        </p:nvSpPr>
        <p:spPr>
          <a:xfrm>
            <a:off x="457200" y="2743200"/>
            <a:ext cx="64008" cy="1600200"/>
          </a:xfrm>
          <a:prstGeom prst="rect">
            <a:avLst/>
          </a:prstGeom>
          <a:solidFill>
            <a:srgbClr val="007A5E"/>
          </a:solidFill>
          <a:ln w="12700">
            <a:solidFill>
              <a:srgbClr val="007A5E"/>
            </a:solidFill>
            <a:prstDash val="solid"/>
          </a:ln>
        </p:spPr>
      </p:sp>
      <p:sp>
        <p:nvSpPr>
          <p:cNvPr id="23" name="Text 21"/>
          <p:cNvSpPr/>
          <p:nvPr/>
        </p:nvSpPr>
        <p:spPr>
          <a:xfrm>
            <a:off x="594360" y="2816352"/>
            <a:ext cx="2450592" cy="256032"/>
          </a:xfrm>
          <a:prstGeom prst="rect">
            <a:avLst/>
          </a:prstGeom>
          <a:noFill/>
          <a:ln/>
        </p:spPr>
        <p:txBody>
          <a:bodyPr wrap="square" lIns="0" tIns="0" rIns="0" bIns="0" rtlCol="0" anchor="ctr"/>
          <a:lstStyle/>
          <a:p>
            <a:pPr indent="0" marL="0">
              <a:buNone/>
            </a:pPr>
            <a:r>
              <a:rPr lang="en-US" sz="1250" b="1" dirty="0">
                <a:solidFill>
                  <a:srgbClr val="007A5E"/>
                </a:solidFill>
                <a:latin typeface="Consolas" pitchFamily="34" charset="0"/>
                <a:ea typeface="Consolas" pitchFamily="34" charset="-122"/>
                <a:cs typeface="Consolas" pitchFamily="34" charset="-120"/>
              </a:rPr>
              <a:t>cpu_hog.c</a:t>
            </a:r>
            <a:endParaRPr lang="en-US" sz="1250" dirty="0"/>
          </a:p>
        </p:txBody>
      </p:sp>
      <p:sp>
        <p:nvSpPr>
          <p:cNvPr id="24" name="Text 22"/>
          <p:cNvSpPr/>
          <p:nvPr/>
        </p:nvSpPr>
        <p:spPr>
          <a:xfrm>
            <a:off x="594360" y="3072384"/>
            <a:ext cx="2450592" cy="201168"/>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CPU Workload Generator</a:t>
            </a:r>
            <a:endParaRPr lang="en-US" sz="900" dirty="0"/>
          </a:p>
        </p:txBody>
      </p:sp>
      <p:sp>
        <p:nvSpPr>
          <p:cNvPr id="25" name="Text 23"/>
          <p:cNvSpPr/>
          <p:nvPr/>
        </p:nvSpPr>
        <p:spPr>
          <a:xfrm>
            <a:off x="594360" y="3291840"/>
            <a:ext cx="2450592" cy="914400"/>
          </a:xfrm>
          <a:prstGeom prst="rect">
            <a:avLst/>
          </a:prstGeom>
          <a:noFill/>
          <a:ln/>
        </p:spPr>
        <p:txBody>
          <a:bodyPr wrap="square" lIns="0" tIns="0" rIns="0" bIns="0" rtlCol="0" anchor="t"/>
          <a:lstStyle/>
          <a:p>
            <a:pPr indent="0" marL="0">
              <a:buNone/>
            </a:pPr>
            <a:r>
              <a:rPr lang="en-US" sz="950" dirty="0">
                <a:solidFill>
                  <a:srgbClr val="1B2A3B"/>
                </a:solidFill>
                <a:latin typeface="Calibri" pitchFamily="34" charset="0"/>
                <a:ea typeface="Calibri" pitchFamily="34" charset="-122"/>
                <a:cs typeface="Calibri" pitchFamily="34" charset="-120"/>
              </a:rPr>
              <a:t>Tight computation loop</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Tunable duration in seconds</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Prints elapsed / accumulator</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Tests CFS nice scheduling</a:t>
            </a:r>
            <a:endParaRPr lang="en-US" sz="950" dirty="0"/>
          </a:p>
        </p:txBody>
      </p:sp>
      <p:sp>
        <p:nvSpPr>
          <p:cNvPr id="26" name="Shape 24"/>
          <p:cNvSpPr/>
          <p:nvPr/>
        </p:nvSpPr>
        <p:spPr>
          <a:xfrm>
            <a:off x="3291840" y="2743200"/>
            <a:ext cx="2651760" cy="1600200"/>
          </a:xfrm>
          <a:prstGeom prst="rect">
            <a:avLst/>
          </a:prstGeom>
          <a:solidFill>
            <a:srgbClr val="FFFFFF"/>
          </a:solidFill>
          <a:ln w="12700">
            <a:solidFill>
              <a:srgbClr val="D6E3EE"/>
            </a:solidFill>
            <a:prstDash val="solid"/>
          </a:ln>
          <a:effectLst>
            <a:outerShdw sx="100000" sy="100000" kx="0" ky="0" algn="bl" rotWithShape="0" blurRad="50800" dist="25400" dir="8100000">
              <a:srgbClr val="000000">
                <a:alpha val="10000"/>
              </a:srgbClr>
            </a:outerShdw>
          </a:effectLst>
        </p:spPr>
      </p:sp>
      <p:sp>
        <p:nvSpPr>
          <p:cNvPr id="27" name="Shape 25"/>
          <p:cNvSpPr/>
          <p:nvPr/>
        </p:nvSpPr>
        <p:spPr>
          <a:xfrm>
            <a:off x="3291840" y="2743200"/>
            <a:ext cx="64008" cy="1600200"/>
          </a:xfrm>
          <a:prstGeom prst="rect">
            <a:avLst/>
          </a:prstGeom>
          <a:solidFill>
            <a:srgbClr val="00D9A5"/>
          </a:solidFill>
          <a:ln w="12700">
            <a:solidFill>
              <a:srgbClr val="00D9A5"/>
            </a:solidFill>
            <a:prstDash val="solid"/>
          </a:ln>
        </p:spPr>
      </p:sp>
      <p:sp>
        <p:nvSpPr>
          <p:cNvPr id="28" name="Text 26"/>
          <p:cNvSpPr/>
          <p:nvPr/>
        </p:nvSpPr>
        <p:spPr>
          <a:xfrm>
            <a:off x="3429000" y="2816352"/>
            <a:ext cx="2450592" cy="256032"/>
          </a:xfrm>
          <a:prstGeom prst="rect">
            <a:avLst/>
          </a:prstGeom>
          <a:noFill/>
          <a:ln/>
        </p:spPr>
        <p:txBody>
          <a:bodyPr wrap="square" lIns="0" tIns="0" rIns="0" bIns="0" rtlCol="0" anchor="ctr"/>
          <a:lstStyle/>
          <a:p>
            <a:pPr indent="0" marL="0">
              <a:buNone/>
            </a:pPr>
            <a:r>
              <a:rPr lang="en-US" sz="1250" b="1" dirty="0">
                <a:solidFill>
                  <a:srgbClr val="00D9A5"/>
                </a:solidFill>
                <a:latin typeface="Consolas" pitchFamily="34" charset="0"/>
                <a:ea typeface="Consolas" pitchFamily="34" charset="-122"/>
                <a:cs typeface="Consolas" pitchFamily="34" charset="-120"/>
              </a:rPr>
              <a:t>memory_hog.c</a:t>
            </a:r>
            <a:endParaRPr lang="en-US" sz="1250" dirty="0"/>
          </a:p>
        </p:txBody>
      </p:sp>
      <p:sp>
        <p:nvSpPr>
          <p:cNvPr id="29" name="Text 27"/>
          <p:cNvSpPr/>
          <p:nvPr/>
        </p:nvSpPr>
        <p:spPr>
          <a:xfrm>
            <a:off x="3429000" y="3072384"/>
            <a:ext cx="2450592" cy="201168"/>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Memory Workload Generator</a:t>
            </a:r>
            <a:endParaRPr lang="en-US" sz="900" dirty="0"/>
          </a:p>
        </p:txBody>
      </p:sp>
      <p:sp>
        <p:nvSpPr>
          <p:cNvPr id="30" name="Text 28"/>
          <p:cNvSpPr/>
          <p:nvPr/>
        </p:nvSpPr>
        <p:spPr>
          <a:xfrm>
            <a:off x="3429000" y="3291840"/>
            <a:ext cx="2450592" cy="914400"/>
          </a:xfrm>
          <a:prstGeom prst="rect">
            <a:avLst/>
          </a:prstGeom>
          <a:noFill/>
          <a:ln/>
        </p:spPr>
        <p:txBody>
          <a:bodyPr wrap="square" lIns="0" tIns="0" rIns="0" bIns="0" rtlCol="0" anchor="t"/>
          <a:lstStyle/>
          <a:p>
            <a:pPr indent="0" marL="0">
              <a:buNone/>
            </a:pPr>
            <a:r>
              <a:rPr lang="en-US" sz="950" dirty="0">
                <a:solidFill>
                  <a:srgbClr val="1B2A3B"/>
                </a:solidFill>
                <a:latin typeface="Calibri" pitchFamily="34" charset="0"/>
                <a:ea typeface="Calibri" pitchFamily="34" charset="-122"/>
                <a:cs typeface="Calibri" pitchFamily="34" charset="-120"/>
              </a:rPr>
              <a:t>Allocates N MiB per sleep cycle</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touches each page (memset)</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Grows RSS until killed or OOM</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Tests soft/hard limit enforcement</a:t>
            </a:r>
            <a:endParaRPr lang="en-US" sz="950" dirty="0"/>
          </a:p>
        </p:txBody>
      </p:sp>
      <p:sp>
        <p:nvSpPr>
          <p:cNvPr id="31" name="Shape 29"/>
          <p:cNvSpPr/>
          <p:nvPr/>
        </p:nvSpPr>
        <p:spPr>
          <a:xfrm>
            <a:off x="6126480" y="2743200"/>
            <a:ext cx="2651760" cy="1600200"/>
          </a:xfrm>
          <a:prstGeom prst="rect">
            <a:avLst/>
          </a:prstGeom>
          <a:solidFill>
            <a:srgbClr val="FFFFFF"/>
          </a:solidFill>
          <a:ln w="12700">
            <a:solidFill>
              <a:srgbClr val="D6E3EE"/>
            </a:solidFill>
            <a:prstDash val="solid"/>
          </a:ln>
          <a:effectLst>
            <a:outerShdw sx="100000" sy="100000" kx="0" ky="0" algn="bl" rotWithShape="0" blurRad="50800" dist="25400" dir="8100000">
              <a:srgbClr val="000000">
                <a:alpha val="10000"/>
              </a:srgbClr>
            </a:outerShdw>
          </a:effectLst>
        </p:spPr>
      </p:sp>
      <p:sp>
        <p:nvSpPr>
          <p:cNvPr id="32" name="Shape 30"/>
          <p:cNvSpPr/>
          <p:nvPr/>
        </p:nvSpPr>
        <p:spPr>
          <a:xfrm>
            <a:off x="6126480" y="2743200"/>
            <a:ext cx="64008" cy="1600200"/>
          </a:xfrm>
          <a:prstGeom prst="rect">
            <a:avLst/>
          </a:prstGeom>
          <a:solidFill>
            <a:srgbClr val="0E9AA7"/>
          </a:solidFill>
          <a:ln w="12700">
            <a:solidFill>
              <a:srgbClr val="0E9AA7"/>
            </a:solidFill>
            <a:prstDash val="solid"/>
          </a:ln>
        </p:spPr>
      </p:sp>
      <p:sp>
        <p:nvSpPr>
          <p:cNvPr id="33" name="Text 31"/>
          <p:cNvSpPr/>
          <p:nvPr/>
        </p:nvSpPr>
        <p:spPr>
          <a:xfrm>
            <a:off x="6263640" y="2816352"/>
            <a:ext cx="2450592" cy="256032"/>
          </a:xfrm>
          <a:prstGeom prst="rect">
            <a:avLst/>
          </a:prstGeom>
          <a:noFill/>
          <a:ln/>
        </p:spPr>
        <p:txBody>
          <a:bodyPr wrap="square" lIns="0" tIns="0" rIns="0" bIns="0" rtlCol="0" anchor="ctr"/>
          <a:lstStyle/>
          <a:p>
            <a:pPr indent="0" marL="0">
              <a:buNone/>
            </a:pPr>
            <a:r>
              <a:rPr lang="en-US" sz="1250" b="1" dirty="0">
                <a:solidFill>
                  <a:srgbClr val="0E9AA7"/>
                </a:solidFill>
                <a:latin typeface="Consolas" pitchFamily="34" charset="0"/>
                <a:ea typeface="Consolas" pitchFamily="34" charset="-122"/>
                <a:cs typeface="Consolas" pitchFamily="34" charset="-120"/>
              </a:rPr>
              <a:t>io_pulse.c</a:t>
            </a:r>
            <a:endParaRPr lang="en-US" sz="1250" dirty="0"/>
          </a:p>
        </p:txBody>
      </p:sp>
      <p:sp>
        <p:nvSpPr>
          <p:cNvPr id="34" name="Text 32"/>
          <p:cNvSpPr/>
          <p:nvPr/>
        </p:nvSpPr>
        <p:spPr>
          <a:xfrm>
            <a:off x="6263640" y="3072384"/>
            <a:ext cx="2450592" cy="201168"/>
          </a:xfrm>
          <a:prstGeom prst="rect">
            <a:avLst/>
          </a:prstGeom>
          <a:noFill/>
          <a:ln/>
        </p:spPr>
        <p:txBody>
          <a:bodyPr wrap="square" lIns="0" tIns="0" rIns="0" bIns="0" rtlCol="0" anchor="ctr"/>
          <a:lstStyle/>
          <a:p>
            <a:pPr indent="0" marL="0">
              <a:buNone/>
            </a:pPr>
            <a:r>
              <a:rPr lang="en-US" sz="900" i="1" dirty="0">
                <a:solidFill>
                  <a:srgbClr val="8FA3B1"/>
                </a:solidFill>
                <a:latin typeface="Calibri" pitchFamily="34" charset="0"/>
                <a:ea typeface="Calibri" pitchFamily="34" charset="-122"/>
                <a:cs typeface="Calibri" pitchFamily="34" charset="-120"/>
              </a:rPr>
              <a:t>I/O Workload Generator</a:t>
            </a:r>
            <a:endParaRPr lang="en-US" sz="900" dirty="0"/>
          </a:p>
        </p:txBody>
      </p:sp>
      <p:sp>
        <p:nvSpPr>
          <p:cNvPr id="35" name="Text 33"/>
          <p:cNvSpPr/>
          <p:nvPr/>
        </p:nvSpPr>
        <p:spPr>
          <a:xfrm>
            <a:off x="6263640" y="3291840"/>
            <a:ext cx="2450592" cy="914400"/>
          </a:xfrm>
          <a:prstGeom prst="rect">
            <a:avLst/>
          </a:prstGeom>
          <a:noFill/>
          <a:ln/>
        </p:spPr>
        <p:txBody>
          <a:bodyPr wrap="square" lIns="0" tIns="0" rIns="0" bIns="0" rtlCol="0" anchor="t"/>
          <a:lstStyle/>
          <a:p>
            <a:pPr indent="0" marL="0">
              <a:buNone/>
            </a:pPr>
            <a:r>
              <a:rPr lang="en-US" sz="950" dirty="0">
                <a:solidFill>
                  <a:srgbClr val="1B2A3B"/>
                </a:solidFill>
                <a:latin typeface="Calibri" pitchFamily="34" charset="0"/>
                <a:ea typeface="Calibri" pitchFamily="34" charset="-122"/>
                <a:cs typeface="Calibri" pitchFamily="34" charset="-120"/>
              </a:rPr>
              <a:t>Write + fsync per iteration</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Sleeps between writes</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Tunes I/O bandwidth</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Compares with CPU workloads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800" b="1" dirty="0">
                <a:solidFill>
                  <a:srgbClr val="1B2A3B"/>
                </a:solidFill>
                <a:latin typeface="Calibri" pitchFamily="34" charset="0"/>
                <a:ea typeface="Calibri" pitchFamily="34" charset="-122"/>
                <a:cs typeface="Calibri" pitchFamily="34" charset="-120"/>
              </a:rPr>
              <a:t>User-Space Runtime: engine.c</a:t>
            </a:r>
            <a:endParaRPr lang="en-US" sz="2800" dirty="0"/>
          </a:p>
        </p:txBody>
      </p:sp>
      <p:sp>
        <p:nvSpPr>
          <p:cNvPr id="3" name="Shape 1"/>
          <p:cNvSpPr/>
          <p:nvPr/>
        </p:nvSpPr>
        <p:spPr>
          <a:xfrm>
            <a:off x="457200" y="841248"/>
            <a:ext cx="1097280" cy="201168"/>
          </a:xfrm>
          <a:prstGeom prst="rect">
            <a:avLst/>
          </a:prstGeom>
          <a:solidFill>
            <a:srgbClr val="00D9A5"/>
          </a:solidFill>
          <a:ln w="12700">
            <a:solidFill>
              <a:srgbClr val="00D9A5"/>
            </a:solidFill>
            <a:prstDash val="solid"/>
          </a:ln>
        </p:spPr>
      </p:sp>
      <p:sp>
        <p:nvSpPr>
          <p:cNvPr id="4" name="Text 2"/>
          <p:cNvSpPr/>
          <p:nvPr/>
        </p:nvSpPr>
        <p:spPr>
          <a:xfrm>
            <a:off x="457200" y="841248"/>
            <a:ext cx="1097280" cy="201168"/>
          </a:xfrm>
          <a:prstGeom prst="rect">
            <a:avLst/>
          </a:prstGeom>
          <a:noFill/>
          <a:ln/>
        </p:spPr>
        <p:txBody>
          <a:bodyPr wrap="square" lIns="0" tIns="0" rIns="0" bIns="0" rtlCol="0" anchor="ctr"/>
          <a:lstStyle/>
          <a:p>
            <a:pPr algn="ctr" indent="0" marL="0">
              <a:buNone/>
            </a:pPr>
            <a:r>
              <a:rPr lang="en-US" sz="800" b="1" dirty="0">
                <a:solidFill>
                  <a:srgbClr val="0D1B2A"/>
                </a:solidFill>
                <a:latin typeface="Calibri" pitchFamily="34" charset="0"/>
                <a:ea typeface="Calibri" pitchFamily="34" charset="-122"/>
                <a:cs typeface="Calibri" pitchFamily="34" charset="-120"/>
              </a:rPr>
              <a:t>ENGINE</a:t>
            </a:r>
            <a:endParaRPr lang="en-US" sz="800" dirty="0"/>
          </a:p>
        </p:txBody>
      </p:sp>
      <p:sp>
        <p:nvSpPr>
          <p:cNvPr id="5" name="Shape 3"/>
          <p:cNvSpPr/>
          <p:nvPr/>
        </p:nvSpPr>
        <p:spPr>
          <a:xfrm>
            <a:off x="457200" y="777240"/>
            <a:ext cx="8229600" cy="22860"/>
          </a:xfrm>
          <a:prstGeom prst="rect">
            <a:avLst/>
          </a:prstGeom>
          <a:solidFill>
            <a:srgbClr val="0E9AA7"/>
          </a:solidFill>
          <a:ln w="12700">
            <a:solidFill>
              <a:srgbClr val="0E9AA7"/>
            </a:solidFill>
            <a:prstDash val="solid"/>
          </a:ln>
        </p:spPr>
      </p:sp>
      <p:sp>
        <p:nvSpPr>
          <p:cNvPr id="6" name="Text 4"/>
          <p:cNvSpPr/>
          <p:nvPr/>
        </p:nvSpPr>
        <p:spPr>
          <a:xfrm>
            <a:off x="457200" y="960120"/>
            <a:ext cx="3931920" cy="256032"/>
          </a:xfrm>
          <a:prstGeom prst="rect">
            <a:avLst/>
          </a:prstGeom>
          <a:noFill/>
          <a:ln/>
        </p:spPr>
        <p:txBody>
          <a:bodyPr wrap="square" lIns="0" tIns="0" rIns="0" bIns="0" rtlCol="0" anchor="ctr"/>
          <a:lstStyle/>
          <a:p>
            <a:pPr indent="0" marL="0">
              <a:buNone/>
            </a:pPr>
            <a:r>
              <a:rPr lang="en-US" sz="1300" b="1" dirty="0">
                <a:solidFill>
                  <a:srgbClr val="0E9AA7"/>
                </a:solidFill>
                <a:latin typeface="Calibri" pitchFamily="34" charset="0"/>
                <a:ea typeface="Calibri" pitchFamily="34" charset="-122"/>
                <a:cs typeface="Calibri" pitchFamily="34" charset="-120"/>
              </a:rPr>
              <a:t>Key Data Structures</a:t>
            </a:r>
            <a:endParaRPr lang="en-US" sz="1300" dirty="0"/>
          </a:p>
        </p:txBody>
      </p:sp>
      <p:sp>
        <p:nvSpPr>
          <p:cNvPr id="7" name="Text 5"/>
          <p:cNvSpPr/>
          <p:nvPr/>
        </p:nvSpPr>
        <p:spPr>
          <a:xfrm>
            <a:off x="457200" y="1261872"/>
            <a:ext cx="3931920" cy="3657600"/>
          </a:xfrm>
          <a:prstGeom prst="rect">
            <a:avLst/>
          </a:prstGeom>
          <a:noFill/>
          <a:ln/>
        </p:spPr>
        <p:txBody>
          <a:bodyPr wrap="square" lIns="50800" tIns="50800" rIns="50800" bIns="50800" rtlCol="0" anchor="t"/>
          <a:lstStyle/>
          <a:p>
            <a:pPr marL="342900" indent="-342900">
              <a:buSzPct val="100000"/>
              <a:buChar char="•"/>
            </a:pPr>
            <a:r>
              <a:rPr lang="en-US" sz="1150" b="1" dirty="0">
                <a:solidFill>
                  <a:srgbClr val="0E9AA7"/>
                </a:solidFill>
                <a:latin typeface="Calibri" pitchFamily="34" charset="0"/>
                <a:ea typeface="Calibri" pitchFamily="34" charset="-122"/>
                <a:cs typeface="Calibri" pitchFamily="34" charset="-120"/>
              </a:rPr>
              <a:t>container_record_t</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id, host_pid, state, soft/hard limits, log_path, exit_code</a:t>
            </a:r>
            <a:endParaRPr lang="en-US" sz="1150" dirty="0"/>
          </a:p>
          <a:p>
            <a:pPr marL="342900" indent="-342900">
              <a:buSzPct val="100000"/>
              <a:buChar char="•"/>
            </a:pPr>
            <a:r>
              <a:rPr lang="en-US" sz="1150" b="1" dirty="0">
                <a:solidFill>
                  <a:srgbClr val="0E9AA7"/>
                </a:solidFill>
                <a:latin typeface="Calibri" pitchFamily="34" charset="0"/>
                <a:ea typeface="Calibri" pitchFamily="34" charset="-122"/>
                <a:cs typeface="Calibri" pitchFamily="34" charset="-120"/>
              </a:rPr>
              <a:t>bounded_buffer_t</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16-slot circular buffer, mutex, not_empty / not_full CVs</a:t>
            </a:r>
            <a:endParaRPr lang="en-US" sz="1150" dirty="0"/>
          </a:p>
          <a:p>
            <a:pPr marL="342900" indent="-342900">
              <a:buSzPct val="100000"/>
              <a:buChar char="•"/>
            </a:pPr>
            <a:r>
              <a:rPr lang="en-US" sz="1150" b="1" dirty="0">
                <a:solidFill>
                  <a:srgbClr val="0E9AA7"/>
                </a:solidFill>
                <a:latin typeface="Calibri" pitchFamily="34" charset="0"/>
                <a:ea typeface="Calibri" pitchFamily="34" charset="-122"/>
                <a:cs typeface="Calibri" pitchFamily="34" charset="-120"/>
              </a:rPr>
              <a:t>supervisor_ctx_t</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server_fd, monitor_fd, logger_thread, metadata_lock, containers list</a:t>
            </a:r>
            <a:endParaRPr lang="en-US" sz="1150" dirty="0"/>
          </a:p>
          <a:p>
            <a:pPr marL="342900" indent="-342900">
              <a:buSzPct val="100000"/>
              <a:buChar char="•"/>
            </a:pPr>
            <a:r>
              <a:rPr lang="en-US" sz="1150" b="1" dirty="0">
                <a:solidFill>
                  <a:srgbClr val="0E9AA7"/>
                </a:solidFill>
                <a:latin typeface="Calibri" pitchFamily="34" charset="0"/>
                <a:ea typeface="Calibri" pitchFamily="34" charset="-122"/>
                <a:cs typeface="Calibri" pitchFamily="34" charset="-120"/>
              </a:rPr>
              <a:t>control_request_t / control_response_t</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Carries command kind, container ID, rootfs, command, limits, nice value</a:t>
            </a:r>
            <a:endParaRPr lang="en-US" sz="1150" dirty="0"/>
          </a:p>
          <a:p>
            <a:pPr marL="342900" indent="-342900">
              <a:buSzPct val="100000"/>
              <a:buChar char="•"/>
            </a:pPr>
            <a:r>
              <a:rPr lang="en-US" sz="1150" b="1" dirty="0">
                <a:solidFill>
                  <a:srgbClr val="0E9AA7"/>
                </a:solidFill>
                <a:latin typeface="Calibri" pitchFamily="34" charset="0"/>
                <a:ea typeface="Calibri" pitchFamily="34" charset="-122"/>
                <a:cs typeface="Calibri" pitchFamily="34" charset="-120"/>
              </a:rPr>
              <a:t>child_config_t</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Passed via clone() stack: id, rootfs, command, nice, log_write_fd</a:t>
            </a:r>
            <a:endParaRPr lang="en-US" sz="1150" dirty="0"/>
          </a:p>
        </p:txBody>
      </p:sp>
      <p:sp>
        <p:nvSpPr>
          <p:cNvPr id="8" name="Text 6"/>
          <p:cNvSpPr/>
          <p:nvPr/>
        </p:nvSpPr>
        <p:spPr>
          <a:xfrm>
            <a:off x="4663440" y="960120"/>
            <a:ext cx="4023360" cy="256032"/>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CLI Commands</a:t>
            </a:r>
            <a:endParaRPr lang="en-US" sz="1300" dirty="0"/>
          </a:p>
        </p:txBody>
      </p:sp>
      <p:sp>
        <p:nvSpPr>
          <p:cNvPr id="9" name="Shape 7"/>
          <p:cNvSpPr/>
          <p:nvPr/>
        </p:nvSpPr>
        <p:spPr>
          <a:xfrm>
            <a:off x="4663440" y="1261872"/>
            <a:ext cx="4023360" cy="3611880"/>
          </a:xfrm>
          <a:prstGeom prst="rect">
            <a:avLst/>
          </a:prstGeom>
          <a:solidFill>
            <a:srgbClr val="1E2D3D"/>
          </a:solidFill>
          <a:ln w="12700">
            <a:solidFill>
              <a:srgbClr val="2E4057"/>
            </a:solidFill>
            <a:prstDash val="solid"/>
          </a:ln>
        </p:spPr>
      </p:sp>
      <p:sp>
        <p:nvSpPr>
          <p:cNvPr id="10" name="Text 8"/>
          <p:cNvSpPr/>
          <p:nvPr/>
        </p:nvSpPr>
        <p:spPr>
          <a:xfrm>
            <a:off x="4773168" y="1353312"/>
            <a:ext cx="3803904" cy="3429000"/>
          </a:xfrm>
          <a:prstGeom prst="rect">
            <a:avLst/>
          </a:prstGeom>
          <a:noFill/>
          <a:ln/>
        </p:spPr>
        <p:txBody>
          <a:bodyPr wrap="square" lIns="0" tIns="0" rIns="0" bIns="0" rtlCol="0" anchor="t"/>
          <a:lstStyle/>
          <a:p>
            <a:pPr indent="0" marL="0">
              <a:buNone/>
            </a:pPr>
            <a:r>
              <a:rPr lang="en-US" sz="950" dirty="0">
                <a:solidFill>
                  <a:srgbClr val="00D9A5"/>
                </a:solidFill>
                <a:latin typeface="Consolas" pitchFamily="34" charset="0"/>
                <a:ea typeface="Consolas" pitchFamily="34" charset="-122"/>
                <a:cs typeface="Consolas" pitchFamily="34" charset="-120"/>
              </a:rPr>
              <a:t>engine supervisor &lt;base-rootfs&gt;</a:t>
            </a:r>
            <a:endParaRPr lang="en-US" sz="950" dirty="0"/>
          </a:p>
          <a:p>
            <a:pPr indent="0" marL="0">
              <a:buNone/>
            </a:pP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engine start &lt;id&gt; &lt;rootfs&gt; &lt;cmd&gt;</a:t>
            </a: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      [--soft-mib N] [--hard-mib N]</a:t>
            </a: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      [--nice N]</a:t>
            </a:r>
            <a:endParaRPr lang="en-US" sz="950" dirty="0"/>
          </a:p>
          <a:p>
            <a:pPr indent="0" marL="0">
              <a:buNone/>
            </a:pP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engine run &lt;id&gt; &lt;rootfs&gt; &lt;cmd&gt;</a:t>
            </a: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      (blocks until container exits)</a:t>
            </a:r>
            <a:endParaRPr lang="en-US" sz="950" dirty="0"/>
          </a:p>
          <a:p>
            <a:pPr indent="0" marL="0">
              <a:buNone/>
            </a:pP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engine ps</a:t>
            </a: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engine logs &lt;id&gt;</a:t>
            </a: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engine stop &lt;id&gt;</a:t>
            </a:r>
            <a:endParaRPr lang="en-US" sz="950" dirty="0"/>
          </a:p>
        </p:txBody>
      </p:sp>
      <p:sp>
        <p:nvSpPr>
          <p:cNvPr id="11" name="Text 9"/>
          <p:cNvSpPr/>
          <p:nvPr/>
        </p:nvSpPr>
        <p:spPr>
          <a:xfrm>
            <a:off x="457200" y="4663440"/>
            <a:ext cx="2286000" cy="256032"/>
          </a:xfrm>
          <a:prstGeom prst="rect">
            <a:avLst/>
          </a:prstGeom>
          <a:noFill/>
          <a:ln/>
        </p:spPr>
        <p:txBody>
          <a:bodyPr wrap="square" lIns="0" tIns="0" rIns="0" bIns="0" rtlCol="0" anchor="ctr"/>
          <a:lstStyle/>
          <a:p>
            <a:pPr indent="0" marL="0">
              <a:buNone/>
            </a:pPr>
            <a:r>
              <a:rPr lang="en-US" sz="1000" b="1" dirty="0">
                <a:solidFill>
                  <a:srgbClr val="1B2A3B"/>
                </a:solidFill>
                <a:latin typeface="Calibri" pitchFamily="34" charset="0"/>
                <a:ea typeface="Calibri" pitchFamily="34" charset="-122"/>
                <a:cs typeface="Calibri" pitchFamily="34" charset="-120"/>
              </a:rPr>
              <a:t>Container State Machine:</a:t>
            </a:r>
            <a:endParaRPr lang="en-US" sz="1000" dirty="0"/>
          </a:p>
        </p:txBody>
      </p:sp>
      <p:sp>
        <p:nvSpPr>
          <p:cNvPr id="12" name="Shape 10"/>
          <p:cNvSpPr/>
          <p:nvPr/>
        </p:nvSpPr>
        <p:spPr>
          <a:xfrm>
            <a:off x="2743200" y="4663440"/>
            <a:ext cx="1188720" cy="256032"/>
          </a:xfrm>
          <a:prstGeom prst="rect">
            <a:avLst/>
          </a:prstGeom>
          <a:solidFill>
            <a:srgbClr val="F5A623"/>
          </a:solidFill>
          <a:ln w="12700">
            <a:solidFill>
              <a:srgbClr val="F5A623"/>
            </a:solidFill>
            <a:prstDash val="solid"/>
          </a:ln>
        </p:spPr>
      </p:sp>
      <p:sp>
        <p:nvSpPr>
          <p:cNvPr id="13" name="Text 11"/>
          <p:cNvSpPr/>
          <p:nvPr/>
        </p:nvSpPr>
        <p:spPr>
          <a:xfrm>
            <a:off x="2743200" y="4663440"/>
            <a:ext cx="11887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STARTING</a:t>
            </a:r>
            <a:endParaRPr lang="en-US" sz="800" dirty="0"/>
          </a:p>
        </p:txBody>
      </p:sp>
      <p:sp>
        <p:nvSpPr>
          <p:cNvPr id="14" name="Shape 12"/>
          <p:cNvSpPr/>
          <p:nvPr/>
        </p:nvSpPr>
        <p:spPr>
          <a:xfrm>
            <a:off x="3931920" y="4754880"/>
            <a:ext cx="91440" cy="73152"/>
          </a:xfrm>
          <a:prstGeom prst="rect">
            <a:avLst/>
          </a:prstGeom>
          <a:solidFill>
            <a:srgbClr val="8FA3B1"/>
          </a:solidFill>
          <a:ln w="12700">
            <a:solidFill>
              <a:srgbClr val="8FA3B1"/>
            </a:solidFill>
            <a:prstDash val="solid"/>
          </a:ln>
        </p:spPr>
      </p:sp>
      <p:sp>
        <p:nvSpPr>
          <p:cNvPr id="15" name="Shape 13"/>
          <p:cNvSpPr/>
          <p:nvPr/>
        </p:nvSpPr>
        <p:spPr>
          <a:xfrm>
            <a:off x="4023360" y="4663440"/>
            <a:ext cx="1188720" cy="256032"/>
          </a:xfrm>
          <a:prstGeom prst="rect">
            <a:avLst/>
          </a:prstGeom>
          <a:solidFill>
            <a:srgbClr val="007A5E"/>
          </a:solidFill>
          <a:ln w="12700">
            <a:solidFill>
              <a:srgbClr val="007A5E"/>
            </a:solidFill>
            <a:prstDash val="solid"/>
          </a:ln>
        </p:spPr>
      </p:sp>
      <p:sp>
        <p:nvSpPr>
          <p:cNvPr id="16" name="Text 14"/>
          <p:cNvSpPr/>
          <p:nvPr/>
        </p:nvSpPr>
        <p:spPr>
          <a:xfrm>
            <a:off x="4023360" y="4663440"/>
            <a:ext cx="11887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RUNNING</a:t>
            </a:r>
            <a:endParaRPr lang="en-US" sz="800" dirty="0"/>
          </a:p>
        </p:txBody>
      </p:sp>
      <p:sp>
        <p:nvSpPr>
          <p:cNvPr id="17" name="Shape 15"/>
          <p:cNvSpPr/>
          <p:nvPr/>
        </p:nvSpPr>
        <p:spPr>
          <a:xfrm>
            <a:off x="5212080" y="4754880"/>
            <a:ext cx="91440" cy="73152"/>
          </a:xfrm>
          <a:prstGeom prst="rect">
            <a:avLst/>
          </a:prstGeom>
          <a:solidFill>
            <a:srgbClr val="8FA3B1"/>
          </a:solidFill>
          <a:ln w="12700">
            <a:solidFill>
              <a:srgbClr val="8FA3B1"/>
            </a:solidFill>
            <a:prstDash val="solid"/>
          </a:ln>
        </p:spPr>
      </p:sp>
      <p:sp>
        <p:nvSpPr>
          <p:cNvPr id="18" name="Shape 16"/>
          <p:cNvSpPr/>
          <p:nvPr/>
        </p:nvSpPr>
        <p:spPr>
          <a:xfrm>
            <a:off x="5303520" y="4663440"/>
            <a:ext cx="1188720" cy="256032"/>
          </a:xfrm>
          <a:prstGeom prst="rect">
            <a:avLst/>
          </a:prstGeom>
          <a:solidFill>
            <a:srgbClr val="8FA3B1"/>
          </a:solidFill>
          <a:ln w="12700">
            <a:solidFill>
              <a:srgbClr val="8FA3B1"/>
            </a:solidFill>
            <a:prstDash val="solid"/>
          </a:ln>
        </p:spPr>
      </p:sp>
      <p:sp>
        <p:nvSpPr>
          <p:cNvPr id="19" name="Text 17"/>
          <p:cNvSpPr/>
          <p:nvPr/>
        </p:nvSpPr>
        <p:spPr>
          <a:xfrm>
            <a:off x="5303520" y="4663440"/>
            <a:ext cx="11887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STOPPED</a:t>
            </a:r>
            <a:endParaRPr lang="en-US" sz="800" dirty="0"/>
          </a:p>
        </p:txBody>
      </p:sp>
      <p:sp>
        <p:nvSpPr>
          <p:cNvPr id="20" name="Shape 18"/>
          <p:cNvSpPr/>
          <p:nvPr/>
        </p:nvSpPr>
        <p:spPr>
          <a:xfrm>
            <a:off x="6492240" y="4754880"/>
            <a:ext cx="91440" cy="73152"/>
          </a:xfrm>
          <a:prstGeom prst="rect">
            <a:avLst/>
          </a:prstGeom>
          <a:solidFill>
            <a:srgbClr val="8FA3B1"/>
          </a:solidFill>
          <a:ln w="12700">
            <a:solidFill>
              <a:srgbClr val="8FA3B1"/>
            </a:solidFill>
            <a:prstDash val="solid"/>
          </a:ln>
        </p:spPr>
      </p:sp>
      <p:sp>
        <p:nvSpPr>
          <p:cNvPr id="21" name="Shape 19"/>
          <p:cNvSpPr/>
          <p:nvPr/>
        </p:nvSpPr>
        <p:spPr>
          <a:xfrm>
            <a:off x="6583680" y="4663440"/>
            <a:ext cx="1188720" cy="256032"/>
          </a:xfrm>
          <a:prstGeom prst="rect">
            <a:avLst/>
          </a:prstGeom>
          <a:solidFill>
            <a:srgbClr val="E63946"/>
          </a:solidFill>
          <a:ln w="12700">
            <a:solidFill>
              <a:srgbClr val="E63946"/>
            </a:solidFill>
            <a:prstDash val="solid"/>
          </a:ln>
        </p:spPr>
      </p:sp>
      <p:sp>
        <p:nvSpPr>
          <p:cNvPr id="22" name="Text 20"/>
          <p:cNvSpPr/>
          <p:nvPr/>
        </p:nvSpPr>
        <p:spPr>
          <a:xfrm>
            <a:off x="6583680" y="4663440"/>
            <a:ext cx="11887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KILLED</a:t>
            </a:r>
            <a:endParaRPr lang="en-US" sz="800" dirty="0"/>
          </a:p>
        </p:txBody>
      </p:sp>
      <p:sp>
        <p:nvSpPr>
          <p:cNvPr id="23" name="Shape 21"/>
          <p:cNvSpPr/>
          <p:nvPr/>
        </p:nvSpPr>
        <p:spPr>
          <a:xfrm>
            <a:off x="7772400" y="4754880"/>
            <a:ext cx="91440" cy="73152"/>
          </a:xfrm>
          <a:prstGeom prst="rect">
            <a:avLst/>
          </a:prstGeom>
          <a:solidFill>
            <a:srgbClr val="8FA3B1"/>
          </a:solidFill>
          <a:ln w="12700">
            <a:solidFill>
              <a:srgbClr val="8FA3B1"/>
            </a:solidFill>
            <a:prstDash val="solid"/>
          </a:ln>
        </p:spPr>
      </p:sp>
      <p:sp>
        <p:nvSpPr>
          <p:cNvPr id="24" name="Shape 22"/>
          <p:cNvSpPr/>
          <p:nvPr/>
        </p:nvSpPr>
        <p:spPr>
          <a:xfrm>
            <a:off x="7863840" y="4663440"/>
            <a:ext cx="1188720" cy="256032"/>
          </a:xfrm>
          <a:prstGeom prst="rect">
            <a:avLst/>
          </a:prstGeom>
          <a:solidFill>
            <a:srgbClr val="0E9AA7"/>
          </a:solidFill>
          <a:ln w="12700">
            <a:solidFill>
              <a:srgbClr val="0E9AA7"/>
            </a:solidFill>
            <a:prstDash val="solid"/>
          </a:ln>
        </p:spPr>
      </p:sp>
      <p:sp>
        <p:nvSpPr>
          <p:cNvPr id="25" name="Text 23"/>
          <p:cNvSpPr/>
          <p:nvPr/>
        </p:nvSpPr>
        <p:spPr>
          <a:xfrm>
            <a:off x="7863840" y="4663440"/>
            <a:ext cx="118872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EXITED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3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Container Lifecycle &amp; Supervisor Design</a:t>
            </a:r>
            <a:endParaRPr lang="en-US" sz="2800" dirty="0"/>
          </a:p>
        </p:txBody>
      </p:sp>
      <p:sp>
        <p:nvSpPr>
          <p:cNvPr id="3" name="Shape 1"/>
          <p:cNvSpPr/>
          <p:nvPr/>
        </p:nvSpPr>
        <p:spPr>
          <a:xfrm>
            <a:off x="457200" y="841248"/>
            <a:ext cx="1097280" cy="201168"/>
          </a:xfrm>
          <a:prstGeom prst="rect">
            <a:avLst/>
          </a:prstGeom>
          <a:solidFill>
            <a:srgbClr val="00D9A5"/>
          </a:solidFill>
          <a:ln w="12700">
            <a:solidFill>
              <a:srgbClr val="00D9A5"/>
            </a:solidFill>
            <a:prstDash val="solid"/>
          </a:ln>
        </p:spPr>
      </p:sp>
      <p:sp>
        <p:nvSpPr>
          <p:cNvPr id="4" name="Text 2"/>
          <p:cNvSpPr/>
          <p:nvPr/>
        </p:nvSpPr>
        <p:spPr>
          <a:xfrm>
            <a:off x="457200" y="841248"/>
            <a:ext cx="1097280" cy="201168"/>
          </a:xfrm>
          <a:prstGeom prst="rect">
            <a:avLst/>
          </a:prstGeom>
          <a:noFill/>
          <a:ln/>
        </p:spPr>
        <p:txBody>
          <a:bodyPr wrap="square" lIns="0" tIns="0" rIns="0" bIns="0" rtlCol="0" anchor="ctr"/>
          <a:lstStyle/>
          <a:p>
            <a:pPr algn="ctr" indent="0" marL="0">
              <a:buNone/>
            </a:pPr>
            <a:r>
              <a:rPr lang="en-US" sz="800" b="1" dirty="0">
                <a:solidFill>
                  <a:srgbClr val="0D1B2A"/>
                </a:solidFill>
                <a:latin typeface="Calibri" pitchFamily="34" charset="0"/>
                <a:ea typeface="Calibri" pitchFamily="34" charset="-122"/>
                <a:cs typeface="Calibri" pitchFamily="34" charset="-120"/>
              </a:rPr>
              <a:t>LIFECYCLE</a:t>
            </a:r>
            <a:endParaRPr lang="en-US" sz="800" dirty="0"/>
          </a:p>
        </p:txBody>
      </p:sp>
      <p:sp>
        <p:nvSpPr>
          <p:cNvPr id="5" name="Shape 3"/>
          <p:cNvSpPr/>
          <p:nvPr/>
        </p:nvSpPr>
        <p:spPr>
          <a:xfrm>
            <a:off x="457200" y="777240"/>
            <a:ext cx="8229600" cy="22860"/>
          </a:xfrm>
          <a:prstGeom prst="rect">
            <a:avLst/>
          </a:prstGeom>
          <a:solidFill>
            <a:srgbClr val="00D9A5"/>
          </a:solidFill>
          <a:ln w="12700">
            <a:solidFill>
              <a:srgbClr val="00D9A5"/>
            </a:solidFill>
            <a:prstDash val="solid"/>
          </a:ln>
        </p:spPr>
      </p:sp>
      <p:sp>
        <p:nvSpPr>
          <p:cNvPr id="6" name="Shape 4"/>
          <p:cNvSpPr/>
          <p:nvPr/>
        </p:nvSpPr>
        <p:spPr>
          <a:xfrm>
            <a:off x="868680" y="1005840"/>
            <a:ext cx="502920" cy="502920"/>
          </a:xfrm>
          <a:prstGeom prst="ellipse">
            <a:avLst/>
          </a:prstGeom>
          <a:solidFill>
            <a:srgbClr val="F5A623"/>
          </a:solidFill>
          <a:ln w="12700">
            <a:solidFill>
              <a:srgbClr val="F5A623"/>
            </a:solidFill>
            <a:prstDash val="solid"/>
          </a:ln>
        </p:spPr>
      </p:sp>
      <p:sp>
        <p:nvSpPr>
          <p:cNvPr id="7" name="Text 5"/>
          <p:cNvSpPr/>
          <p:nvPr/>
        </p:nvSpPr>
        <p:spPr>
          <a:xfrm>
            <a:off x="868680" y="100584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320040" y="1572768"/>
            <a:ext cx="160020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Client sends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CMD_START</a:t>
            </a:r>
            <a:endParaRPr lang="en-US" sz="1000" dirty="0"/>
          </a:p>
        </p:txBody>
      </p:sp>
      <p:sp>
        <p:nvSpPr>
          <p:cNvPr id="9" name="Shape 7"/>
          <p:cNvSpPr/>
          <p:nvPr/>
        </p:nvSpPr>
        <p:spPr>
          <a:xfrm>
            <a:off x="429768" y="2121408"/>
            <a:ext cx="1371600" cy="502920"/>
          </a:xfrm>
          <a:prstGeom prst="rect">
            <a:avLst/>
          </a:prstGeom>
          <a:solidFill>
            <a:srgbClr val="162534"/>
          </a:solidFill>
          <a:ln w="12700">
            <a:solidFill>
              <a:srgbClr val="F5A623"/>
            </a:solidFill>
            <a:prstDash val="solid"/>
          </a:ln>
        </p:spPr>
      </p:sp>
      <p:sp>
        <p:nvSpPr>
          <p:cNvPr id="10" name="Text 8"/>
          <p:cNvSpPr/>
          <p:nvPr/>
        </p:nvSpPr>
        <p:spPr>
          <a:xfrm>
            <a:off x="429768" y="2121408"/>
            <a:ext cx="1371600" cy="502920"/>
          </a:xfrm>
          <a:prstGeom prst="rect">
            <a:avLst/>
          </a:prstGeom>
          <a:noFill/>
          <a:ln/>
        </p:spPr>
        <p:txBody>
          <a:bodyPr wrap="square" rtlCol="0" anchor="ctr"/>
          <a:lstStyle/>
          <a:p>
            <a:pPr algn="ctr" indent="0" marL="0">
              <a:buNone/>
            </a:pPr>
            <a:r>
              <a:rPr lang="en-US" sz="850" dirty="0">
                <a:solidFill>
                  <a:srgbClr val="F5A623"/>
                </a:solidFill>
                <a:latin typeface="Consolas" pitchFamily="34" charset="0"/>
                <a:ea typeface="Consolas" pitchFamily="34" charset="-122"/>
                <a:cs typeface="Consolas" pitchFamily="34" charset="-120"/>
              </a:rPr>
              <a:t>control_request_t over</a:t>
            </a:r>
            <a:endParaRPr lang="en-US" sz="850" dirty="0"/>
          </a:p>
          <a:p>
            <a:pPr algn="ctr" indent="0" marL="0">
              <a:buNone/>
            </a:pPr>
            <a:r>
              <a:rPr lang="en-US" sz="850" dirty="0">
                <a:solidFill>
                  <a:srgbClr val="F5A623"/>
                </a:solidFill>
                <a:latin typeface="Consolas" pitchFamily="34" charset="0"/>
                <a:ea typeface="Consolas" pitchFamily="34" charset="-122"/>
                <a:cs typeface="Consolas" pitchFamily="34" charset="-120"/>
              </a:rPr>
              <a:t>UNIX domain socket</a:t>
            </a:r>
            <a:endParaRPr lang="en-US" sz="850" dirty="0"/>
          </a:p>
        </p:txBody>
      </p:sp>
      <p:sp>
        <p:nvSpPr>
          <p:cNvPr id="11" name="Shape 9"/>
          <p:cNvSpPr/>
          <p:nvPr/>
        </p:nvSpPr>
        <p:spPr>
          <a:xfrm>
            <a:off x="1938528" y="1225296"/>
            <a:ext cx="146304" cy="64008"/>
          </a:xfrm>
          <a:prstGeom prst="rect">
            <a:avLst/>
          </a:prstGeom>
          <a:solidFill>
            <a:srgbClr val="8FA3B1"/>
          </a:solidFill>
          <a:ln w="12700">
            <a:solidFill>
              <a:srgbClr val="8FA3B1"/>
            </a:solidFill>
            <a:prstDash val="solid"/>
          </a:ln>
        </p:spPr>
      </p:sp>
      <p:sp>
        <p:nvSpPr>
          <p:cNvPr id="12" name="Shape 10"/>
          <p:cNvSpPr/>
          <p:nvPr/>
        </p:nvSpPr>
        <p:spPr>
          <a:xfrm>
            <a:off x="2606040" y="1005840"/>
            <a:ext cx="502920" cy="502920"/>
          </a:xfrm>
          <a:prstGeom prst="ellipse">
            <a:avLst/>
          </a:prstGeom>
          <a:solidFill>
            <a:srgbClr val="0E9AA7"/>
          </a:solidFill>
          <a:ln w="12700">
            <a:solidFill>
              <a:srgbClr val="0E9AA7"/>
            </a:solidFill>
            <a:prstDash val="solid"/>
          </a:ln>
        </p:spPr>
      </p:sp>
      <p:sp>
        <p:nvSpPr>
          <p:cNvPr id="13" name="Text 11"/>
          <p:cNvSpPr/>
          <p:nvPr/>
        </p:nvSpPr>
        <p:spPr>
          <a:xfrm>
            <a:off x="2606040" y="100584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2057400" y="1572768"/>
            <a:ext cx="160020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Supervisor</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allocates stack</a:t>
            </a:r>
            <a:endParaRPr lang="en-US" sz="1000" dirty="0"/>
          </a:p>
        </p:txBody>
      </p:sp>
      <p:sp>
        <p:nvSpPr>
          <p:cNvPr id="15" name="Shape 13"/>
          <p:cNvSpPr/>
          <p:nvPr/>
        </p:nvSpPr>
        <p:spPr>
          <a:xfrm>
            <a:off x="2167128" y="2121408"/>
            <a:ext cx="1371600" cy="502920"/>
          </a:xfrm>
          <a:prstGeom prst="rect">
            <a:avLst/>
          </a:prstGeom>
          <a:solidFill>
            <a:srgbClr val="162534"/>
          </a:solidFill>
          <a:ln w="12700">
            <a:solidFill>
              <a:srgbClr val="0E9AA7"/>
            </a:solidFill>
            <a:prstDash val="solid"/>
          </a:ln>
        </p:spPr>
      </p:sp>
      <p:sp>
        <p:nvSpPr>
          <p:cNvPr id="16" name="Text 14"/>
          <p:cNvSpPr/>
          <p:nvPr/>
        </p:nvSpPr>
        <p:spPr>
          <a:xfrm>
            <a:off x="2167128" y="2121408"/>
            <a:ext cx="1371600" cy="502920"/>
          </a:xfrm>
          <a:prstGeom prst="rect">
            <a:avLst/>
          </a:prstGeom>
          <a:noFill/>
          <a:ln/>
        </p:spPr>
        <p:txBody>
          <a:bodyPr wrap="square" rtlCol="0" anchor="ctr"/>
          <a:lstStyle/>
          <a:p>
            <a:pPr algn="ctr" indent="0" marL="0">
              <a:buNone/>
            </a:pPr>
            <a:r>
              <a:rPr lang="en-US" sz="850" dirty="0">
                <a:solidFill>
                  <a:srgbClr val="0E9AA7"/>
                </a:solidFill>
                <a:latin typeface="Consolas" pitchFamily="34" charset="0"/>
                <a:ea typeface="Consolas" pitchFamily="34" charset="-122"/>
                <a:cs typeface="Consolas" pitchFamily="34" charset="-120"/>
              </a:rPr>
              <a:t>malloc(STACK_SIZE)</a:t>
            </a:r>
            <a:endParaRPr lang="en-US" sz="850" dirty="0"/>
          </a:p>
          <a:p>
            <a:pPr algn="ctr" indent="0" marL="0">
              <a:buNone/>
            </a:pPr>
            <a:r>
              <a:rPr lang="en-US" sz="850" dirty="0">
                <a:solidFill>
                  <a:srgbClr val="0E9AA7"/>
                </a:solidFill>
                <a:latin typeface="Consolas" pitchFamily="34" charset="0"/>
                <a:ea typeface="Consolas" pitchFamily="34" charset="-122"/>
                <a:cs typeface="Consolas" pitchFamily="34" charset="-120"/>
              </a:rPr>
              <a:t>prepares child_config_t</a:t>
            </a:r>
            <a:endParaRPr lang="en-US" sz="850" dirty="0"/>
          </a:p>
        </p:txBody>
      </p:sp>
      <p:sp>
        <p:nvSpPr>
          <p:cNvPr id="17" name="Shape 15"/>
          <p:cNvSpPr/>
          <p:nvPr/>
        </p:nvSpPr>
        <p:spPr>
          <a:xfrm>
            <a:off x="3675888" y="1225296"/>
            <a:ext cx="146304" cy="64008"/>
          </a:xfrm>
          <a:prstGeom prst="rect">
            <a:avLst/>
          </a:prstGeom>
          <a:solidFill>
            <a:srgbClr val="8FA3B1"/>
          </a:solidFill>
          <a:ln w="12700">
            <a:solidFill>
              <a:srgbClr val="8FA3B1"/>
            </a:solidFill>
            <a:prstDash val="solid"/>
          </a:ln>
        </p:spPr>
      </p:sp>
      <p:sp>
        <p:nvSpPr>
          <p:cNvPr id="18" name="Shape 16"/>
          <p:cNvSpPr/>
          <p:nvPr/>
        </p:nvSpPr>
        <p:spPr>
          <a:xfrm>
            <a:off x="4343400" y="1005840"/>
            <a:ext cx="502920" cy="502920"/>
          </a:xfrm>
          <a:prstGeom prst="ellipse">
            <a:avLst/>
          </a:prstGeom>
          <a:solidFill>
            <a:srgbClr val="00D9A5"/>
          </a:solidFill>
          <a:ln w="12700">
            <a:solidFill>
              <a:srgbClr val="00D9A5"/>
            </a:solidFill>
            <a:prstDash val="solid"/>
          </a:ln>
        </p:spPr>
      </p:sp>
      <p:sp>
        <p:nvSpPr>
          <p:cNvPr id="19" name="Text 17"/>
          <p:cNvSpPr/>
          <p:nvPr/>
        </p:nvSpPr>
        <p:spPr>
          <a:xfrm>
            <a:off x="4343400" y="100584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3794760" y="1572768"/>
            <a:ext cx="160020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clone() creates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container</a:t>
            </a:r>
            <a:endParaRPr lang="en-US" sz="1000" dirty="0"/>
          </a:p>
        </p:txBody>
      </p:sp>
      <p:sp>
        <p:nvSpPr>
          <p:cNvPr id="21" name="Shape 19"/>
          <p:cNvSpPr/>
          <p:nvPr/>
        </p:nvSpPr>
        <p:spPr>
          <a:xfrm>
            <a:off x="3904488" y="2121408"/>
            <a:ext cx="1371600" cy="502920"/>
          </a:xfrm>
          <a:prstGeom prst="rect">
            <a:avLst/>
          </a:prstGeom>
          <a:solidFill>
            <a:srgbClr val="162534"/>
          </a:solidFill>
          <a:ln w="12700">
            <a:solidFill>
              <a:srgbClr val="00D9A5"/>
            </a:solidFill>
            <a:prstDash val="solid"/>
          </a:ln>
        </p:spPr>
      </p:sp>
      <p:sp>
        <p:nvSpPr>
          <p:cNvPr id="22" name="Text 20"/>
          <p:cNvSpPr/>
          <p:nvPr/>
        </p:nvSpPr>
        <p:spPr>
          <a:xfrm>
            <a:off x="3904488" y="2121408"/>
            <a:ext cx="1371600" cy="502920"/>
          </a:xfrm>
          <a:prstGeom prst="rect">
            <a:avLst/>
          </a:prstGeom>
          <a:noFill/>
          <a:ln/>
        </p:spPr>
        <p:txBody>
          <a:bodyPr wrap="square" rtlCol="0" anchor="ctr"/>
          <a:lstStyle/>
          <a:p>
            <a:pPr algn="ctr" indent="0" marL="0">
              <a:buNone/>
            </a:pPr>
            <a:r>
              <a:rPr lang="en-US" sz="850" dirty="0">
                <a:solidFill>
                  <a:srgbClr val="00D9A5"/>
                </a:solidFill>
                <a:latin typeface="Consolas" pitchFamily="34" charset="0"/>
                <a:ea typeface="Consolas" pitchFamily="34" charset="-122"/>
                <a:cs typeface="Consolas" pitchFamily="34" charset="-120"/>
              </a:rPr>
              <a:t>CLONE_NEWPID | CLONE_NEWUTS</a:t>
            </a:r>
            <a:endParaRPr lang="en-US" sz="850" dirty="0"/>
          </a:p>
          <a:p>
            <a:pPr algn="ctr" indent="0" marL="0">
              <a:buNone/>
            </a:pPr>
            <a:r>
              <a:rPr lang="en-US" sz="850" dirty="0">
                <a:solidFill>
                  <a:srgbClr val="00D9A5"/>
                </a:solidFill>
                <a:latin typeface="Consolas" pitchFamily="34" charset="0"/>
                <a:ea typeface="Consolas" pitchFamily="34" charset="-122"/>
                <a:cs typeface="Consolas" pitchFamily="34" charset="-120"/>
              </a:rPr>
              <a:t>| CLONE_NEWNS | SIGCHLD</a:t>
            </a:r>
            <a:endParaRPr lang="en-US" sz="850" dirty="0"/>
          </a:p>
        </p:txBody>
      </p:sp>
      <p:sp>
        <p:nvSpPr>
          <p:cNvPr id="23" name="Shape 21"/>
          <p:cNvSpPr/>
          <p:nvPr/>
        </p:nvSpPr>
        <p:spPr>
          <a:xfrm>
            <a:off x="5413248" y="1225296"/>
            <a:ext cx="146304" cy="64008"/>
          </a:xfrm>
          <a:prstGeom prst="rect">
            <a:avLst/>
          </a:prstGeom>
          <a:solidFill>
            <a:srgbClr val="8FA3B1"/>
          </a:solidFill>
          <a:ln w="12700">
            <a:solidFill>
              <a:srgbClr val="8FA3B1"/>
            </a:solidFill>
            <a:prstDash val="solid"/>
          </a:ln>
        </p:spPr>
      </p:sp>
      <p:sp>
        <p:nvSpPr>
          <p:cNvPr id="24" name="Shape 22"/>
          <p:cNvSpPr/>
          <p:nvPr/>
        </p:nvSpPr>
        <p:spPr>
          <a:xfrm>
            <a:off x="6080760" y="1005840"/>
            <a:ext cx="502920" cy="502920"/>
          </a:xfrm>
          <a:prstGeom prst="ellipse">
            <a:avLst/>
          </a:prstGeom>
          <a:solidFill>
            <a:srgbClr val="E63946"/>
          </a:solidFill>
          <a:ln w="12700">
            <a:solidFill>
              <a:srgbClr val="E63946"/>
            </a:solidFill>
            <a:prstDash val="solid"/>
          </a:ln>
        </p:spPr>
      </p:sp>
      <p:sp>
        <p:nvSpPr>
          <p:cNvPr id="25" name="Text 23"/>
          <p:cNvSpPr/>
          <p:nvPr/>
        </p:nvSpPr>
        <p:spPr>
          <a:xfrm>
            <a:off x="6080760" y="100584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p:nvPr/>
        </p:nvSpPr>
        <p:spPr>
          <a:xfrm>
            <a:off x="5532120" y="1572768"/>
            <a:ext cx="160020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child_fn()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executes</a:t>
            </a:r>
            <a:endParaRPr lang="en-US" sz="1000" dirty="0"/>
          </a:p>
        </p:txBody>
      </p:sp>
      <p:sp>
        <p:nvSpPr>
          <p:cNvPr id="27" name="Shape 25"/>
          <p:cNvSpPr/>
          <p:nvPr/>
        </p:nvSpPr>
        <p:spPr>
          <a:xfrm>
            <a:off x="5641848" y="2121408"/>
            <a:ext cx="1371600" cy="502920"/>
          </a:xfrm>
          <a:prstGeom prst="rect">
            <a:avLst/>
          </a:prstGeom>
          <a:solidFill>
            <a:srgbClr val="162534"/>
          </a:solidFill>
          <a:ln w="12700">
            <a:solidFill>
              <a:srgbClr val="E63946"/>
            </a:solidFill>
            <a:prstDash val="solid"/>
          </a:ln>
        </p:spPr>
      </p:sp>
      <p:sp>
        <p:nvSpPr>
          <p:cNvPr id="28" name="Text 26"/>
          <p:cNvSpPr/>
          <p:nvPr/>
        </p:nvSpPr>
        <p:spPr>
          <a:xfrm>
            <a:off x="5641848" y="2121408"/>
            <a:ext cx="1371600" cy="502920"/>
          </a:xfrm>
          <a:prstGeom prst="rect">
            <a:avLst/>
          </a:prstGeom>
          <a:noFill/>
          <a:ln/>
        </p:spPr>
        <p:txBody>
          <a:bodyPr wrap="square" rtlCol="0" anchor="ctr"/>
          <a:lstStyle/>
          <a:p>
            <a:pPr algn="ctr" indent="0" marL="0">
              <a:buNone/>
            </a:pPr>
            <a:r>
              <a:rPr lang="en-US" sz="850" dirty="0">
                <a:solidFill>
                  <a:srgbClr val="E63946"/>
                </a:solidFill>
                <a:latin typeface="Consolas" pitchFamily="34" charset="0"/>
                <a:ea typeface="Consolas" pitchFamily="34" charset="-122"/>
                <a:cs typeface="Consolas" pitchFamily="34" charset="-120"/>
              </a:rPr>
              <a:t>chroot() → mount /proc</a:t>
            </a:r>
            <a:endParaRPr lang="en-US" sz="850" dirty="0"/>
          </a:p>
          <a:p>
            <a:pPr algn="ctr" indent="0" marL="0">
              <a:buNone/>
            </a:pPr>
            <a:r>
              <a:rPr lang="en-US" sz="850" dirty="0">
                <a:solidFill>
                  <a:srgbClr val="E63946"/>
                </a:solidFill>
                <a:latin typeface="Consolas" pitchFamily="34" charset="0"/>
                <a:ea typeface="Consolas" pitchFamily="34" charset="-122"/>
                <a:cs typeface="Consolas" pitchFamily="34" charset="-120"/>
              </a:rPr>
              <a:t>setpriority(nice) → execv()</a:t>
            </a:r>
            <a:endParaRPr lang="en-US" sz="850" dirty="0"/>
          </a:p>
        </p:txBody>
      </p:sp>
      <p:sp>
        <p:nvSpPr>
          <p:cNvPr id="29" name="Shape 27"/>
          <p:cNvSpPr/>
          <p:nvPr/>
        </p:nvSpPr>
        <p:spPr>
          <a:xfrm>
            <a:off x="7150608" y="1225296"/>
            <a:ext cx="146304" cy="64008"/>
          </a:xfrm>
          <a:prstGeom prst="rect">
            <a:avLst/>
          </a:prstGeom>
          <a:solidFill>
            <a:srgbClr val="8FA3B1"/>
          </a:solidFill>
          <a:ln w="12700">
            <a:solidFill>
              <a:srgbClr val="8FA3B1"/>
            </a:solidFill>
            <a:prstDash val="solid"/>
          </a:ln>
        </p:spPr>
      </p:sp>
      <p:sp>
        <p:nvSpPr>
          <p:cNvPr id="30" name="Shape 28"/>
          <p:cNvSpPr/>
          <p:nvPr/>
        </p:nvSpPr>
        <p:spPr>
          <a:xfrm>
            <a:off x="7818120" y="1005840"/>
            <a:ext cx="502920" cy="502920"/>
          </a:xfrm>
          <a:prstGeom prst="ellipse">
            <a:avLst/>
          </a:prstGeom>
          <a:solidFill>
            <a:srgbClr val="007A5E"/>
          </a:solidFill>
          <a:ln w="12700">
            <a:solidFill>
              <a:srgbClr val="007A5E"/>
            </a:solidFill>
            <a:prstDash val="solid"/>
          </a:ln>
        </p:spPr>
      </p:sp>
      <p:sp>
        <p:nvSpPr>
          <p:cNvPr id="31" name="Text 29"/>
          <p:cNvSpPr/>
          <p:nvPr/>
        </p:nvSpPr>
        <p:spPr>
          <a:xfrm>
            <a:off x="7818120" y="100584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30"/>
          <p:cNvSpPr/>
          <p:nvPr/>
        </p:nvSpPr>
        <p:spPr>
          <a:xfrm>
            <a:off x="7269480" y="1572768"/>
            <a:ext cx="1600200" cy="5029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Register with</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monitor.ko</a:t>
            </a:r>
            <a:endParaRPr lang="en-US" sz="1000" dirty="0"/>
          </a:p>
        </p:txBody>
      </p:sp>
      <p:sp>
        <p:nvSpPr>
          <p:cNvPr id="33" name="Shape 31"/>
          <p:cNvSpPr/>
          <p:nvPr/>
        </p:nvSpPr>
        <p:spPr>
          <a:xfrm>
            <a:off x="7379208" y="2121408"/>
            <a:ext cx="1371600" cy="502920"/>
          </a:xfrm>
          <a:prstGeom prst="rect">
            <a:avLst/>
          </a:prstGeom>
          <a:solidFill>
            <a:srgbClr val="162534"/>
          </a:solidFill>
          <a:ln w="12700">
            <a:solidFill>
              <a:srgbClr val="007A5E"/>
            </a:solidFill>
            <a:prstDash val="solid"/>
          </a:ln>
        </p:spPr>
      </p:sp>
      <p:sp>
        <p:nvSpPr>
          <p:cNvPr id="34" name="Text 32"/>
          <p:cNvSpPr/>
          <p:nvPr/>
        </p:nvSpPr>
        <p:spPr>
          <a:xfrm>
            <a:off x="7379208" y="2121408"/>
            <a:ext cx="1371600" cy="502920"/>
          </a:xfrm>
          <a:prstGeom prst="rect">
            <a:avLst/>
          </a:prstGeom>
          <a:noFill/>
          <a:ln/>
        </p:spPr>
        <p:txBody>
          <a:bodyPr wrap="square" rtlCol="0" anchor="ctr"/>
          <a:lstStyle/>
          <a:p>
            <a:pPr algn="ctr" indent="0" marL="0">
              <a:buNone/>
            </a:pPr>
            <a:r>
              <a:rPr lang="en-US" sz="850" dirty="0">
                <a:solidFill>
                  <a:srgbClr val="007A5E"/>
                </a:solidFill>
                <a:latin typeface="Consolas" pitchFamily="34" charset="0"/>
                <a:ea typeface="Consolas" pitchFamily="34" charset="-122"/>
                <a:cs typeface="Consolas" pitchFamily="34" charset="-120"/>
              </a:rPr>
              <a:t>ioctl(MONITOR_REGISTER)</a:t>
            </a:r>
            <a:endParaRPr lang="en-US" sz="850" dirty="0"/>
          </a:p>
          <a:p>
            <a:pPr algn="ctr" indent="0" marL="0">
              <a:buNone/>
            </a:pPr>
            <a:r>
              <a:rPr lang="en-US" sz="850" dirty="0">
                <a:solidFill>
                  <a:srgbClr val="007A5E"/>
                </a:solidFill>
                <a:latin typeface="Consolas" pitchFamily="34" charset="0"/>
                <a:ea typeface="Consolas" pitchFamily="34" charset="-122"/>
                <a:cs typeface="Consolas" pitchFamily="34" charset="-120"/>
              </a:rPr>
              <a:t>with pid + limits</a:t>
            </a:r>
            <a:endParaRPr lang="en-US" sz="850" dirty="0"/>
          </a:p>
        </p:txBody>
      </p:sp>
      <p:sp>
        <p:nvSpPr>
          <p:cNvPr id="35" name="Shape 33"/>
          <p:cNvSpPr/>
          <p:nvPr/>
        </p:nvSpPr>
        <p:spPr>
          <a:xfrm>
            <a:off x="320040" y="2834640"/>
            <a:ext cx="8503920" cy="1965960"/>
          </a:xfrm>
          <a:prstGeom prst="rect">
            <a:avLst/>
          </a:prstGeom>
          <a:solidFill>
            <a:srgbClr val="162534"/>
          </a:solidFill>
          <a:ln w="12700">
            <a:solidFill>
              <a:srgbClr val="00D9A5"/>
            </a:solidFill>
            <a:prstDash val="solid"/>
          </a:ln>
        </p:spPr>
      </p:sp>
      <p:sp>
        <p:nvSpPr>
          <p:cNvPr id="36" name="Text 34"/>
          <p:cNvSpPr/>
          <p:nvPr/>
        </p:nvSpPr>
        <p:spPr>
          <a:xfrm>
            <a:off x="502920" y="2871216"/>
            <a:ext cx="6400800" cy="256032"/>
          </a:xfrm>
          <a:prstGeom prst="rect">
            <a:avLst/>
          </a:prstGeom>
          <a:noFill/>
          <a:ln/>
        </p:spPr>
        <p:txBody>
          <a:bodyPr wrap="square" lIns="0" tIns="0" rIns="0" bIns="0" rtlCol="0" anchor="ctr"/>
          <a:lstStyle/>
          <a:p>
            <a:pPr indent="0" marL="0">
              <a:buNone/>
            </a:pPr>
            <a:r>
              <a:rPr lang="en-US" sz="1100" b="1" dirty="0">
                <a:solidFill>
                  <a:srgbClr val="00D9A5"/>
                </a:solidFill>
                <a:latin typeface="Calibri" pitchFamily="34" charset="0"/>
                <a:ea typeface="Calibri" pitchFamily="34" charset="-122"/>
                <a:cs typeface="Calibri" pitchFamily="34" charset="-120"/>
              </a:rPr>
              <a:t>Inside child_fn()  —  What Happens In the Container Process</a:t>
            </a:r>
            <a:endParaRPr lang="en-US" sz="1100" dirty="0"/>
          </a:p>
        </p:txBody>
      </p:sp>
      <p:sp>
        <p:nvSpPr>
          <p:cNvPr id="37" name="Shape 35"/>
          <p:cNvSpPr/>
          <p:nvPr/>
        </p:nvSpPr>
        <p:spPr>
          <a:xfrm>
            <a:off x="457200" y="3200400"/>
            <a:ext cx="1298448" cy="1463040"/>
          </a:xfrm>
          <a:prstGeom prst="rect">
            <a:avLst/>
          </a:prstGeom>
          <a:solidFill>
            <a:srgbClr val="1E2D3D"/>
          </a:solidFill>
          <a:ln w="12700">
            <a:solidFill>
              <a:srgbClr val="0E9AA7"/>
            </a:solidFill>
            <a:prstDash val="solid"/>
          </a:ln>
        </p:spPr>
      </p:sp>
      <p:sp>
        <p:nvSpPr>
          <p:cNvPr id="38" name="Text 36"/>
          <p:cNvSpPr/>
          <p:nvPr/>
        </p:nvSpPr>
        <p:spPr>
          <a:xfrm>
            <a:off x="521208" y="3255264"/>
            <a:ext cx="1170432" cy="1353312"/>
          </a:xfrm>
          <a:prstGeom prst="rect">
            <a:avLst/>
          </a:prstGeom>
          <a:noFill/>
          <a:ln/>
        </p:spPr>
        <p:txBody>
          <a:bodyPr wrap="square" rtlCol="0" anchor="ctr"/>
          <a:lstStyle/>
          <a:p>
            <a:pPr algn="ctr" indent="0" marL="0">
              <a:buNone/>
            </a:pPr>
            <a:r>
              <a:rPr lang="en-US" sz="900" dirty="0">
                <a:solidFill>
                  <a:srgbClr val="00D9A5"/>
                </a:solidFill>
                <a:latin typeface="Consolas" pitchFamily="34" charset="0"/>
                <a:ea typeface="Consolas" pitchFamily="34" charset="-122"/>
                <a:cs typeface="Consolas" pitchFamily="34" charset="-120"/>
              </a:rPr>
              <a:t>chroot(rootfs)</a:t>
            </a:r>
            <a:endParaRPr lang="en-US" sz="900" dirty="0"/>
          </a:p>
          <a:p>
            <a:pPr algn="ctr" indent="0" marL="0">
              <a:buNone/>
            </a:pPr>
            <a:r>
              <a:rPr lang="en-US" sz="900" dirty="0">
                <a:solidFill>
                  <a:srgbClr val="00D9A5"/>
                </a:solidFill>
                <a:latin typeface="Consolas" pitchFamily="34" charset="0"/>
                <a:ea typeface="Consolas" pitchFamily="34" charset="-122"/>
                <a:cs typeface="Consolas" pitchFamily="34" charset="-120"/>
              </a:rPr>
              <a:t>→ isolates FS</a:t>
            </a:r>
            <a:endParaRPr lang="en-US" sz="900" dirty="0"/>
          </a:p>
        </p:txBody>
      </p:sp>
      <p:sp>
        <p:nvSpPr>
          <p:cNvPr id="39" name="Shape 37"/>
          <p:cNvSpPr/>
          <p:nvPr/>
        </p:nvSpPr>
        <p:spPr>
          <a:xfrm>
            <a:off x="1883664" y="3200400"/>
            <a:ext cx="1298448" cy="1463040"/>
          </a:xfrm>
          <a:prstGeom prst="rect">
            <a:avLst/>
          </a:prstGeom>
          <a:solidFill>
            <a:srgbClr val="1E2D3D"/>
          </a:solidFill>
          <a:ln w="12700">
            <a:solidFill>
              <a:srgbClr val="0E9AA7"/>
            </a:solidFill>
            <a:prstDash val="solid"/>
          </a:ln>
        </p:spPr>
      </p:sp>
      <p:sp>
        <p:nvSpPr>
          <p:cNvPr id="40" name="Text 38"/>
          <p:cNvSpPr/>
          <p:nvPr/>
        </p:nvSpPr>
        <p:spPr>
          <a:xfrm>
            <a:off x="1947672" y="3255264"/>
            <a:ext cx="1170432" cy="1353312"/>
          </a:xfrm>
          <a:prstGeom prst="rect">
            <a:avLst/>
          </a:prstGeom>
          <a:noFill/>
          <a:ln/>
        </p:spPr>
        <p:txBody>
          <a:bodyPr wrap="square" rtlCol="0" anchor="ctr"/>
          <a:lstStyle/>
          <a:p>
            <a:pPr algn="ctr" indent="0" marL="0">
              <a:buNone/>
            </a:pPr>
            <a:r>
              <a:rPr lang="en-US" sz="900" dirty="0">
                <a:solidFill>
                  <a:srgbClr val="00D9A5"/>
                </a:solidFill>
                <a:latin typeface="Consolas" pitchFamily="34" charset="0"/>
                <a:ea typeface="Consolas" pitchFamily="34" charset="-122"/>
                <a:cs typeface="Consolas" pitchFamily="34" charset="-120"/>
              </a:rPr>
              <a:t>mount("proc",</a:t>
            </a:r>
            <a:endParaRPr lang="en-US" sz="900" dirty="0"/>
          </a:p>
          <a:p>
            <a:pPr algn="ctr" indent="0" marL="0">
              <a:buNone/>
            </a:pPr>
            <a:r>
              <a:rPr lang="en-US" sz="900" dirty="0">
                <a:solidFill>
                  <a:srgbClr val="00D9A5"/>
                </a:solidFill>
                <a:latin typeface="Consolas" pitchFamily="34" charset="0"/>
                <a:ea typeface="Consolas" pitchFamily="34" charset="-122"/>
                <a:cs typeface="Consolas" pitchFamily="34" charset="-120"/>
              </a:rPr>
              <a:t>"/proc", ...)</a:t>
            </a:r>
            <a:endParaRPr lang="en-US" sz="900" dirty="0"/>
          </a:p>
          <a:p>
            <a:pPr algn="ctr" indent="0" marL="0">
              <a:buNone/>
            </a:pPr>
            <a:r>
              <a:rPr lang="en-US" sz="900" dirty="0">
                <a:solidFill>
                  <a:srgbClr val="00D9A5"/>
                </a:solidFill>
                <a:latin typeface="Consolas" pitchFamily="34" charset="0"/>
                <a:ea typeface="Consolas" pitchFamily="34" charset="-122"/>
                <a:cs typeface="Consolas" pitchFamily="34" charset="-120"/>
              </a:rPr>
              <a:t>→ own PID space</a:t>
            </a:r>
            <a:endParaRPr lang="en-US" sz="900" dirty="0"/>
          </a:p>
        </p:txBody>
      </p:sp>
      <p:sp>
        <p:nvSpPr>
          <p:cNvPr id="41" name="Shape 39"/>
          <p:cNvSpPr/>
          <p:nvPr/>
        </p:nvSpPr>
        <p:spPr>
          <a:xfrm>
            <a:off x="3310128" y="3200400"/>
            <a:ext cx="1298448" cy="1463040"/>
          </a:xfrm>
          <a:prstGeom prst="rect">
            <a:avLst/>
          </a:prstGeom>
          <a:solidFill>
            <a:srgbClr val="1E2D3D"/>
          </a:solidFill>
          <a:ln w="12700">
            <a:solidFill>
              <a:srgbClr val="0E9AA7"/>
            </a:solidFill>
            <a:prstDash val="solid"/>
          </a:ln>
        </p:spPr>
      </p:sp>
      <p:sp>
        <p:nvSpPr>
          <p:cNvPr id="42" name="Text 40"/>
          <p:cNvSpPr/>
          <p:nvPr/>
        </p:nvSpPr>
        <p:spPr>
          <a:xfrm>
            <a:off x="3374136" y="3255264"/>
            <a:ext cx="1170432" cy="1353312"/>
          </a:xfrm>
          <a:prstGeom prst="rect">
            <a:avLst/>
          </a:prstGeom>
          <a:noFill/>
          <a:ln/>
        </p:spPr>
        <p:txBody>
          <a:bodyPr wrap="square" rtlCol="0" anchor="ctr"/>
          <a:lstStyle/>
          <a:p>
            <a:pPr algn="ctr" indent="0" marL="0">
              <a:buNone/>
            </a:pPr>
            <a:r>
              <a:rPr lang="en-US" sz="900" dirty="0">
                <a:solidFill>
                  <a:srgbClr val="00D9A5"/>
                </a:solidFill>
                <a:latin typeface="Consolas" pitchFamily="34" charset="0"/>
                <a:ea typeface="Consolas" pitchFamily="34" charset="-122"/>
                <a:cs typeface="Consolas" pitchFamily="34" charset="-120"/>
              </a:rPr>
              <a:t>setpriority(0, 0,</a:t>
            </a:r>
            <a:endParaRPr lang="en-US" sz="900" dirty="0"/>
          </a:p>
          <a:p>
            <a:pPr algn="ctr" indent="0" marL="0">
              <a:buNone/>
            </a:pPr>
            <a:r>
              <a:rPr lang="en-US" sz="900" dirty="0">
                <a:solidFill>
                  <a:srgbClr val="00D9A5"/>
                </a:solidFill>
                <a:latin typeface="Consolas" pitchFamily="34" charset="0"/>
                <a:ea typeface="Consolas" pitchFamily="34" charset="-122"/>
                <a:cs typeface="Consolas" pitchFamily="34" charset="-120"/>
              </a:rPr>
              <a:t>nice_value)</a:t>
            </a:r>
            <a:endParaRPr lang="en-US" sz="900" dirty="0"/>
          </a:p>
          <a:p>
            <a:pPr algn="ctr" indent="0" marL="0">
              <a:buNone/>
            </a:pPr>
            <a:r>
              <a:rPr lang="en-US" sz="900" dirty="0">
                <a:solidFill>
                  <a:srgbClr val="00D9A5"/>
                </a:solidFill>
                <a:latin typeface="Consolas" pitchFamily="34" charset="0"/>
                <a:ea typeface="Consolas" pitchFamily="34" charset="-122"/>
                <a:cs typeface="Consolas" pitchFamily="34" charset="-120"/>
              </a:rPr>
              <a:t>→ CFS weight</a:t>
            </a:r>
            <a:endParaRPr lang="en-US" sz="900" dirty="0"/>
          </a:p>
        </p:txBody>
      </p:sp>
      <p:sp>
        <p:nvSpPr>
          <p:cNvPr id="43" name="Shape 41"/>
          <p:cNvSpPr/>
          <p:nvPr/>
        </p:nvSpPr>
        <p:spPr>
          <a:xfrm>
            <a:off x="4736592" y="3200400"/>
            <a:ext cx="1298448" cy="1463040"/>
          </a:xfrm>
          <a:prstGeom prst="rect">
            <a:avLst/>
          </a:prstGeom>
          <a:solidFill>
            <a:srgbClr val="1E2D3D"/>
          </a:solidFill>
          <a:ln w="12700">
            <a:solidFill>
              <a:srgbClr val="0E9AA7"/>
            </a:solidFill>
            <a:prstDash val="solid"/>
          </a:ln>
        </p:spPr>
      </p:sp>
      <p:sp>
        <p:nvSpPr>
          <p:cNvPr id="44" name="Text 42"/>
          <p:cNvSpPr/>
          <p:nvPr/>
        </p:nvSpPr>
        <p:spPr>
          <a:xfrm>
            <a:off x="4800600" y="3255264"/>
            <a:ext cx="1170432" cy="1353312"/>
          </a:xfrm>
          <a:prstGeom prst="rect">
            <a:avLst/>
          </a:prstGeom>
          <a:noFill/>
          <a:ln/>
        </p:spPr>
        <p:txBody>
          <a:bodyPr wrap="square" rtlCol="0" anchor="ctr"/>
          <a:lstStyle/>
          <a:p>
            <a:pPr algn="ctr" indent="0" marL="0">
              <a:buNone/>
            </a:pPr>
            <a:r>
              <a:rPr lang="en-US" sz="900" dirty="0">
                <a:solidFill>
                  <a:srgbClr val="00D9A5"/>
                </a:solidFill>
                <a:latin typeface="Consolas" pitchFamily="34" charset="0"/>
                <a:ea typeface="Consolas" pitchFamily="34" charset="-122"/>
                <a:cs typeface="Consolas" pitchFamily="34" charset="-120"/>
              </a:rPr>
              <a:t>dup2(pipe_fd,</a:t>
            </a:r>
            <a:endParaRPr lang="en-US" sz="900" dirty="0"/>
          </a:p>
          <a:p>
            <a:pPr algn="ctr" indent="0" marL="0">
              <a:buNone/>
            </a:pPr>
            <a:r>
              <a:rPr lang="en-US" sz="900" dirty="0">
                <a:solidFill>
                  <a:srgbClr val="00D9A5"/>
                </a:solidFill>
                <a:latin typeface="Consolas" pitchFamily="34" charset="0"/>
                <a:ea typeface="Consolas" pitchFamily="34" charset="-122"/>
                <a:cs typeface="Consolas" pitchFamily="34" charset="-120"/>
              </a:rPr>
              <a:t>STDOUT_FILENO)</a:t>
            </a:r>
            <a:endParaRPr lang="en-US" sz="900" dirty="0"/>
          </a:p>
          <a:p>
            <a:pPr algn="ctr" indent="0" marL="0">
              <a:buNone/>
            </a:pPr>
            <a:r>
              <a:rPr lang="en-US" sz="900" dirty="0">
                <a:solidFill>
                  <a:srgbClr val="00D9A5"/>
                </a:solidFill>
                <a:latin typeface="Consolas" pitchFamily="34" charset="0"/>
                <a:ea typeface="Consolas" pitchFamily="34" charset="-122"/>
                <a:cs typeface="Consolas" pitchFamily="34" charset="-120"/>
              </a:rPr>
              <a:t>→ capture logs</a:t>
            </a:r>
            <a:endParaRPr lang="en-US" sz="900" dirty="0"/>
          </a:p>
        </p:txBody>
      </p:sp>
      <p:sp>
        <p:nvSpPr>
          <p:cNvPr id="45" name="Shape 43"/>
          <p:cNvSpPr/>
          <p:nvPr/>
        </p:nvSpPr>
        <p:spPr>
          <a:xfrm>
            <a:off x="6163056" y="3200400"/>
            <a:ext cx="1298448" cy="1463040"/>
          </a:xfrm>
          <a:prstGeom prst="rect">
            <a:avLst/>
          </a:prstGeom>
          <a:solidFill>
            <a:srgbClr val="1E2D3D"/>
          </a:solidFill>
          <a:ln w="12700">
            <a:solidFill>
              <a:srgbClr val="0E9AA7"/>
            </a:solidFill>
            <a:prstDash val="solid"/>
          </a:ln>
        </p:spPr>
      </p:sp>
      <p:sp>
        <p:nvSpPr>
          <p:cNvPr id="46" name="Text 44"/>
          <p:cNvSpPr/>
          <p:nvPr/>
        </p:nvSpPr>
        <p:spPr>
          <a:xfrm>
            <a:off x="6227064" y="3255264"/>
            <a:ext cx="1170432" cy="1353312"/>
          </a:xfrm>
          <a:prstGeom prst="rect">
            <a:avLst/>
          </a:prstGeom>
          <a:noFill/>
          <a:ln/>
        </p:spPr>
        <p:txBody>
          <a:bodyPr wrap="square" rtlCol="0" anchor="ctr"/>
          <a:lstStyle/>
          <a:p>
            <a:pPr algn="ctr" indent="0" marL="0">
              <a:buNone/>
            </a:pPr>
            <a:r>
              <a:rPr lang="en-US" sz="900" dirty="0">
                <a:solidFill>
                  <a:srgbClr val="00D9A5"/>
                </a:solidFill>
                <a:latin typeface="Consolas" pitchFamily="34" charset="0"/>
                <a:ea typeface="Consolas" pitchFamily="34" charset="-122"/>
                <a:cs typeface="Consolas" pitchFamily="34" charset="-120"/>
              </a:rPr>
              <a:t>execv(command)</a:t>
            </a:r>
            <a:endParaRPr lang="en-US" sz="900" dirty="0"/>
          </a:p>
          <a:p>
            <a:pPr algn="ctr" indent="0" marL="0">
              <a:buNone/>
            </a:pPr>
            <a:r>
              <a:rPr lang="en-US" sz="900" dirty="0">
                <a:solidFill>
                  <a:srgbClr val="00D9A5"/>
                </a:solidFill>
                <a:latin typeface="Consolas" pitchFamily="34" charset="0"/>
                <a:ea typeface="Consolas" pitchFamily="34" charset="-122"/>
                <a:cs typeface="Consolas" pitchFamily="34" charset="-120"/>
              </a:rPr>
              <a:t>→ run workload</a:t>
            </a:r>
            <a:endParaRPr lang="en-US" sz="900" dirty="0"/>
          </a:p>
        </p:txBody>
      </p:sp>
      <p:sp>
        <p:nvSpPr>
          <p:cNvPr id="47" name="Shape 45"/>
          <p:cNvSpPr/>
          <p:nvPr/>
        </p:nvSpPr>
        <p:spPr>
          <a:xfrm>
            <a:off x="7589520" y="3200400"/>
            <a:ext cx="1298448" cy="1463040"/>
          </a:xfrm>
          <a:prstGeom prst="rect">
            <a:avLst/>
          </a:prstGeom>
          <a:solidFill>
            <a:srgbClr val="1E2D3D"/>
          </a:solidFill>
          <a:ln w="12700">
            <a:solidFill>
              <a:srgbClr val="0E9AA7"/>
            </a:solidFill>
            <a:prstDash val="solid"/>
          </a:ln>
        </p:spPr>
      </p:sp>
      <p:sp>
        <p:nvSpPr>
          <p:cNvPr id="48" name="Text 46"/>
          <p:cNvSpPr/>
          <p:nvPr/>
        </p:nvSpPr>
        <p:spPr>
          <a:xfrm>
            <a:off x="7653528" y="3255264"/>
            <a:ext cx="1170432" cy="1353312"/>
          </a:xfrm>
          <a:prstGeom prst="rect">
            <a:avLst/>
          </a:prstGeom>
          <a:noFill/>
          <a:ln/>
        </p:spPr>
        <p:txBody>
          <a:bodyPr wrap="square" rtlCol="0" anchor="ctr"/>
          <a:lstStyle/>
          <a:p>
            <a:pPr algn="ctr" indent="0" marL="0">
              <a:buNone/>
            </a:pPr>
            <a:r>
              <a:rPr lang="en-US" sz="900" dirty="0">
                <a:solidFill>
                  <a:srgbClr val="00D9A5"/>
                </a:solidFill>
                <a:latin typeface="Consolas" pitchFamily="34" charset="0"/>
                <a:ea typeface="Consolas" pitchFamily="34" charset="-122"/>
                <a:cs typeface="Consolas" pitchFamily="34" charset="-120"/>
              </a:rPr>
              <a:t>exit code /</a:t>
            </a:r>
            <a:endParaRPr lang="en-US" sz="900" dirty="0"/>
          </a:p>
          <a:p>
            <a:pPr algn="ctr" indent="0" marL="0">
              <a:buNone/>
            </a:pPr>
            <a:r>
              <a:rPr lang="en-US" sz="900" dirty="0">
                <a:solidFill>
                  <a:srgbClr val="00D9A5"/>
                </a:solidFill>
                <a:latin typeface="Consolas" pitchFamily="34" charset="0"/>
                <a:ea typeface="Consolas" pitchFamily="34" charset="-122"/>
                <a:cs typeface="Consolas" pitchFamily="34" charset="-120"/>
              </a:rPr>
              <a:t>SIGCHLD →</a:t>
            </a:r>
            <a:endParaRPr lang="en-US" sz="900" dirty="0"/>
          </a:p>
          <a:p>
            <a:pPr algn="ctr" indent="0" marL="0">
              <a:buNone/>
            </a:pPr>
            <a:r>
              <a:rPr lang="en-US" sz="900" dirty="0">
                <a:solidFill>
                  <a:srgbClr val="00D9A5"/>
                </a:solidFill>
                <a:latin typeface="Consolas" pitchFamily="34" charset="0"/>
                <a:ea typeface="Consolas" pitchFamily="34" charset="-122"/>
                <a:cs typeface="Consolas" pitchFamily="34" charset="-120"/>
              </a:rPr>
              <a:t>supervisor reaps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800" b="1" dirty="0">
                <a:solidFill>
                  <a:srgbClr val="1B2A3B"/>
                </a:solidFill>
                <a:latin typeface="Calibri" pitchFamily="34" charset="0"/>
                <a:ea typeface="Calibri" pitchFamily="34" charset="-122"/>
                <a:cs typeface="Calibri" pitchFamily="34" charset="-120"/>
              </a:rPr>
              <a:t>IPC Mechanisms: UNIX Sockets + Pipes</a:t>
            </a:r>
            <a:endParaRPr lang="en-US" sz="2800" dirty="0"/>
          </a:p>
        </p:txBody>
      </p:sp>
      <p:sp>
        <p:nvSpPr>
          <p:cNvPr id="3" name="Shape 1"/>
          <p:cNvSpPr/>
          <p:nvPr/>
        </p:nvSpPr>
        <p:spPr>
          <a:xfrm>
            <a:off x="457200" y="841248"/>
            <a:ext cx="1097280" cy="201168"/>
          </a:xfrm>
          <a:prstGeom prst="rect">
            <a:avLst/>
          </a:prstGeom>
          <a:solidFill>
            <a:srgbClr val="00D9A5"/>
          </a:solidFill>
          <a:ln w="12700">
            <a:solidFill>
              <a:srgbClr val="00D9A5"/>
            </a:solidFill>
            <a:prstDash val="solid"/>
          </a:ln>
        </p:spPr>
      </p:sp>
      <p:sp>
        <p:nvSpPr>
          <p:cNvPr id="4" name="Text 2"/>
          <p:cNvSpPr/>
          <p:nvPr/>
        </p:nvSpPr>
        <p:spPr>
          <a:xfrm>
            <a:off x="457200" y="841248"/>
            <a:ext cx="1097280" cy="201168"/>
          </a:xfrm>
          <a:prstGeom prst="rect">
            <a:avLst/>
          </a:prstGeom>
          <a:noFill/>
          <a:ln/>
        </p:spPr>
        <p:txBody>
          <a:bodyPr wrap="square" lIns="0" tIns="0" rIns="0" bIns="0" rtlCol="0" anchor="ctr"/>
          <a:lstStyle/>
          <a:p>
            <a:pPr algn="ctr" indent="0" marL="0">
              <a:buNone/>
            </a:pPr>
            <a:r>
              <a:rPr lang="en-US" sz="800" b="1" dirty="0">
                <a:solidFill>
                  <a:srgbClr val="0D1B2A"/>
                </a:solidFill>
                <a:latin typeface="Calibri" pitchFamily="34" charset="0"/>
                <a:ea typeface="Calibri" pitchFamily="34" charset="-122"/>
                <a:cs typeface="Calibri" pitchFamily="34" charset="-120"/>
              </a:rPr>
              <a:t>IPC</a:t>
            </a:r>
            <a:endParaRPr lang="en-US" sz="800" dirty="0"/>
          </a:p>
        </p:txBody>
      </p:sp>
      <p:sp>
        <p:nvSpPr>
          <p:cNvPr id="5" name="Shape 3"/>
          <p:cNvSpPr/>
          <p:nvPr/>
        </p:nvSpPr>
        <p:spPr>
          <a:xfrm>
            <a:off x="457200" y="777240"/>
            <a:ext cx="8229600" cy="22860"/>
          </a:xfrm>
          <a:prstGeom prst="rect">
            <a:avLst/>
          </a:prstGeom>
          <a:solidFill>
            <a:srgbClr val="0E9AA7"/>
          </a:solidFill>
          <a:ln w="12700">
            <a:solidFill>
              <a:srgbClr val="0E9AA7"/>
            </a:solidFill>
            <a:prstDash val="solid"/>
          </a:ln>
        </p:spPr>
      </p:sp>
      <p:sp>
        <p:nvSpPr>
          <p:cNvPr id="6" name="Shape 4"/>
          <p:cNvSpPr/>
          <p:nvPr/>
        </p:nvSpPr>
        <p:spPr>
          <a:xfrm>
            <a:off x="365760" y="960120"/>
            <a:ext cx="3931920" cy="2468880"/>
          </a:xfrm>
          <a:prstGeom prst="rect">
            <a:avLst/>
          </a:prstGeom>
          <a:solidFill>
            <a:srgbClr val="FFFFFF"/>
          </a:solidFill>
          <a:ln w="12700">
            <a:solidFill>
              <a:srgbClr val="D6E3EE"/>
            </a:solidFill>
            <a:prstDash val="solid"/>
          </a:ln>
          <a:effectLst>
            <a:outerShdw sx="100000" sy="100000" kx="0" ky="0" algn="bl" rotWithShape="0" blurRad="63500" dist="25400" dir="8100000">
              <a:srgbClr val="000000">
                <a:alpha val="10000"/>
              </a:srgbClr>
            </a:outerShdw>
          </a:effectLst>
        </p:spPr>
      </p:sp>
      <p:sp>
        <p:nvSpPr>
          <p:cNvPr id="7" name="Shape 5"/>
          <p:cNvSpPr/>
          <p:nvPr/>
        </p:nvSpPr>
        <p:spPr>
          <a:xfrm>
            <a:off x="365760" y="960120"/>
            <a:ext cx="54864" cy="2468880"/>
          </a:xfrm>
          <a:prstGeom prst="rect">
            <a:avLst/>
          </a:prstGeom>
          <a:solidFill>
            <a:srgbClr val="0E9AA7"/>
          </a:solidFill>
          <a:ln w="12700">
            <a:solidFill>
              <a:srgbClr val="0E9AA7"/>
            </a:solidFill>
            <a:prstDash val="solid"/>
          </a:ln>
        </p:spPr>
      </p:sp>
      <p:sp>
        <p:nvSpPr>
          <p:cNvPr id="8" name="Text 6"/>
          <p:cNvSpPr/>
          <p:nvPr/>
        </p:nvSpPr>
        <p:spPr>
          <a:xfrm>
            <a:off x="493776" y="1024128"/>
            <a:ext cx="3730752" cy="256032"/>
          </a:xfrm>
          <a:prstGeom prst="rect">
            <a:avLst/>
          </a:prstGeom>
          <a:noFill/>
          <a:ln/>
        </p:spPr>
        <p:txBody>
          <a:bodyPr wrap="square" lIns="0" tIns="0" rIns="0" bIns="0" rtlCol="0" anchor="ctr"/>
          <a:lstStyle/>
          <a:p>
            <a:pPr indent="0" marL="0">
              <a:buNone/>
            </a:pPr>
            <a:r>
              <a:rPr lang="en-US" sz="1100" b="1" dirty="0">
                <a:solidFill>
                  <a:srgbClr val="0E9AA7"/>
                </a:solidFill>
                <a:latin typeface="Calibri" pitchFamily="34" charset="0"/>
                <a:ea typeface="Calibri" pitchFamily="34" charset="-122"/>
                <a:cs typeface="Calibri" pitchFamily="34" charset="-120"/>
              </a:rPr>
              <a:t>Control Plane — UNIX Domain Socket</a:t>
            </a:r>
            <a:endParaRPr lang="en-US" sz="1100" dirty="0"/>
          </a:p>
        </p:txBody>
      </p:sp>
      <p:sp>
        <p:nvSpPr>
          <p:cNvPr id="9" name="Text 7"/>
          <p:cNvSpPr/>
          <p:nvPr/>
        </p:nvSpPr>
        <p:spPr>
          <a:xfrm>
            <a:off x="493776" y="1280160"/>
            <a:ext cx="3730752" cy="2084832"/>
          </a:xfrm>
          <a:prstGeom prst="rect">
            <a:avLst/>
          </a:prstGeom>
          <a:noFill/>
          <a:ln/>
        </p:spPr>
        <p:txBody>
          <a:bodyPr wrap="square" lIns="0" tIns="0" rIns="0" bIns="0" rtlCol="0" anchor="t"/>
          <a:lstStyle/>
          <a:p>
            <a:pPr indent="0" marL="0">
              <a:buNone/>
            </a:pPr>
            <a:r>
              <a:rPr lang="en-US" sz="1050" dirty="0">
                <a:solidFill>
                  <a:srgbClr val="1B2A3B"/>
                </a:solidFill>
                <a:latin typeface="Calibri" pitchFamily="34" charset="0"/>
                <a:ea typeface="Calibri" pitchFamily="34" charset="-122"/>
                <a:cs typeface="Calibri" pitchFamily="34" charset="-120"/>
              </a:rPr>
              <a:t>/tmp/mini_runtime.sock</a:t>
            </a:r>
            <a:endParaRPr lang="en-US" sz="1050" dirty="0"/>
          </a:p>
          <a:p>
            <a:pPr indent="0" marL="0">
              <a:buNone/>
            </a:pPr>
            <a:endParaRPr lang="en-US" sz="1050" dirty="0"/>
          </a:p>
          <a:p>
            <a:pPr indent="0" marL="0">
              <a:buNone/>
            </a:pPr>
            <a:r>
              <a:rPr lang="en-US" sz="1050" dirty="0">
                <a:solidFill>
                  <a:srgbClr val="1B2A3B"/>
                </a:solidFill>
                <a:latin typeface="Calibri" pitchFamily="34" charset="0"/>
                <a:ea typeface="Calibri" pitchFamily="34" charset="-122"/>
                <a:cs typeface="Calibri" pitchFamily="34" charset="-120"/>
              </a:rPr>
              <a:t>CLI → Supervisor: control_request_t</a:t>
            </a:r>
            <a:endParaRPr lang="en-US" sz="1050" dirty="0"/>
          </a:p>
          <a:p>
            <a:pPr indent="0" marL="0">
              <a:buNone/>
            </a:pPr>
            <a:r>
              <a:rPr lang="en-US" sz="1050" dirty="0">
                <a:solidFill>
                  <a:srgbClr val="1B2A3B"/>
                </a:solidFill>
                <a:latin typeface="Calibri" pitchFamily="34" charset="0"/>
                <a:ea typeface="Calibri" pitchFamily="34" charset="-122"/>
                <a:cs typeface="Calibri" pitchFamily="34" charset="-120"/>
              </a:rPr>
              <a:t>Supervisor → CLI: control_response_t</a:t>
            </a:r>
            <a:endParaRPr lang="en-US" sz="1050" dirty="0"/>
          </a:p>
          <a:p>
            <a:pPr indent="0" marL="0">
              <a:buNone/>
            </a:pPr>
            <a:endParaRPr lang="en-US" sz="1050" dirty="0"/>
          </a:p>
          <a:p>
            <a:pPr indent="0" marL="0">
              <a:buNone/>
            </a:pPr>
            <a:r>
              <a:rPr lang="en-US" sz="1050" dirty="0">
                <a:solidFill>
                  <a:srgbClr val="1B2A3B"/>
                </a:solidFill>
                <a:latin typeface="Calibri" pitchFamily="34" charset="0"/>
                <a:ea typeface="Calibri" pitchFamily="34" charset="-122"/>
                <a:cs typeface="Calibri" pitchFamily="34" charset="-120"/>
              </a:rPr>
              <a:t>Sequential request/response</a:t>
            </a:r>
            <a:endParaRPr lang="en-US" sz="1050" dirty="0"/>
          </a:p>
          <a:p>
            <a:pPr indent="0" marL="0">
              <a:buNone/>
            </a:pPr>
            <a:r>
              <a:rPr lang="en-US" sz="1050" dirty="0">
                <a:solidFill>
                  <a:srgbClr val="1B2A3B"/>
                </a:solidFill>
                <a:latin typeface="Calibri" pitchFamily="34" charset="0"/>
                <a:ea typeface="Calibri" pitchFamily="34" charset="-122"/>
                <a:cs typeface="Calibri" pitchFamily="34" charset="-120"/>
              </a:rPr>
              <a:t>One connection per command</a:t>
            </a:r>
            <a:endParaRPr lang="en-US" sz="1050" dirty="0"/>
          </a:p>
          <a:p>
            <a:pPr indent="0" marL="0">
              <a:buNone/>
            </a:pPr>
            <a:r>
              <a:rPr lang="en-US" sz="1050" dirty="0">
                <a:solidFill>
                  <a:srgbClr val="1B2A3B"/>
                </a:solidFill>
                <a:latin typeface="Calibri" pitchFamily="34" charset="0"/>
                <a:ea typeface="Calibri" pitchFamily="34" charset="-122"/>
                <a:cs typeface="Calibri" pitchFamily="34" charset="-120"/>
              </a:rPr>
              <a:t>Atomic message delivery</a:t>
            </a:r>
            <a:endParaRPr lang="en-US" sz="1050" dirty="0"/>
          </a:p>
          <a:p>
            <a:pPr indent="0" marL="0">
              <a:buNone/>
            </a:pPr>
            <a:r>
              <a:rPr lang="en-US" sz="1050" dirty="0">
                <a:solidFill>
                  <a:srgbClr val="1B2A3B"/>
                </a:solidFill>
                <a:latin typeface="Calibri" pitchFamily="34" charset="0"/>
                <a:ea typeface="Calibri" pitchFamily="34" charset="-122"/>
                <a:cs typeface="Calibri" pitchFamily="34" charset="-120"/>
              </a:rPr>
              <a:t>No TCP overhead — same host IPC</a:t>
            </a:r>
            <a:endParaRPr lang="en-US" sz="1050" dirty="0"/>
          </a:p>
        </p:txBody>
      </p:sp>
      <p:sp>
        <p:nvSpPr>
          <p:cNvPr id="10" name="Shape 8"/>
          <p:cNvSpPr/>
          <p:nvPr/>
        </p:nvSpPr>
        <p:spPr>
          <a:xfrm>
            <a:off x="4480560" y="960120"/>
            <a:ext cx="4297680" cy="2468880"/>
          </a:xfrm>
          <a:prstGeom prst="rect">
            <a:avLst/>
          </a:prstGeom>
          <a:solidFill>
            <a:srgbClr val="FFFFFF"/>
          </a:solidFill>
          <a:ln w="12700">
            <a:solidFill>
              <a:srgbClr val="D6E3EE"/>
            </a:solidFill>
            <a:prstDash val="solid"/>
          </a:ln>
          <a:effectLst>
            <a:outerShdw sx="100000" sy="100000" kx="0" ky="0" algn="bl" rotWithShape="0" blurRad="63500" dist="25400" dir="8100000">
              <a:srgbClr val="000000">
                <a:alpha val="10000"/>
              </a:srgbClr>
            </a:outerShdw>
          </a:effectLst>
        </p:spPr>
      </p:sp>
      <p:sp>
        <p:nvSpPr>
          <p:cNvPr id="11" name="Shape 9"/>
          <p:cNvSpPr/>
          <p:nvPr/>
        </p:nvSpPr>
        <p:spPr>
          <a:xfrm>
            <a:off x="4480560" y="960120"/>
            <a:ext cx="54864" cy="2468880"/>
          </a:xfrm>
          <a:prstGeom prst="rect">
            <a:avLst/>
          </a:prstGeom>
          <a:solidFill>
            <a:srgbClr val="F5A623"/>
          </a:solidFill>
          <a:ln w="12700">
            <a:solidFill>
              <a:srgbClr val="F5A623"/>
            </a:solidFill>
            <a:prstDash val="solid"/>
          </a:ln>
        </p:spPr>
      </p:sp>
      <p:sp>
        <p:nvSpPr>
          <p:cNvPr id="12" name="Text 10"/>
          <p:cNvSpPr/>
          <p:nvPr/>
        </p:nvSpPr>
        <p:spPr>
          <a:xfrm>
            <a:off x="4608576" y="1024128"/>
            <a:ext cx="4096512" cy="256032"/>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Data Plane — Anonymous Pipes</a:t>
            </a:r>
            <a:endParaRPr lang="en-US" sz="1100" dirty="0"/>
          </a:p>
        </p:txBody>
      </p:sp>
      <p:sp>
        <p:nvSpPr>
          <p:cNvPr id="13" name="Text 11"/>
          <p:cNvSpPr/>
          <p:nvPr/>
        </p:nvSpPr>
        <p:spPr>
          <a:xfrm>
            <a:off x="4608576" y="1280160"/>
            <a:ext cx="4096512" cy="2084832"/>
          </a:xfrm>
          <a:prstGeom prst="rect">
            <a:avLst/>
          </a:prstGeom>
          <a:noFill/>
          <a:ln/>
        </p:spPr>
        <p:txBody>
          <a:bodyPr wrap="square" lIns="0" tIns="0" rIns="0" bIns="0" rtlCol="0" anchor="t"/>
          <a:lstStyle/>
          <a:p>
            <a:pPr indent="0" marL="0">
              <a:buNone/>
            </a:pPr>
            <a:r>
              <a:rPr lang="en-US" sz="1050" dirty="0">
                <a:solidFill>
                  <a:srgbClr val="1B2A3B"/>
                </a:solidFill>
                <a:latin typeface="Calibri" pitchFamily="34" charset="0"/>
                <a:ea typeface="Calibri" pitchFamily="34" charset="-122"/>
                <a:cs typeface="Calibri" pitchFamily="34" charset="-120"/>
              </a:rPr>
              <a:t>pipe(log_pipe_fds)</a:t>
            </a:r>
            <a:endParaRPr lang="en-US" sz="1050" dirty="0"/>
          </a:p>
          <a:p>
            <a:pPr indent="0" marL="0">
              <a:buNone/>
            </a:pPr>
            <a:endParaRPr lang="en-US" sz="1050" dirty="0"/>
          </a:p>
          <a:p>
            <a:pPr indent="0" marL="0">
              <a:buNone/>
            </a:pPr>
            <a:r>
              <a:rPr lang="en-US" sz="1050" dirty="0">
                <a:solidFill>
                  <a:srgbClr val="1B2A3B"/>
                </a:solidFill>
                <a:latin typeface="Calibri" pitchFamily="34" charset="0"/>
                <a:ea typeface="Calibri" pitchFamily="34" charset="-122"/>
                <a:cs typeface="Calibri" pitchFamily="34" charset="-120"/>
              </a:rPr>
              <a:t>Parent: reads log_pipe_fds[0]</a:t>
            </a:r>
            <a:endParaRPr lang="en-US" sz="1050" dirty="0"/>
          </a:p>
          <a:p>
            <a:pPr indent="0" marL="0">
              <a:buNone/>
            </a:pPr>
            <a:r>
              <a:rPr lang="en-US" sz="1050" dirty="0">
                <a:solidFill>
                  <a:srgbClr val="1B2A3B"/>
                </a:solidFill>
                <a:latin typeface="Calibri" pitchFamily="34" charset="0"/>
                <a:ea typeface="Calibri" pitchFamily="34" charset="-122"/>
                <a:cs typeface="Calibri" pitchFamily="34" charset="-120"/>
              </a:rPr>
              <a:t>Child: writes to log_pipe_fds[1]</a:t>
            </a:r>
            <a:endParaRPr lang="en-US" sz="1050" dirty="0"/>
          </a:p>
          <a:p>
            <a:pPr indent="0" marL="0">
              <a:buNone/>
            </a:pPr>
            <a:endParaRPr lang="en-US" sz="1050" dirty="0"/>
          </a:p>
          <a:p>
            <a:pPr indent="0" marL="0">
              <a:buNone/>
            </a:pPr>
            <a:r>
              <a:rPr lang="en-US" sz="1050" dirty="0">
                <a:solidFill>
                  <a:srgbClr val="1B2A3B"/>
                </a:solidFill>
                <a:latin typeface="Calibri" pitchFamily="34" charset="0"/>
                <a:ea typeface="Calibri" pitchFamily="34" charset="-122"/>
                <a:cs typeface="Calibri" pitchFamily="34" charset="-120"/>
              </a:rPr>
              <a:t>Created before clone() call</a:t>
            </a:r>
            <a:endParaRPr lang="en-US" sz="1050" dirty="0"/>
          </a:p>
          <a:p>
            <a:pPr indent="0" marL="0">
              <a:buNone/>
            </a:pPr>
            <a:r>
              <a:rPr lang="en-US" sz="1050" dirty="0">
                <a:solidFill>
                  <a:srgbClr val="1B2A3B"/>
                </a:solidFill>
                <a:latin typeface="Calibri" pitchFamily="34" charset="0"/>
                <a:ea typeface="Calibri" pitchFamily="34" charset="-122"/>
                <a:cs typeface="Calibri" pitchFamily="34" charset="-120"/>
              </a:rPr>
              <a:t>Child inherits write end in child_fn</a:t>
            </a:r>
            <a:endParaRPr lang="en-US" sz="1050" dirty="0"/>
          </a:p>
          <a:p>
            <a:pPr indent="0" marL="0">
              <a:buNone/>
            </a:pPr>
            <a:r>
              <a:rPr lang="en-US" sz="1050" dirty="0">
                <a:solidFill>
                  <a:srgbClr val="1B2A3B"/>
                </a:solidFill>
                <a:latin typeface="Calibri" pitchFamily="34" charset="0"/>
                <a:ea typeface="Calibri" pitchFamily="34" charset="-122"/>
                <a:cs typeface="Calibri" pitchFamily="34" charset="-120"/>
              </a:rPr>
              <a:t>Parent reads in a dedicated thread</a:t>
            </a:r>
            <a:endParaRPr lang="en-US" sz="1050" dirty="0"/>
          </a:p>
          <a:p>
            <a:pPr indent="0" marL="0">
              <a:buNone/>
            </a:pPr>
            <a:r>
              <a:rPr lang="en-US" sz="1050" dirty="0">
                <a:solidFill>
                  <a:srgbClr val="1B2A3B"/>
                </a:solidFill>
                <a:latin typeface="Calibri" pitchFamily="34" charset="0"/>
                <a:ea typeface="Calibri" pitchFamily="34" charset="-122"/>
                <a:cs typeface="Calibri" pitchFamily="34" charset="-120"/>
              </a:rPr>
              <a:t>Feeds into the bounded buffer (producer)</a:t>
            </a:r>
            <a:endParaRPr lang="en-US" sz="1050" dirty="0"/>
          </a:p>
        </p:txBody>
      </p:sp>
      <p:sp>
        <p:nvSpPr>
          <p:cNvPr id="14" name="Shape 12"/>
          <p:cNvSpPr/>
          <p:nvPr/>
        </p:nvSpPr>
        <p:spPr>
          <a:xfrm>
            <a:off x="365760" y="3566160"/>
            <a:ext cx="8412480" cy="1325880"/>
          </a:xfrm>
          <a:prstGeom prst="rect">
            <a:avLst/>
          </a:prstGeom>
          <a:solidFill>
            <a:srgbClr val="EAF6FF"/>
          </a:solidFill>
          <a:ln w="12700">
            <a:solidFill>
              <a:srgbClr val="0E9AA7"/>
            </a:solidFill>
            <a:prstDash val="solid"/>
          </a:ln>
        </p:spPr>
      </p:sp>
      <p:sp>
        <p:nvSpPr>
          <p:cNvPr id="15" name="Text 13"/>
          <p:cNvSpPr/>
          <p:nvPr/>
        </p:nvSpPr>
        <p:spPr>
          <a:xfrm>
            <a:off x="548640" y="3611880"/>
            <a:ext cx="5486400" cy="256032"/>
          </a:xfrm>
          <a:prstGeom prst="rect">
            <a:avLst/>
          </a:prstGeom>
          <a:noFill/>
          <a:ln/>
        </p:spPr>
        <p:txBody>
          <a:bodyPr wrap="square" lIns="0" tIns="0" rIns="0" bIns="0" rtlCol="0" anchor="ctr"/>
          <a:lstStyle/>
          <a:p>
            <a:pPr indent="0" marL="0">
              <a:buNone/>
            </a:pPr>
            <a:r>
              <a:rPr lang="en-US" sz="1200" b="1" dirty="0">
                <a:solidFill>
                  <a:srgbClr val="0E9AA7"/>
                </a:solidFill>
                <a:latin typeface="Calibri" pitchFamily="34" charset="0"/>
                <a:ea typeface="Calibri" pitchFamily="34" charset="-122"/>
                <a:cs typeface="Calibri" pitchFamily="34" charset="-120"/>
              </a:rPr>
              <a:t>Why Two Separate IPC Channels?</a:t>
            </a:r>
            <a:endParaRPr lang="en-US" sz="1200" dirty="0"/>
          </a:p>
        </p:txBody>
      </p:sp>
      <p:sp>
        <p:nvSpPr>
          <p:cNvPr id="16" name="Text 14"/>
          <p:cNvSpPr/>
          <p:nvPr/>
        </p:nvSpPr>
        <p:spPr>
          <a:xfrm>
            <a:off x="548640" y="3886200"/>
            <a:ext cx="8138160" cy="914400"/>
          </a:xfrm>
          <a:prstGeom prst="rect">
            <a:avLst/>
          </a:prstGeom>
          <a:noFill/>
          <a:ln/>
        </p:spPr>
        <p:txBody>
          <a:bodyPr wrap="square" lIns="50800" tIns="50800" rIns="50800" bIns="50800" rtlCol="0" anchor="t"/>
          <a:lstStyle/>
          <a:p>
            <a:pPr marL="342900" indent="-342900">
              <a:buSzPct val="100000"/>
              <a:buChar char="•"/>
            </a:pPr>
            <a:r>
              <a:rPr lang="en-US" sz="1100" b="1" dirty="0">
                <a:solidFill>
                  <a:srgbClr val="1B2A3B"/>
                </a:solidFill>
                <a:latin typeface="Calibri" pitchFamily="34" charset="0"/>
                <a:ea typeface="Calibri" pitchFamily="34" charset="-122"/>
                <a:cs typeface="Calibri" pitchFamily="34" charset="-120"/>
              </a:rPr>
              <a:t>Control-plane (socket):</a:t>
            </a:r>
            <a:endParaRPr lang="en-US" sz="1100" dirty="0"/>
          </a:p>
          <a:p>
            <a:pPr lvl="1" marL="508000" indent="-254000">
              <a:buSzPct val="100000"/>
              <a:buChar char="•"/>
            </a:pPr>
            <a:r>
              <a:rPr lang="en-US" sz="1100" dirty="0">
                <a:solidFill>
                  <a:srgbClr val="1B2A3B"/>
                </a:solidFill>
                <a:latin typeface="Calibri" pitchFamily="34" charset="0"/>
                <a:ea typeface="Calibri" pitchFamily="34" charset="-122"/>
                <a:cs typeface="Calibri" pitchFamily="34" charset="-120"/>
              </a:rPr>
              <a:t>Low-frequency, bidirectional, needs response — UNIX socket is ideal</a:t>
            </a:r>
            <a:endParaRPr lang="en-US" sz="1100" dirty="0"/>
          </a:p>
          <a:p>
            <a:pPr marL="342900" indent="-342900">
              <a:buSzPct val="100000"/>
              <a:buChar char="•"/>
            </a:pPr>
            <a:r>
              <a:rPr lang="en-US" sz="1100" b="1" dirty="0">
                <a:solidFill>
                  <a:srgbClr val="1B2A3B"/>
                </a:solidFill>
                <a:latin typeface="Calibri" pitchFamily="34" charset="0"/>
                <a:ea typeface="Calibri" pitchFamily="34" charset="-122"/>
                <a:cs typeface="Calibri" pitchFamily="34" charset="-120"/>
              </a:rPr>
              <a:t>Data-plane (pipe):</a:t>
            </a:r>
            <a:endParaRPr lang="en-US" sz="1100" dirty="0"/>
          </a:p>
          <a:p>
            <a:pPr lvl="1" marL="508000" indent="-254000">
              <a:buSzPct val="100000"/>
              <a:buChar char="•"/>
            </a:pPr>
            <a:r>
              <a:rPr lang="en-US" sz="1100" dirty="0">
                <a:solidFill>
                  <a:srgbClr val="1B2A3B"/>
                </a:solidFill>
                <a:latin typeface="Calibri" pitchFamily="34" charset="0"/>
                <a:ea typeface="Calibri" pitchFamily="34" charset="-122"/>
                <a:cs typeface="Calibri" pitchFamily="34" charset="-120"/>
              </a:rPr>
              <a:t>Continuous unidirectional stream from child stdout — pipe is simpler and avoids framing overhead</a:t>
            </a:r>
            <a:endParaRPr lang="en-US" sz="1100" dirty="0"/>
          </a:p>
          <a:p>
            <a:pPr marL="342900" indent="-342900">
              <a:buSzPct val="100000"/>
              <a:buChar char="•"/>
            </a:pPr>
            <a:r>
              <a:rPr lang="en-US" sz="1100" b="1" dirty="0">
                <a:solidFill>
                  <a:srgbClr val="007A5E"/>
                </a:solidFill>
                <a:latin typeface="Calibri" pitchFamily="34" charset="0"/>
                <a:ea typeface="Calibri" pitchFamily="34" charset="-122"/>
                <a:cs typeface="Calibri" pitchFamily="34" charset="-120"/>
              </a:rPr>
              <a:t>Separation of concerns ensures control commands never block due to log backpressure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3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Logging System: Bounded-Buffer Producer-Consumer</a:t>
            </a:r>
            <a:endParaRPr lang="en-US" sz="2800" dirty="0"/>
          </a:p>
        </p:txBody>
      </p:sp>
      <p:sp>
        <p:nvSpPr>
          <p:cNvPr id="3" name="Shape 1"/>
          <p:cNvSpPr/>
          <p:nvPr/>
        </p:nvSpPr>
        <p:spPr>
          <a:xfrm>
            <a:off x="457200" y="841248"/>
            <a:ext cx="1097280" cy="201168"/>
          </a:xfrm>
          <a:prstGeom prst="rect">
            <a:avLst/>
          </a:prstGeom>
          <a:solidFill>
            <a:srgbClr val="00D9A5"/>
          </a:solidFill>
          <a:ln w="12700">
            <a:solidFill>
              <a:srgbClr val="00D9A5"/>
            </a:solidFill>
            <a:prstDash val="solid"/>
          </a:ln>
        </p:spPr>
      </p:sp>
      <p:sp>
        <p:nvSpPr>
          <p:cNvPr id="4" name="Text 2"/>
          <p:cNvSpPr/>
          <p:nvPr/>
        </p:nvSpPr>
        <p:spPr>
          <a:xfrm>
            <a:off x="457200" y="841248"/>
            <a:ext cx="1097280" cy="201168"/>
          </a:xfrm>
          <a:prstGeom prst="rect">
            <a:avLst/>
          </a:prstGeom>
          <a:noFill/>
          <a:ln/>
        </p:spPr>
        <p:txBody>
          <a:bodyPr wrap="square" lIns="0" tIns="0" rIns="0" bIns="0" rtlCol="0" anchor="ctr"/>
          <a:lstStyle/>
          <a:p>
            <a:pPr algn="ctr" indent="0" marL="0">
              <a:buNone/>
            </a:pPr>
            <a:r>
              <a:rPr lang="en-US" sz="800" b="1" dirty="0">
                <a:solidFill>
                  <a:srgbClr val="0D1B2A"/>
                </a:solidFill>
                <a:latin typeface="Calibri" pitchFamily="34" charset="0"/>
                <a:ea typeface="Calibri" pitchFamily="34" charset="-122"/>
                <a:cs typeface="Calibri" pitchFamily="34" charset="-120"/>
              </a:rPr>
              <a:t>LOGGING</a:t>
            </a:r>
            <a:endParaRPr lang="en-US" sz="800" dirty="0"/>
          </a:p>
        </p:txBody>
      </p:sp>
      <p:sp>
        <p:nvSpPr>
          <p:cNvPr id="5" name="Shape 3"/>
          <p:cNvSpPr/>
          <p:nvPr/>
        </p:nvSpPr>
        <p:spPr>
          <a:xfrm>
            <a:off x="457200" y="777240"/>
            <a:ext cx="8229600" cy="22860"/>
          </a:xfrm>
          <a:prstGeom prst="rect">
            <a:avLst/>
          </a:prstGeom>
          <a:solidFill>
            <a:srgbClr val="00D9A5"/>
          </a:solidFill>
          <a:ln w="12700">
            <a:solidFill>
              <a:srgbClr val="00D9A5"/>
            </a:solidFill>
            <a:prstDash val="solid"/>
          </a:ln>
        </p:spPr>
      </p:sp>
      <p:sp>
        <p:nvSpPr>
          <p:cNvPr id="6" name="Text 4"/>
          <p:cNvSpPr/>
          <p:nvPr/>
        </p:nvSpPr>
        <p:spPr>
          <a:xfrm>
            <a:off x="457200" y="777240"/>
            <a:ext cx="7772400" cy="228600"/>
          </a:xfrm>
          <a:prstGeom prst="rect">
            <a:avLst/>
          </a:prstGeom>
          <a:noFill/>
          <a:ln/>
        </p:spPr>
        <p:txBody>
          <a:bodyPr wrap="square" lIns="0" tIns="0" rIns="0" bIns="0" rtlCol="0" anchor="ctr"/>
          <a:lstStyle/>
          <a:p>
            <a:pPr indent="0" marL="0">
              <a:buNone/>
            </a:pPr>
            <a:r>
              <a:rPr lang="en-US" sz="1000" b="1" dirty="0">
                <a:solidFill>
                  <a:srgbClr val="00D9A5"/>
                </a:solidFill>
                <a:latin typeface="Calibri" pitchFamily="34" charset="0"/>
                <a:ea typeface="Calibri" pitchFamily="34" charset="-122"/>
                <a:cs typeface="Calibri" pitchFamily="34" charset="-120"/>
              </a:rPr>
              <a:t>bounded_buffer_t  (capacity = 16 log_item_t slots)</a:t>
            </a:r>
            <a:endParaRPr lang="en-US" sz="1000" dirty="0"/>
          </a:p>
        </p:txBody>
      </p:sp>
      <p:sp>
        <p:nvSpPr>
          <p:cNvPr id="7" name="Shape 5"/>
          <p:cNvSpPr/>
          <p:nvPr/>
        </p:nvSpPr>
        <p:spPr>
          <a:xfrm>
            <a:off x="457200" y="1051560"/>
            <a:ext cx="438912" cy="411480"/>
          </a:xfrm>
          <a:prstGeom prst="rect">
            <a:avLst/>
          </a:prstGeom>
          <a:solidFill>
            <a:srgbClr val="162534"/>
          </a:solidFill>
          <a:ln w="12700">
            <a:solidFill>
              <a:srgbClr val="8FA3B1"/>
            </a:solidFill>
            <a:prstDash val="solid"/>
          </a:ln>
        </p:spPr>
      </p:sp>
      <p:sp>
        <p:nvSpPr>
          <p:cNvPr id="8" name="Shape 6"/>
          <p:cNvSpPr/>
          <p:nvPr/>
        </p:nvSpPr>
        <p:spPr>
          <a:xfrm>
            <a:off x="914400" y="1051560"/>
            <a:ext cx="438912" cy="411480"/>
          </a:xfrm>
          <a:prstGeom prst="rect">
            <a:avLst/>
          </a:prstGeom>
          <a:solidFill>
            <a:srgbClr val="162534"/>
          </a:solidFill>
          <a:ln w="12700">
            <a:solidFill>
              <a:srgbClr val="8FA3B1"/>
            </a:solidFill>
            <a:prstDash val="solid"/>
          </a:ln>
        </p:spPr>
      </p:sp>
      <p:sp>
        <p:nvSpPr>
          <p:cNvPr id="9" name="Shape 7"/>
          <p:cNvSpPr/>
          <p:nvPr/>
        </p:nvSpPr>
        <p:spPr>
          <a:xfrm>
            <a:off x="1371600" y="1051560"/>
            <a:ext cx="438912" cy="411480"/>
          </a:xfrm>
          <a:prstGeom prst="rect">
            <a:avLst/>
          </a:prstGeom>
          <a:solidFill>
            <a:srgbClr val="162534"/>
          </a:solidFill>
          <a:ln w="12700">
            <a:solidFill>
              <a:srgbClr val="8FA3B1"/>
            </a:solidFill>
            <a:prstDash val="solid"/>
          </a:ln>
        </p:spPr>
      </p:sp>
      <p:sp>
        <p:nvSpPr>
          <p:cNvPr id="10" name="Shape 8"/>
          <p:cNvSpPr/>
          <p:nvPr/>
        </p:nvSpPr>
        <p:spPr>
          <a:xfrm>
            <a:off x="1828800" y="1051560"/>
            <a:ext cx="438912" cy="411480"/>
          </a:xfrm>
          <a:prstGeom prst="rect">
            <a:avLst/>
          </a:prstGeom>
          <a:solidFill>
            <a:srgbClr val="162534"/>
          </a:solidFill>
          <a:ln w="12700">
            <a:solidFill>
              <a:srgbClr val="8FA3B1"/>
            </a:solidFill>
            <a:prstDash val="solid"/>
          </a:ln>
        </p:spPr>
      </p:sp>
      <p:sp>
        <p:nvSpPr>
          <p:cNvPr id="11" name="Shape 9"/>
          <p:cNvSpPr/>
          <p:nvPr/>
        </p:nvSpPr>
        <p:spPr>
          <a:xfrm>
            <a:off x="2286000" y="1051560"/>
            <a:ext cx="438912" cy="411480"/>
          </a:xfrm>
          <a:prstGeom prst="rect">
            <a:avLst/>
          </a:prstGeom>
          <a:solidFill>
            <a:srgbClr val="007A5E"/>
          </a:solidFill>
          <a:ln w="12700">
            <a:solidFill>
              <a:srgbClr val="00D9A5"/>
            </a:solidFill>
            <a:prstDash val="solid"/>
          </a:ln>
        </p:spPr>
      </p:sp>
      <p:sp>
        <p:nvSpPr>
          <p:cNvPr id="12" name="Shape 10"/>
          <p:cNvSpPr/>
          <p:nvPr/>
        </p:nvSpPr>
        <p:spPr>
          <a:xfrm>
            <a:off x="2743200" y="1051560"/>
            <a:ext cx="438912" cy="411480"/>
          </a:xfrm>
          <a:prstGeom prst="rect">
            <a:avLst/>
          </a:prstGeom>
          <a:solidFill>
            <a:srgbClr val="007A5E"/>
          </a:solidFill>
          <a:ln w="12700">
            <a:solidFill>
              <a:srgbClr val="00D9A5"/>
            </a:solidFill>
            <a:prstDash val="solid"/>
          </a:ln>
        </p:spPr>
      </p:sp>
      <p:sp>
        <p:nvSpPr>
          <p:cNvPr id="13" name="Shape 11"/>
          <p:cNvSpPr/>
          <p:nvPr/>
        </p:nvSpPr>
        <p:spPr>
          <a:xfrm>
            <a:off x="3200400" y="1051560"/>
            <a:ext cx="438912" cy="411480"/>
          </a:xfrm>
          <a:prstGeom prst="rect">
            <a:avLst/>
          </a:prstGeom>
          <a:solidFill>
            <a:srgbClr val="007A5E"/>
          </a:solidFill>
          <a:ln w="12700">
            <a:solidFill>
              <a:srgbClr val="00D9A5"/>
            </a:solidFill>
            <a:prstDash val="solid"/>
          </a:ln>
        </p:spPr>
      </p:sp>
      <p:sp>
        <p:nvSpPr>
          <p:cNvPr id="14" name="Shape 12"/>
          <p:cNvSpPr/>
          <p:nvPr/>
        </p:nvSpPr>
        <p:spPr>
          <a:xfrm>
            <a:off x="3657600" y="1051560"/>
            <a:ext cx="438912" cy="411480"/>
          </a:xfrm>
          <a:prstGeom prst="rect">
            <a:avLst/>
          </a:prstGeom>
          <a:solidFill>
            <a:srgbClr val="007A5E"/>
          </a:solidFill>
          <a:ln w="12700">
            <a:solidFill>
              <a:srgbClr val="00D9A5"/>
            </a:solidFill>
            <a:prstDash val="solid"/>
          </a:ln>
        </p:spPr>
      </p:sp>
      <p:sp>
        <p:nvSpPr>
          <p:cNvPr id="15" name="Shape 13"/>
          <p:cNvSpPr/>
          <p:nvPr/>
        </p:nvSpPr>
        <p:spPr>
          <a:xfrm>
            <a:off x="4114800" y="1051560"/>
            <a:ext cx="438912" cy="411480"/>
          </a:xfrm>
          <a:prstGeom prst="rect">
            <a:avLst/>
          </a:prstGeom>
          <a:solidFill>
            <a:srgbClr val="007A5E"/>
          </a:solidFill>
          <a:ln w="12700">
            <a:solidFill>
              <a:srgbClr val="00D9A5"/>
            </a:solidFill>
            <a:prstDash val="solid"/>
          </a:ln>
        </p:spPr>
      </p:sp>
      <p:sp>
        <p:nvSpPr>
          <p:cNvPr id="16" name="Shape 14"/>
          <p:cNvSpPr/>
          <p:nvPr/>
        </p:nvSpPr>
        <p:spPr>
          <a:xfrm>
            <a:off x="4572000" y="1051560"/>
            <a:ext cx="438912" cy="411480"/>
          </a:xfrm>
          <a:prstGeom prst="rect">
            <a:avLst/>
          </a:prstGeom>
          <a:solidFill>
            <a:srgbClr val="007A5E"/>
          </a:solidFill>
          <a:ln w="12700">
            <a:solidFill>
              <a:srgbClr val="00D9A5"/>
            </a:solidFill>
            <a:prstDash val="solid"/>
          </a:ln>
        </p:spPr>
      </p:sp>
      <p:sp>
        <p:nvSpPr>
          <p:cNvPr id="17" name="Shape 15"/>
          <p:cNvSpPr/>
          <p:nvPr/>
        </p:nvSpPr>
        <p:spPr>
          <a:xfrm>
            <a:off x="5029200" y="1051560"/>
            <a:ext cx="438912" cy="411480"/>
          </a:xfrm>
          <a:prstGeom prst="rect">
            <a:avLst/>
          </a:prstGeom>
          <a:solidFill>
            <a:srgbClr val="007A5E"/>
          </a:solidFill>
          <a:ln w="12700">
            <a:solidFill>
              <a:srgbClr val="00D9A5"/>
            </a:solidFill>
            <a:prstDash val="solid"/>
          </a:ln>
        </p:spPr>
      </p:sp>
      <p:sp>
        <p:nvSpPr>
          <p:cNvPr id="18" name="Shape 16"/>
          <p:cNvSpPr/>
          <p:nvPr/>
        </p:nvSpPr>
        <p:spPr>
          <a:xfrm>
            <a:off x="5486400" y="1051560"/>
            <a:ext cx="438912" cy="411480"/>
          </a:xfrm>
          <a:prstGeom prst="rect">
            <a:avLst/>
          </a:prstGeom>
          <a:solidFill>
            <a:srgbClr val="162534"/>
          </a:solidFill>
          <a:ln w="12700">
            <a:solidFill>
              <a:srgbClr val="8FA3B1"/>
            </a:solidFill>
            <a:prstDash val="solid"/>
          </a:ln>
        </p:spPr>
      </p:sp>
      <p:sp>
        <p:nvSpPr>
          <p:cNvPr id="19" name="Shape 17"/>
          <p:cNvSpPr/>
          <p:nvPr/>
        </p:nvSpPr>
        <p:spPr>
          <a:xfrm>
            <a:off x="5943600" y="1051560"/>
            <a:ext cx="438912" cy="411480"/>
          </a:xfrm>
          <a:prstGeom prst="rect">
            <a:avLst/>
          </a:prstGeom>
          <a:solidFill>
            <a:srgbClr val="162534"/>
          </a:solidFill>
          <a:ln w="12700">
            <a:solidFill>
              <a:srgbClr val="8FA3B1"/>
            </a:solidFill>
            <a:prstDash val="solid"/>
          </a:ln>
        </p:spPr>
      </p:sp>
      <p:sp>
        <p:nvSpPr>
          <p:cNvPr id="20" name="Shape 18"/>
          <p:cNvSpPr/>
          <p:nvPr/>
        </p:nvSpPr>
        <p:spPr>
          <a:xfrm>
            <a:off x="6400800" y="1051560"/>
            <a:ext cx="438912" cy="411480"/>
          </a:xfrm>
          <a:prstGeom prst="rect">
            <a:avLst/>
          </a:prstGeom>
          <a:solidFill>
            <a:srgbClr val="162534"/>
          </a:solidFill>
          <a:ln w="12700">
            <a:solidFill>
              <a:srgbClr val="8FA3B1"/>
            </a:solidFill>
            <a:prstDash val="solid"/>
          </a:ln>
        </p:spPr>
      </p:sp>
      <p:sp>
        <p:nvSpPr>
          <p:cNvPr id="21" name="Shape 19"/>
          <p:cNvSpPr/>
          <p:nvPr/>
        </p:nvSpPr>
        <p:spPr>
          <a:xfrm>
            <a:off x="6858000" y="1051560"/>
            <a:ext cx="438912" cy="411480"/>
          </a:xfrm>
          <a:prstGeom prst="rect">
            <a:avLst/>
          </a:prstGeom>
          <a:solidFill>
            <a:srgbClr val="162534"/>
          </a:solidFill>
          <a:ln w="12700">
            <a:solidFill>
              <a:srgbClr val="8FA3B1"/>
            </a:solidFill>
            <a:prstDash val="solid"/>
          </a:ln>
        </p:spPr>
      </p:sp>
      <p:sp>
        <p:nvSpPr>
          <p:cNvPr id="22" name="Shape 20"/>
          <p:cNvSpPr/>
          <p:nvPr/>
        </p:nvSpPr>
        <p:spPr>
          <a:xfrm>
            <a:off x="7315200" y="1051560"/>
            <a:ext cx="438912" cy="411480"/>
          </a:xfrm>
          <a:prstGeom prst="rect">
            <a:avLst/>
          </a:prstGeom>
          <a:solidFill>
            <a:srgbClr val="162534"/>
          </a:solidFill>
          <a:ln w="12700">
            <a:solidFill>
              <a:srgbClr val="8FA3B1"/>
            </a:solidFill>
            <a:prstDash val="solid"/>
          </a:ln>
        </p:spPr>
      </p:sp>
      <p:sp>
        <p:nvSpPr>
          <p:cNvPr id="23" name="Text 21"/>
          <p:cNvSpPr/>
          <p:nvPr/>
        </p:nvSpPr>
        <p:spPr>
          <a:xfrm>
            <a:off x="2194560" y="1481328"/>
            <a:ext cx="640080" cy="182880"/>
          </a:xfrm>
          <a:prstGeom prst="rect">
            <a:avLst/>
          </a:prstGeom>
          <a:noFill/>
          <a:ln/>
        </p:spPr>
        <p:txBody>
          <a:bodyPr wrap="square" lIns="0" tIns="0" rIns="0" bIns="0" rtlCol="0" anchor="ctr"/>
          <a:lstStyle/>
          <a:p>
            <a:pPr indent="0" marL="0">
              <a:buNone/>
            </a:pPr>
            <a:r>
              <a:rPr lang="en-US" sz="800" dirty="0">
                <a:solidFill>
                  <a:srgbClr val="F5A623"/>
                </a:solidFill>
                <a:latin typeface="Calibri" pitchFamily="34" charset="0"/>
                <a:ea typeface="Calibri" pitchFamily="34" charset="-122"/>
                <a:cs typeface="Calibri" pitchFamily="34" charset="-120"/>
              </a:rPr>
              <a:t>HEAD</a:t>
            </a:r>
            <a:endParaRPr lang="en-US" sz="800" dirty="0"/>
          </a:p>
        </p:txBody>
      </p:sp>
      <p:sp>
        <p:nvSpPr>
          <p:cNvPr id="24" name="Text 22"/>
          <p:cNvSpPr/>
          <p:nvPr/>
        </p:nvSpPr>
        <p:spPr>
          <a:xfrm>
            <a:off x="5074920" y="1481328"/>
            <a:ext cx="640080" cy="182880"/>
          </a:xfrm>
          <a:prstGeom prst="rect">
            <a:avLst/>
          </a:prstGeom>
          <a:noFill/>
          <a:ln/>
        </p:spPr>
        <p:txBody>
          <a:bodyPr wrap="square" lIns="0" tIns="0" rIns="0" bIns="0" rtlCol="0" anchor="ctr"/>
          <a:lstStyle/>
          <a:p>
            <a:pPr indent="0" marL="0">
              <a:buNone/>
            </a:pPr>
            <a:r>
              <a:rPr lang="en-US" sz="800" dirty="0">
                <a:solidFill>
                  <a:srgbClr val="E63946"/>
                </a:solidFill>
                <a:latin typeface="Calibri" pitchFamily="34" charset="0"/>
                <a:ea typeface="Calibri" pitchFamily="34" charset="-122"/>
                <a:cs typeface="Calibri" pitchFamily="34" charset="-120"/>
              </a:rPr>
              <a:t>TAIL</a:t>
            </a:r>
            <a:endParaRPr lang="en-US" sz="800" dirty="0"/>
          </a:p>
        </p:txBody>
      </p:sp>
      <p:sp>
        <p:nvSpPr>
          <p:cNvPr id="25" name="Shape 23"/>
          <p:cNvSpPr/>
          <p:nvPr/>
        </p:nvSpPr>
        <p:spPr>
          <a:xfrm>
            <a:off x="365760" y="2011680"/>
            <a:ext cx="3200400" cy="1371600"/>
          </a:xfrm>
          <a:prstGeom prst="rect">
            <a:avLst/>
          </a:prstGeom>
          <a:solidFill>
            <a:srgbClr val="162534"/>
          </a:solidFill>
          <a:ln w="12700">
            <a:solidFill>
              <a:srgbClr val="0E9AA7"/>
            </a:solidFill>
            <a:prstDash val="solid"/>
          </a:ln>
        </p:spPr>
      </p:sp>
      <p:sp>
        <p:nvSpPr>
          <p:cNvPr id="26" name="Text 24"/>
          <p:cNvSpPr/>
          <p:nvPr/>
        </p:nvSpPr>
        <p:spPr>
          <a:xfrm>
            <a:off x="457200" y="2057400"/>
            <a:ext cx="3017520" cy="228600"/>
          </a:xfrm>
          <a:prstGeom prst="rect">
            <a:avLst/>
          </a:prstGeom>
          <a:noFill/>
          <a:ln/>
        </p:spPr>
        <p:txBody>
          <a:bodyPr wrap="square" lIns="0" tIns="0" rIns="0" bIns="0" rtlCol="0" anchor="ctr"/>
          <a:lstStyle/>
          <a:p>
            <a:pPr indent="0" marL="0">
              <a:buNone/>
            </a:pPr>
            <a:r>
              <a:rPr lang="en-US" sz="950" b="1" dirty="0">
                <a:solidFill>
                  <a:srgbClr val="0E9AA7"/>
                </a:solidFill>
                <a:latin typeface="Calibri" pitchFamily="34" charset="0"/>
                <a:ea typeface="Calibri" pitchFamily="34" charset="-122"/>
                <a:cs typeface="Calibri" pitchFamily="34" charset="-120"/>
              </a:rPr>
              <a:t>PRODUCER  (pipe reader thread)</a:t>
            </a:r>
            <a:endParaRPr lang="en-US" sz="950" dirty="0"/>
          </a:p>
        </p:txBody>
      </p:sp>
      <p:sp>
        <p:nvSpPr>
          <p:cNvPr id="27" name="Text 25"/>
          <p:cNvSpPr/>
          <p:nvPr/>
        </p:nvSpPr>
        <p:spPr>
          <a:xfrm>
            <a:off x="457200" y="2304288"/>
            <a:ext cx="3017520" cy="1005840"/>
          </a:xfrm>
          <a:prstGeom prst="rect">
            <a:avLst/>
          </a:prstGeom>
          <a:noFill/>
          <a:ln/>
        </p:spPr>
        <p:txBody>
          <a:bodyPr wrap="square" lIns="0" tIns="0" rIns="0" bIns="0" rtlCol="0" anchor="ctr"/>
          <a:lstStyle/>
          <a:p>
            <a:pPr indent="0" marL="0">
              <a:buNone/>
            </a:pPr>
            <a:r>
              <a:rPr lang="en-US" sz="850" dirty="0">
                <a:solidFill>
                  <a:srgbClr val="00D9A5"/>
                </a:solidFill>
                <a:latin typeface="Consolas" pitchFamily="34" charset="0"/>
                <a:ea typeface="Consolas" pitchFamily="34" charset="-122"/>
                <a:cs typeface="Consolas" pitchFamily="34" charset="-120"/>
              </a:rPr>
              <a:t>lock(mutex)</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while (count == CAPACITY)</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  wait(not_full)</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items[tail] = chunk</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tail = (tail+1) % CAP</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count++</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signal(not_empty)</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unlock(mutex)</a:t>
            </a:r>
            <a:endParaRPr lang="en-US" sz="850" dirty="0"/>
          </a:p>
        </p:txBody>
      </p:sp>
      <p:sp>
        <p:nvSpPr>
          <p:cNvPr id="28" name="Shape 26"/>
          <p:cNvSpPr/>
          <p:nvPr/>
        </p:nvSpPr>
        <p:spPr>
          <a:xfrm>
            <a:off x="5577840" y="2011680"/>
            <a:ext cx="3200400" cy="1371600"/>
          </a:xfrm>
          <a:prstGeom prst="rect">
            <a:avLst/>
          </a:prstGeom>
          <a:solidFill>
            <a:srgbClr val="162534"/>
          </a:solidFill>
          <a:ln w="12700">
            <a:solidFill>
              <a:srgbClr val="F5A623"/>
            </a:solidFill>
            <a:prstDash val="solid"/>
          </a:ln>
        </p:spPr>
      </p:sp>
      <p:sp>
        <p:nvSpPr>
          <p:cNvPr id="29" name="Text 27"/>
          <p:cNvSpPr/>
          <p:nvPr/>
        </p:nvSpPr>
        <p:spPr>
          <a:xfrm>
            <a:off x="5669280" y="2057400"/>
            <a:ext cx="3017520" cy="228600"/>
          </a:xfrm>
          <a:prstGeom prst="rect">
            <a:avLst/>
          </a:prstGeom>
          <a:noFill/>
          <a:ln/>
        </p:spPr>
        <p:txBody>
          <a:bodyPr wrap="square" lIns="0" tIns="0" rIns="0" bIns="0" rtlCol="0" anchor="ctr"/>
          <a:lstStyle/>
          <a:p>
            <a:pPr indent="0" marL="0">
              <a:buNone/>
            </a:pPr>
            <a:r>
              <a:rPr lang="en-US" sz="950" b="1" dirty="0">
                <a:solidFill>
                  <a:srgbClr val="F5A623"/>
                </a:solidFill>
                <a:latin typeface="Calibri" pitchFamily="34" charset="0"/>
                <a:ea typeface="Calibri" pitchFamily="34" charset="-122"/>
                <a:cs typeface="Calibri" pitchFamily="34" charset="-120"/>
              </a:rPr>
              <a:t>CONSUMER  (logging_thread)</a:t>
            </a:r>
            <a:endParaRPr lang="en-US" sz="950" dirty="0"/>
          </a:p>
        </p:txBody>
      </p:sp>
      <p:sp>
        <p:nvSpPr>
          <p:cNvPr id="30" name="Text 28"/>
          <p:cNvSpPr/>
          <p:nvPr/>
        </p:nvSpPr>
        <p:spPr>
          <a:xfrm>
            <a:off x="5669280" y="2304288"/>
            <a:ext cx="3017520" cy="1005840"/>
          </a:xfrm>
          <a:prstGeom prst="rect">
            <a:avLst/>
          </a:prstGeom>
          <a:noFill/>
          <a:ln/>
        </p:spPr>
        <p:txBody>
          <a:bodyPr wrap="square" lIns="0" tIns="0" rIns="0" bIns="0" rtlCol="0" anchor="ctr"/>
          <a:lstStyle/>
          <a:p>
            <a:pPr indent="0" marL="0">
              <a:buNone/>
            </a:pPr>
            <a:r>
              <a:rPr lang="en-US" sz="850" dirty="0">
                <a:solidFill>
                  <a:srgbClr val="F5A623"/>
                </a:solidFill>
                <a:latin typeface="Consolas" pitchFamily="34" charset="0"/>
                <a:ea typeface="Consolas" pitchFamily="34" charset="-122"/>
                <a:cs typeface="Consolas" pitchFamily="34" charset="-120"/>
              </a:rPr>
              <a:t>lock(mutex)</a:t>
            </a:r>
            <a:endParaRPr lang="en-US" sz="850" dirty="0"/>
          </a:p>
          <a:p>
            <a:pPr indent="0" marL="0">
              <a:buNone/>
            </a:pPr>
            <a:r>
              <a:rPr lang="en-US" sz="850" dirty="0">
                <a:solidFill>
                  <a:srgbClr val="F5A623"/>
                </a:solidFill>
                <a:latin typeface="Consolas" pitchFamily="34" charset="0"/>
                <a:ea typeface="Consolas" pitchFamily="34" charset="-122"/>
                <a:cs typeface="Consolas" pitchFamily="34" charset="-120"/>
              </a:rPr>
              <a:t>while (count == 0)</a:t>
            </a:r>
            <a:endParaRPr lang="en-US" sz="850" dirty="0"/>
          </a:p>
          <a:p>
            <a:pPr indent="0" marL="0">
              <a:buNone/>
            </a:pPr>
            <a:r>
              <a:rPr lang="en-US" sz="850" dirty="0">
                <a:solidFill>
                  <a:srgbClr val="F5A623"/>
                </a:solidFill>
                <a:latin typeface="Consolas" pitchFamily="34" charset="0"/>
                <a:ea typeface="Consolas" pitchFamily="34" charset="-122"/>
                <a:cs typeface="Consolas" pitchFamily="34" charset="-120"/>
              </a:rPr>
              <a:t>  wait(not_empty)</a:t>
            </a:r>
            <a:endParaRPr lang="en-US" sz="850" dirty="0"/>
          </a:p>
          <a:p>
            <a:pPr indent="0" marL="0">
              <a:buNone/>
            </a:pPr>
            <a:r>
              <a:rPr lang="en-US" sz="850" dirty="0">
                <a:solidFill>
                  <a:srgbClr val="F5A623"/>
                </a:solidFill>
                <a:latin typeface="Consolas" pitchFamily="34" charset="0"/>
                <a:ea typeface="Consolas" pitchFamily="34" charset="-122"/>
                <a:cs typeface="Consolas" pitchFamily="34" charset="-120"/>
              </a:rPr>
              <a:t>item = items[head]</a:t>
            </a:r>
            <a:endParaRPr lang="en-US" sz="850" dirty="0"/>
          </a:p>
          <a:p>
            <a:pPr indent="0" marL="0">
              <a:buNone/>
            </a:pPr>
            <a:r>
              <a:rPr lang="en-US" sz="850" dirty="0">
                <a:solidFill>
                  <a:srgbClr val="F5A623"/>
                </a:solidFill>
                <a:latin typeface="Consolas" pitchFamily="34" charset="0"/>
                <a:ea typeface="Consolas" pitchFamily="34" charset="-122"/>
                <a:cs typeface="Consolas" pitchFamily="34" charset="-120"/>
              </a:rPr>
              <a:t>head = (head+1) % CAP</a:t>
            </a:r>
            <a:endParaRPr lang="en-US" sz="850" dirty="0"/>
          </a:p>
          <a:p>
            <a:pPr indent="0" marL="0">
              <a:buNone/>
            </a:pPr>
            <a:r>
              <a:rPr lang="en-US" sz="850" dirty="0">
                <a:solidFill>
                  <a:srgbClr val="F5A623"/>
                </a:solidFill>
                <a:latin typeface="Consolas" pitchFamily="34" charset="0"/>
                <a:ea typeface="Consolas" pitchFamily="34" charset="-122"/>
                <a:cs typeface="Consolas" pitchFamily="34" charset="-120"/>
              </a:rPr>
              <a:t>count--</a:t>
            </a:r>
            <a:endParaRPr lang="en-US" sz="850" dirty="0"/>
          </a:p>
          <a:p>
            <a:pPr indent="0" marL="0">
              <a:buNone/>
            </a:pPr>
            <a:r>
              <a:rPr lang="en-US" sz="850" dirty="0">
                <a:solidFill>
                  <a:srgbClr val="F5A623"/>
                </a:solidFill>
                <a:latin typeface="Consolas" pitchFamily="34" charset="0"/>
                <a:ea typeface="Consolas" pitchFamily="34" charset="-122"/>
                <a:cs typeface="Consolas" pitchFamily="34" charset="-120"/>
              </a:rPr>
              <a:t>signal(not_full)</a:t>
            </a:r>
            <a:endParaRPr lang="en-US" sz="850" dirty="0"/>
          </a:p>
          <a:p>
            <a:pPr indent="0" marL="0">
              <a:buNone/>
            </a:pPr>
            <a:r>
              <a:rPr lang="en-US" sz="850" dirty="0">
                <a:solidFill>
                  <a:srgbClr val="F5A623"/>
                </a:solidFill>
                <a:latin typeface="Consolas" pitchFamily="34" charset="0"/>
                <a:ea typeface="Consolas" pitchFamily="34" charset="-122"/>
                <a:cs typeface="Consolas" pitchFamily="34" charset="-120"/>
              </a:rPr>
              <a:t>unlock(mutex)</a:t>
            </a:r>
            <a:endParaRPr lang="en-US" sz="850" dirty="0"/>
          </a:p>
        </p:txBody>
      </p:sp>
      <p:sp>
        <p:nvSpPr>
          <p:cNvPr id="31" name="Shape 29"/>
          <p:cNvSpPr/>
          <p:nvPr/>
        </p:nvSpPr>
        <p:spPr>
          <a:xfrm>
            <a:off x="3657600" y="2441448"/>
            <a:ext cx="1828800" cy="64008"/>
          </a:xfrm>
          <a:prstGeom prst="rect">
            <a:avLst/>
          </a:prstGeom>
          <a:solidFill>
            <a:srgbClr val="8FA3B1"/>
          </a:solidFill>
          <a:ln w="12700">
            <a:solidFill>
              <a:srgbClr val="8FA3B1"/>
            </a:solidFill>
            <a:prstDash val="solid"/>
          </a:ln>
        </p:spPr>
      </p:sp>
      <p:sp>
        <p:nvSpPr>
          <p:cNvPr id="32" name="Text 30"/>
          <p:cNvSpPr/>
          <p:nvPr/>
        </p:nvSpPr>
        <p:spPr>
          <a:xfrm>
            <a:off x="3657600" y="2331720"/>
            <a:ext cx="1828800" cy="182880"/>
          </a:xfrm>
          <a:prstGeom prst="rect">
            <a:avLst/>
          </a:prstGeom>
          <a:noFill/>
          <a:ln/>
        </p:spPr>
        <p:txBody>
          <a:bodyPr wrap="square" lIns="0" tIns="0" rIns="0" bIns="0" rtlCol="0" anchor="ctr"/>
          <a:lstStyle/>
          <a:p>
            <a:pPr algn="ctr" indent="0" marL="0">
              <a:buNone/>
            </a:pPr>
            <a:r>
              <a:rPr lang="en-US" sz="800" dirty="0">
                <a:solidFill>
                  <a:srgbClr val="8FA3B1"/>
                </a:solidFill>
                <a:latin typeface="Calibri" pitchFamily="34" charset="0"/>
                <a:ea typeface="Calibri" pitchFamily="34" charset="-122"/>
                <a:cs typeface="Calibri" pitchFamily="34" charset="-120"/>
              </a:rPr>
              <a:t>→ writes log chunk</a:t>
            </a:r>
            <a:endParaRPr lang="en-US" sz="800" dirty="0"/>
          </a:p>
        </p:txBody>
      </p:sp>
      <p:sp>
        <p:nvSpPr>
          <p:cNvPr id="33" name="Shape 31"/>
          <p:cNvSpPr/>
          <p:nvPr/>
        </p:nvSpPr>
        <p:spPr>
          <a:xfrm>
            <a:off x="365760" y="3520440"/>
            <a:ext cx="8412480" cy="1325880"/>
          </a:xfrm>
          <a:prstGeom prst="rect">
            <a:avLst/>
          </a:prstGeom>
          <a:solidFill>
            <a:srgbClr val="0A121D"/>
          </a:solidFill>
          <a:ln w="12700">
            <a:solidFill>
              <a:srgbClr val="E63946"/>
            </a:solidFill>
            <a:prstDash val="solid"/>
          </a:ln>
        </p:spPr>
      </p:sp>
      <p:sp>
        <p:nvSpPr>
          <p:cNvPr id="34" name="Text 32"/>
          <p:cNvSpPr/>
          <p:nvPr/>
        </p:nvSpPr>
        <p:spPr>
          <a:xfrm>
            <a:off x="548640" y="3566160"/>
            <a:ext cx="6400800" cy="256032"/>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Graceful Shutdown  —  bounded_buffer_begin_shutdown()</a:t>
            </a:r>
            <a:endParaRPr lang="en-US" sz="1100" dirty="0"/>
          </a:p>
        </p:txBody>
      </p:sp>
      <p:sp>
        <p:nvSpPr>
          <p:cNvPr id="35" name="Text 33"/>
          <p:cNvSpPr/>
          <p:nvPr/>
        </p:nvSpPr>
        <p:spPr>
          <a:xfrm>
            <a:off x="548640" y="3840480"/>
            <a:ext cx="8138160" cy="896112"/>
          </a:xfrm>
          <a:prstGeom prst="rect">
            <a:avLst/>
          </a:prstGeom>
          <a:noFill/>
          <a:ln/>
        </p:spPr>
        <p:txBody>
          <a:bodyPr wrap="square" lIns="50800" tIns="50800" rIns="50800" bIns="50800" rtlCol="0" anchor="t"/>
          <a:lstStyle/>
          <a:p>
            <a:pPr marL="342900" indent="-342900">
              <a:buSzPct val="100000"/>
              <a:buChar char="•"/>
            </a:pPr>
            <a:r>
              <a:rPr lang="en-US" sz="1100" dirty="0">
                <a:solidFill>
                  <a:srgbClr val="F0F4F8"/>
                </a:solidFill>
                <a:latin typeface="Calibri" pitchFamily="34" charset="0"/>
                <a:ea typeface="Calibri" pitchFamily="34" charset="-122"/>
                <a:cs typeface="Calibri" pitchFamily="34" charset="-120"/>
              </a:rPr>
              <a:t>Sets shutting_down = 1, then broadcasts both not_empty and not_full</a:t>
            </a:r>
            <a:endParaRPr lang="en-US" sz="1100" dirty="0"/>
          </a:p>
          <a:p>
            <a:pPr marL="342900" indent="-342900">
              <a:buSzPct val="100000"/>
              <a:buChar char="•"/>
            </a:pPr>
            <a:r>
              <a:rPr lang="en-US" sz="1100" dirty="0">
                <a:solidFill>
                  <a:srgbClr val="F0F4F8"/>
                </a:solidFill>
                <a:latin typeface="Calibri" pitchFamily="34" charset="0"/>
                <a:ea typeface="Calibri" pitchFamily="34" charset="-122"/>
                <a:cs typeface="Calibri" pitchFamily="34" charset="-120"/>
              </a:rPr>
              <a:t>Producer wakes and returns -1 (drops chunk) — prevents indefinite block on full buffer</a:t>
            </a:r>
            <a:endParaRPr lang="en-US" sz="1100" dirty="0"/>
          </a:p>
          <a:p>
            <a:pPr marL="342900" indent="-342900">
              <a:buSzPct val="100000"/>
              <a:buChar char="•"/>
            </a:pPr>
            <a:r>
              <a:rPr lang="en-US" sz="1100" dirty="0">
                <a:solidFill>
                  <a:srgbClr val="F0F4F8"/>
                </a:solidFill>
                <a:latin typeface="Calibri" pitchFamily="34" charset="0"/>
                <a:ea typeface="Calibri" pitchFamily="34" charset="-122"/>
                <a:cs typeface="Calibri" pitchFamily="34" charset="-120"/>
              </a:rPr>
              <a:t>Consumer drains remaining items, then exits when count == 0 &amp;&amp; shutting_down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800" b="1" dirty="0">
                <a:solidFill>
                  <a:srgbClr val="1B2A3B"/>
                </a:solidFill>
                <a:latin typeface="Calibri" pitchFamily="34" charset="0"/>
                <a:ea typeface="Calibri" pitchFamily="34" charset="-122"/>
                <a:cs typeface="Calibri" pitchFamily="34" charset="-120"/>
              </a:rPr>
              <a:t>Kernel Module: monitor.c</a:t>
            </a:r>
            <a:endParaRPr lang="en-US" sz="2800" dirty="0"/>
          </a:p>
        </p:txBody>
      </p:sp>
      <p:sp>
        <p:nvSpPr>
          <p:cNvPr id="3" name="Shape 1"/>
          <p:cNvSpPr/>
          <p:nvPr/>
        </p:nvSpPr>
        <p:spPr>
          <a:xfrm>
            <a:off x="457200" y="841248"/>
            <a:ext cx="1097280" cy="201168"/>
          </a:xfrm>
          <a:prstGeom prst="rect">
            <a:avLst/>
          </a:prstGeom>
          <a:solidFill>
            <a:srgbClr val="00D9A5"/>
          </a:solidFill>
          <a:ln w="12700">
            <a:solidFill>
              <a:srgbClr val="00D9A5"/>
            </a:solidFill>
            <a:prstDash val="solid"/>
          </a:ln>
        </p:spPr>
      </p:sp>
      <p:sp>
        <p:nvSpPr>
          <p:cNvPr id="4" name="Text 2"/>
          <p:cNvSpPr/>
          <p:nvPr/>
        </p:nvSpPr>
        <p:spPr>
          <a:xfrm>
            <a:off x="457200" y="841248"/>
            <a:ext cx="1097280" cy="201168"/>
          </a:xfrm>
          <a:prstGeom prst="rect">
            <a:avLst/>
          </a:prstGeom>
          <a:noFill/>
          <a:ln/>
        </p:spPr>
        <p:txBody>
          <a:bodyPr wrap="square" lIns="0" tIns="0" rIns="0" bIns="0" rtlCol="0" anchor="ctr"/>
          <a:lstStyle/>
          <a:p>
            <a:pPr algn="ctr" indent="0" marL="0">
              <a:buNone/>
            </a:pPr>
            <a:r>
              <a:rPr lang="en-US" sz="800" b="1" dirty="0">
                <a:solidFill>
                  <a:srgbClr val="0D1B2A"/>
                </a:solidFill>
                <a:latin typeface="Calibri" pitchFamily="34" charset="0"/>
                <a:ea typeface="Calibri" pitchFamily="34" charset="-122"/>
                <a:cs typeface="Calibri" pitchFamily="34" charset="-120"/>
              </a:rPr>
              <a:t>KERNEL MODULE</a:t>
            </a:r>
            <a:endParaRPr lang="en-US" sz="800" dirty="0"/>
          </a:p>
        </p:txBody>
      </p:sp>
      <p:sp>
        <p:nvSpPr>
          <p:cNvPr id="5" name="Shape 3"/>
          <p:cNvSpPr/>
          <p:nvPr/>
        </p:nvSpPr>
        <p:spPr>
          <a:xfrm>
            <a:off x="457200" y="777240"/>
            <a:ext cx="8229600" cy="22860"/>
          </a:xfrm>
          <a:prstGeom prst="rect">
            <a:avLst/>
          </a:prstGeom>
          <a:solidFill>
            <a:srgbClr val="E63946"/>
          </a:solidFill>
          <a:ln w="12700">
            <a:solidFill>
              <a:srgbClr val="E63946"/>
            </a:solidFill>
            <a:prstDash val="solid"/>
          </a:ln>
        </p:spPr>
      </p:sp>
      <p:sp>
        <p:nvSpPr>
          <p:cNvPr id="6" name="Text 4"/>
          <p:cNvSpPr/>
          <p:nvPr/>
        </p:nvSpPr>
        <p:spPr>
          <a:xfrm>
            <a:off x="457200" y="960120"/>
            <a:ext cx="3840480" cy="256032"/>
          </a:xfrm>
          <a:prstGeom prst="rect">
            <a:avLst/>
          </a:prstGeom>
          <a:noFill/>
          <a:ln/>
        </p:spPr>
        <p:txBody>
          <a:bodyPr wrap="square" lIns="0" tIns="0" rIns="0" bIns="0" rtlCol="0" anchor="ctr"/>
          <a:lstStyle/>
          <a:p>
            <a:pPr indent="0" marL="0">
              <a:buNone/>
            </a:pPr>
            <a:r>
              <a:rPr lang="en-US" sz="1300" b="1" dirty="0">
                <a:solidFill>
                  <a:srgbClr val="E63946"/>
                </a:solidFill>
                <a:latin typeface="Calibri" pitchFamily="34" charset="0"/>
                <a:ea typeface="Calibri" pitchFamily="34" charset="-122"/>
                <a:cs typeface="Calibri" pitchFamily="34" charset="-120"/>
              </a:rPr>
              <a:t>Module Structure</a:t>
            </a:r>
            <a:endParaRPr lang="en-US" sz="1300" dirty="0"/>
          </a:p>
        </p:txBody>
      </p:sp>
      <p:sp>
        <p:nvSpPr>
          <p:cNvPr id="7" name="Text 5"/>
          <p:cNvSpPr/>
          <p:nvPr/>
        </p:nvSpPr>
        <p:spPr>
          <a:xfrm>
            <a:off x="457200" y="1261872"/>
            <a:ext cx="3931920" cy="3566160"/>
          </a:xfrm>
          <a:prstGeom prst="rect">
            <a:avLst/>
          </a:prstGeom>
          <a:noFill/>
          <a:ln/>
        </p:spPr>
        <p:txBody>
          <a:bodyPr wrap="square" lIns="50800" tIns="50800" rIns="50800" bIns="50800" rtlCol="0" anchor="t"/>
          <a:lstStyle/>
          <a:p>
            <a:pPr marL="342900" indent="-342900">
              <a:buSzPct val="100000"/>
              <a:buChar char="•"/>
            </a:pPr>
            <a:r>
              <a:rPr lang="en-US" sz="1150" b="1" dirty="0">
                <a:solidFill>
                  <a:srgbClr val="1B2A3B"/>
                </a:solidFill>
                <a:latin typeface="Calibri" pitchFamily="34" charset="0"/>
                <a:ea typeface="Calibri" pitchFamily="34" charset="-122"/>
                <a:cs typeface="Calibri" pitchFamily="34" charset="-120"/>
              </a:rPr>
              <a:t>module_init() — monitor_init()</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alloc_chrdev_region() — dynamic major number</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class_create() + device_create() — creates /dev/container_monitor</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cdev_init() + cdev_add() — registers file ops</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timer_setup() + mod_timer() — 1 Hz timer</a:t>
            </a:r>
            <a:endParaRPr lang="en-US" sz="1150" dirty="0"/>
          </a:p>
          <a:p>
            <a:pPr marL="342900" indent="-342900">
              <a:buSzPct val="100000"/>
              <a:buChar char="•"/>
            </a:pPr>
            <a:r>
              <a:rPr lang="en-US" sz="1150" b="1" dirty="0">
                <a:solidFill>
                  <a:srgbClr val="1B2A3B"/>
                </a:solidFill>
                <a:latin typeface="Calibri" pitchFamily="34" charset="0"/>
                <a:ea typeface="Calibri" pitchFamily="34" charset="-122"/>
                <a:cs typeface="Calibri" pitchFamily="34" charset="-120"/>
              </a:rPr>
              <a:t>module_exit() — monitor_exit()</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del_timer_sync() — waits for in-flight callback</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Frees all linked-list nodes, destroys device</a:t>
            </a:r>
            <a:endParaRPr lang="en-US" sz="1150" dirty="0"/>
          </a:p>
          <a:p>
            <a:pPr marL="342900" indent="-342900">
              <a:buSzPct val="100000"/>
              <a:buChar char="•"/>
            </a:pPr>
            <a:r>
              <a:rPr lang="en-US" sz="1150" b="1" dirty="0">
                <a:solidFill>
                  <a:srgbClr val="1B2A3B"/>
                </a:solidFill>
                <a:latin typeface="Calibri" pitchFamily="34" charset="0"/>
                <a:ea typeface="Calibri" pitchFamily="34" charset="-122"/>
                <a:cs typeface="Calibri" pitchFamily="34" charset="-120"/>
              </a:rPr>
              <a:t>Kernel data structures</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struct list_head — intrusive doubly-linked list</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struct timer_list — kernel timer wheel</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struct mutex / spinlock — concurrent access control</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struct task_struct — process descriptor</a:t>
            </a:r>
            <a:endParaRPr lang="en-US" sz="1150" dirty="0"/>
          </a:p>
          <a:p>
            <a:pPr lvl="1" marL="508000" indent="-254000">
              <a:buSzPct val="100000"/>
              <a:buChar char="•"/>
            </a:pPr>
            <a:r>
              <a:rPr lang="en-US" sz="1150" dirty="0">
                <a:solidFill>
                  <a:srgbClr val="1B2A3B"/>
                </a:solidFill>
                <a:latin typeface="Calibri" pitchFamily="34" charset="0"/>
                <a:ea typeface="Calibri" pitchFamily="34" charset="-122"/>
                <a:cs typeface="Calibri" pitchFamily="34" charset="-120"/>
              </a:rPr>
              <a:t>struct mm_struct — memory descriptor for RSS</a:t>
            </a:r>
            <a:endParaRPr lang="en-US" sz="1150" dirty="0"/>
          </a:p>
        </p:txBody>
      </p:sp>
      <p:sp>
        <p:nvSpPr>
          <p:cNvPr id="8" name="Text 6"/>
          <p:cNvSpPr/>
          <p:nvPr/>
        </p:nvSpPr>
        <p:spPr>
          <a:xfrm>
            <a:off x="4663440" y="960120"/>
            <a:ext cx="4023360" cy="256032"/>
          </a:xfrm>
          <a:prstGeom prst="rect">
            <a:avLst/>
          </a:prstGeom>
          <a:noFill/>
          <a:ln/>
        </p:spPr>
        <p:txBody>
          <a:bodyPr wrap="square" lIns="0" tIns="0" rIns="0" bIns="0" rtlCol="0" anchor="ctr"/>
          <a:lstStyle/>
          <a:p>
            <a:pPr indent="0" marL="0">
              <a:buNone/>
            </a:pPr>
            <a:r>
              <a:rPr lang="en-US" sz="1300" b="1" dirty="0">
                <a:solidFill>
                  <a:srgbClr val="0E9AA7"/>
                </a:solidFill>
                <a:latin typeface="Calibri" pitchFamily="34" charset="0"/>
                <a:ea typeface="Calibri" pitchFamily="34" charset="-122"/>
                <a:cs typeface="Calibri" pitchFamily="34" charset="-120"/>
              </a:rPr>
              <a:t>ioctl() Dispatch</a:t>
            </a:r>
            <a:endParaRPr lang="en-US" sz="1300" dirty="0"/>
          </a:p>
        </p:txBody>
      </p:sp>
      <p:sp>
        <p:nvSpPr>
          <p:cNvPr id="9" name="Shape 7"/>
          <p:cNvSpPr/>
          <p:nvPr/>
        </p:nvSpPr>
        <p:spPr>
          <a:xfrm>
            <a:off x="4663440" y="1261872"/>
            <a:ext cx="4023360" cy="1691640"/>
          </a:xfrm>
          <a:prstGeom prst="rect">
            <a:avLst/>
          </a:prstGeom>
          <a:solidFill>
            <a:srgbClr val="1E2D3D"/>
          </a:solidFill>
          <a:ln w="12700">
            <a:solidFill>
              <a:srgbClr val="2E4057"/>
            </a:solidFill>
            <a:prstDash val="solid"/>
          </a:ln>
        </p:spPr>
      </p:sp>
      <p:sp>
        <p:nvSpPr>
          <p:cNvPr id="10" name="Text 8"/>
          <p:cNvSpPr/>
          <p:nvPr/>
        </p:nvSpPr>
        <p:spPr>
          <a:xfrm>
            <a:off x="4773168" y="1353312"/>
            <a:ext cx="3803904" cy="1508760"/>
          </a:xfrm>
          <a:prstGeom prst="rect">
            <a:avLst/>
          </a:prstGeom>
          <a:noFill/>
          <a:ln/>
        </p:spPr>
        <p:txBody>
          <a:bodyPr wrap="square" lIns="0" tIns="0" rIns="0" bIns="0" rtlCol="0" anchor="t"/>
          <a:lstStyle/>
          <a:p>
            <a:pPr indent="0" marL="0">
              <a:buNone/>
            </a:pPr>
            <a:r>
              <a:rPr lang="en-US" sz="950" dirty="0">
                <a:solidFill>
                  <a:srgbClr val="00D9A5"/>
                </a:solidFill>
                <a:latin typeface="Consolas" pitchFamily="34" charset="0"/>
                <a:ea typeface="Consolas" pitchFamily="34" charset="-122"/>
                <a:cs typeface="Consolas" pitchFamily="34" charset="-120"/>
              </a:rPr>
              <a:t>// MONITOR_REGISTER</a:t>
            </a: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copy_from_user(&amp;req, uarg)</a:t>
            </a: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node = kmalloc(sizeof(*node))</a:t>
            </a: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node-&gt;pid = req.pid</a:t>
            </a: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node-&gt;soft = req.soft_limit_bytes</a:t>
            </a: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node-&gt;hard = req.hard_limit_bytes</a:t>
            </a: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list_add_tail(&amp;node-&gt;list, &amp;head)</a:t>
            </a:r>
            <a:endParaRPr lang="en-US" sz="950" dirty="0"/>
          </a:p>
          <a:p>
            <a:pPr indent="0" marL="0">
              <a:buNone/>
            </a:pP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 MONITOR_UNREGISTER</a:t>
            </a: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list_for_each_entry_safe(node,...)</a:t>
            </a: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  if (node-&gt;pid == req.pid)</a:t>
            </a: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    list_del(&amp;node-&gt;list)</a:t>
            </a:r>
            <a:endParaRPr lang="en-US" sz="950" dirty="0"/>
          </a:p>
          <a:p>
            <a:pPr indent="0" marL="0">
              <a:buNone/>
            </a:pPr>
            <a:r>
              <a:rPr lang="en-US" sz="950" dirty="0">
                <a:solidFill>
                  <a:srgbClr val="00D9A5"/>
                </a:solidFill>
                <a:latin typeface="Consolas" pitchFamily="34" charset="0"/>
                <a:ea typeface="Consolas" pitchFamily="34" charset="-122"/>
                <a:cs typeface="Consolas" pitchFamily="34" charset="-120"/>
              </a:rPr>
              <a:t>    kfree(node)</a:t>
            </a:r>
            <a:endParaRPr lang="en-US" sz="950" dirty="0"/>
          </a:p>
        </p:txBody>
      </p:sp>
      <p:sp>
        <p:nvSpPr>
          <p:cNvPr id="11" name="Text 9"/>
          <p:cNvSpPr/>
          <p:nvPr/>
        </p:nvSpPr>
        <p:spPr>
          <a:xfrm>
            <a:off x="4663440" y="3063240"/>
            <a:ext cx="4023360" cy="256032"/>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Why a Kernel Module?</a:t>
            </a:r>
            <a:endParaRPr lang="en-US" sz="1200" dirty="0"/>
          </a:p>
        </p:txBody>
      </p:sp>
      <p:sp>
        <p:nvSpPr>
          <p:cNvPr id="12" name="Text 10"/>
          <p:cNvSpPr/>
          <p:nvPr/>
        </p:nvSpPr>
        <p:spPr>
          <a:xfrm>
            <a:off x="4663440" y="3337560"/>
            <a:ext cx="4023360" cy="1463040"/>
          </a:xfrm>
          <a:prstGeom prst="rect">
            <a:avLst/>
          </a:prstGeom>
          <a:noFill/>
          <a:ln/>
        </p:spPr>
        <p:txBody>
          <a:bodyPr wrap="square" lIns="50800" tIns="50800" rIns="50800" bIns="50800" rtlCol="0" anchor="t"/>
          <a:lstStyle/>
          <a:p>
            <a:pPr marL="342900" indent="-342900">
              <a:buSzPct val="100000"/>
              <a:buChar char="•"/>
            </a:pPr>
            <a:r>
              <a:rPr lang="en-US" sz="1100" dirty="0">
                <a:solidFill>
                  <a:srgbClr val="1B2A3B"/>
                </a:solidFill>
                <a:latin typeface="Calibri" pitchFamily="34" charset="0"/>
                <a:ea typeface="Calibri" pitchFamily="34" charset="-122"/>
                <a:cs typeface="Calibri" pitchFamily="34" charset="-120"/>
              </a:rPr>
              <a:t>Kernel timer (HZ=250 typ.) fires at exact intervals — no scheduling jitter</a:t>
            </a:r>
            <a:endParaRPr lang="en-US" sz="1100" dirty="0"/>
          </a:p>
          <a:p>
            <a:pPr marL="342900" indent="-342900">
              <a:buSzPct val="100000"/>
              <a:buChar char="•"/>
            </a:pPr>
            <a:r>
              <a:rPr lang="en-US" sz="1100" dirty="0">
                <a:solidFill>
                  <a:srgbClr val="1B2A3B"/>
                </a:solidFill>
                <a:latin typeface="Calibri" pitchFamily="34" charset="0"/>
                <a:ea typeface="Calibri" pitchFamily="34" charset="-122"/>
                <a:cs typeface="Calibri" pitchFamily="34" charset="-120"/>
              </a:rPr>
              <a:t>Direct access to mm_struct / get_mm_rss() — no /proc overhead</a:t>
            </a:r>
            <a:endParaRPr lang="en-US" sz="1100" dirty="0"/>
          </a:p>
          <a:p>
            <a:pPr marL="342900" indent="-342900">
              <a:buSzPct val="100000"/>
              <a:buChar char="•"/>
            </a:pPr>
            <a:r>
              <a:rPr lang="en-US" sz="1100" dirty="0">
                <a:solidFill>
                  <a:srgbClr val="1B2A3B"/>
                </a:solidFill>
                <a:latin typeface="Calibri" pitchFamily="34" charset="0"/>
                <a:ea typeface="Calibri" pitchFamily="34" charset="-122"/>
                <a:cs typeface="Calibri" pitchFamily="34" charset="-120"/>
              </a:rPr>
              <a:t>send_sig(SIGKILL) atomically in kernel context — no race with fork()</a:t>
            </a:r>
            <a:endParaRPr lang="en-US" sz="1100" dirty="0"/>
          </a:p>
          <a:p>
            <a:pPr marL="342900" indent="-342900">
              <a:buSzPct val="100000"/>
              <a:buChar char="•"/>
            </a:pPr>
            <a:r>
              <a:rPr lang="en-US" sz="1100" dirty="0">
                <a:solidFill>
                  <a:srgbClr val="1B2A3B"/>
                </a:solidFill>
                <a:latin typeface="Calibri" pitchFamily="34" charset="0"/>
                <a:ea typeface="Calibri" pitchFamily="34" charset="-122"/>
                <a:cs typeface="Calibri" pitchFamily="34" charset="-120"/>
              </a:rPr>
              <a:t>User-space polling consumes CPU; timer callbacks are near-zero cost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3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Memory Monitoring: RSS, Soft Limit &amp; Hard Limit</a:t>
            </a:r>
            <a:endParaRPr lang="en-US" sz="2800" dirty="0"/>
          </a:p>
        </p:txBody>
      </p:sp>
      <p:sp>
        <p:nvSpPr>
          <p:cNvPr id="3" name="Shape 1"/>
          <p:cNvSpPr/>
          <p:nvPr/>
        </p:nvSpPr>
        <p:spPr>
          <a:xfrm>
            <a:off x="457200" y="841248"/>
            <a:ext cx="1097280" cy="201168"/>
          </a:xfrm>
          <a:prstGeom prst="rect">
            <a:avLst/>
          </a:prstGeom>
          <a:solidFill>
            <a:srgbClr val="00D9A5"/>
          </a:solidFill>
          <a:ln w="12700">
            <a:solidFill>
              <a:srgbClr val="00D9A5"/>
            </a:solidFill>
            <a:prstDash val="solid"/>
          </a:ln>
        </p:spPr>
      </p:sp>
      <p:sp>
        <p:nvSpPr>
          <p:cNvPr id="4" name="Text 2"/>
          <p:cNvSpPr/>
          <p:nvPr/>
        </p:nvSpPr>
        <p:spPr>
          <a:xfrm>
            <a:off x="457200" y="841248"/>
            <a:ext cx="1097280" cy="201168"/>
          </a:xfrm>
          <a:prstGeom prst="rect">
            <a:avLst/>
          </a:prstGeom>
          <a:noFill/>
          <a:ln/>
        </p:spPr>
        <p:txBody>
          <a:bodyPr wrap="square" lIns="0" tIns="0" rIns="0" bIns="0" rtlCol="0" anchor="ctr"/>
          <a:lstStyle/>
          <a:p>
            <a:pPr algn="ctr" indent="0" marL="0">
              <a:buNone/>
            </a:pPr>
            <a:r>
              <a:rPr lang="en-US" sz="800" b="1" dirty="0">
                <a:solidFill>
                  <a:srgbClr val="0D1B2A"/>
                </a:solidFill>
                <a:latin typeface="Calibri" pitchFamily="34" charset="0"/>
                <a:ea typeface="Calibri" pitchFamily="34" charset="-122"/>
                <a:cs typeface="Calibri" pitchFamily="34" charset="-120"/>
              </a:rPr>
              <a:t>MEMORY</a:t>
            </a:r>
            <a:endParaRPr lang="en-US" sz="800" dirty="0"/>
          </a:p>
        </p:txBody>
      </p:sp>
      <p:sp>
        <p:nvSpPr>
          <p:cNvPr id="5" name="Shape 3"/>
          <p:cNvSpPr/>
          <p:nvPr/>
        </p:nvSpPr>
        <p:spPr>
          <a:xfrm>
            <a:off x="457200" y="777240"/>
            <a:ext cx="8229600" cy="22860"/>
          </a:xfrm>
          <a:prstGeom prst="rect">
            <a:avLst/>
          </a:prstGeom>
          <a:solidFill>
            <a:srgbClr val="E63946"/>
          </a:solidFill>
          <a:ln w="12700">
            <a:solidFill>
              <a:srgbClr val="E63946"/>
            </a:solidFill>
            <a:prstDash val="solid"/>
          </a:ln>
        </p:spPr>
      </p:sp>
      <p:sp>
        <p:nvSpPr>
          <p:cNvPr id="6" name="Text 4"/>
          <p:cNvSpPr/>
          <p:nvPr/>
        </p:nvSpPr>
        <p:spPr>
          <a:xfrm>
            <a:off x="365760" y="960120"/>
            <a:ext cx="3931920" cy="256032"/>
          </a:xfrm>
          <a:prstGeom prst="rect">
            <a:avLst/>
          </a:prstGeom>
          <a:noFill/>
          <a:ln/>
        </p:spPr>
        <p:txBody>
          <a:bodyPr wrap="square" lIns="0" tIns="0" rIns="0" bIns="0" rtlCol="0" anchor="ctr"/>
          <a:lstStyle/>
          <a:p>
            <a:pPr indent="0" marL="0">
              <a:buNone/>
            </a:pPr>
            <a:r>
              <a:rPr lang="en-US" sz="1300" b="1" dirty="0">
                <a:solidFill>
                  <a:srgbClr val="00D9A5"/>
                </a:solidFill>
                <a:latin typeface="Calibri" pitchFamily="34" charset="0"/>
                <a:ea typeface="Calibri" pitchFamily="34" charset="-122"/>
                <a:cs typeface="Calibri" pitchFamily="34" charset="-120"/>
              </a:rPr>
              <a:t>Resident Set Size (RSS)</a:t>
            </a:r>
            <a:endParaRPr lang="en-US" sz="1300" dirty="0"/>
          </a:p>
        </p:txBody>
      </p:sp>
      <p:sp>
        <p:nvSpPr>
          <p:cNvPr id="7" name="Text 5"/>
          <p:cNvSpPr/>
          <p:nvPr/>
        </p:nvSpPr>
        <p:spPr>
          <a:xfrm>
            <a:off x="365760" y="1261872"/>
            <a:ext cx="3931920" cy="1828800"/>
          </a:xfrm>
          <a:prstGeom prst="rect">
            <a:avLst/>
          </a:prstGeom>
          <a:noFill/>
          <a:ln/>
        </p:spPr>
        <p:txBody>
          <a:bodyPr wrap="square" lIns="50800" tIns="50800" rIns="50800" bIns="50800"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RSS = pages currently in physical RAM</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Obtained via: get_mm_rss(mm) * PAGE_SIZE</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mm_struct obtained via get_task_mm(task)</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RCU read-lock used to safely reference task_struct</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Returns -1 if PID no longer exists (process exited)</a:t>
            </a:r>
            <a:endParaRPr lang="en-US" sz="1200" dirty="0"/>
          </a:p>
        </p:txBody>
      </p:sp>
      <p:sp>
        <p:nvSpPr>
          <p:cNvPr id="8" name="Text 6"/>
          <p:cNvSpPr/>
          <p:nvPr/>
        </p:nvSpPr>
        <p:spPr>
          <a:xfrm>
            <a:off x="4572000" y="960120"/>
            <a:ext cx="4114800" cy="256032"/>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Limit Enforcement (timer_callback)</a:t>
            </a:r>
            <a:endParaRPr lang="en-US" sz="1300" dirty="0"/>
          </a:p>
        </p:txBody>
      </p:sp>
      <p:sp>
        <p:nvSpPr>
          <p:cNvPr id="9" name="Shape 7"/>
          <p:cNvSpPr/>
          <p:nvPr/>
        </p:nvSpPr>
        <p:spPr>
          <a:xfrm>
            <a:off x="4663440" y="1261872"/>
            <a:ext cx="3931920" cy="1828800"/>
          </a:xfrm>
          <a:prstGeom prst="rect">
            <a:avLst/>
          </a:prstGeom>
          <a:solidFill>
            <a:srgbClr val="162534"/>
          </a:solidFill>
          <a:ln w="12700">
            <a:solidFill>
              <a:srgbClr val="8FA3B1"/>
            </a:solidFill>
            <a:prstDash val="solid"/>
          </a:ln>
        </p:spPr>
      </p:sp>
      <p:sp>
        <p:nvSpPr>
          <p:cNvPr id="10" name="Shape 8"/>
          <p:cNvSpPr/>
          <p:nvPr/>
        </p:nvSpPr>
        <p:spPr>
          <a:xfrm>
            <a:off x="4937760" y="1536192"/>
            <a:ext cx="2194560" cy="1188720"/>
          </a:xfrm>
          <a:prstGeom prst="rect">
            <a:avLst/>
          </a:prstGeom>
          <a:solidFill>
            <a:srgbClr val="0E9AA7">
              <a:alpha val="70000"/>
            </a:srgbClr>
          </a:solidFill>
          <a:ln w="12700">
            <a:solidFill>
              <a:srgbClr val="0E9AA7"/>
            </a:solidFill>
            <a:prstDash val="solid"/>
          </a:ln>
        </p:spPr>
      </p:sp>
      <p:sp>
        <p:nvSpPr>
          <p:cNvPr id="11" name="Text 9"/>
          <p:cNvSpPr/>
          <p:nvPr/>
        </p:nvSpPr>
        <p:spPr>
          <a:xfrm>
            <a:off x="5029200" y="1764792"/>
            <a:ext cx="182880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RSS: 52 MiB</a:t>
            </a:r>
            <a:endParaRPr lang="en-US" sz="1000" dirty="0"/>
          </a:p>
        </p:txBody>
      </p:sp>
      <p:sp>
        <p:nvSpPr>
          <p:cNvPr id="12" name="Shape 10"/>
          <p:cNvSpPr/>
          <p:nvPr/>
        </p:nvSpPr>
        <p:spPr>
          <a:xfrm>
            <a:off x="4937760" y="2130552"/>
            <a:ext cx="3566160" cy="22860"/>
          </a:xfrm>
          <a:prstGeom prst="rect">
            <a:avLst/>
          </a:prstGeom>
          <a:solidFill>
            <a:srgbClr val="F5A623"/>
          </a:solidFill>
          <a:ln w="12700">
            <a:solidFill>
              <a:srgbClr val="F5A623"/>
            </a:solidFill>
            <a:prstDash val="solid"/>
          </a:ln>
        </p:spPr>
      </p:sp>
      <p:sp>
        <p:nvSpPr>
          <p:cNvPr id="13" name="Text 11"/>
          <p:cNvSpPr/>
          <p:nvPr/>
        </p:nvSpPr>
        <p:spPr>
          <a:xfrm>
            <a:off x="4937760" y="1901952"/>
            <a:ext cx="3200400" cy="228600"/>
          </a:xfrm>
          <a:prstGeom prst="rect">
            <a:avLst/>
          </a:prstGeom>
          <a:noFill/>
          <a:ln/>
        </p:spPr>
        <p:txBody>
          <a:bodyPr wrap="square" lIns="0" tIns="0" rIns="0" bIns="0" rtlCol="0" anchor="ctr"/>
          <a:lstStyle/>
          <a:p>
            <a:pPr indent="0" marL="0">
              <a:buNone/>
            </a:pPr>
            <a:r>
              <a:rPr lang="en-US" sz="900" dirty="0">
                <a:solidFill>
                  <a:srgbClr val="F5A623"/>
                </a:solidFill>
                <a:latin typeface="Calibri" pitchFamily="34" charset="0"/>
                <a:ea typeface="Calibri" pitchFamily="34" charset="-122"/>
                <a:cs typeface="Calibri" pitchFamily="34" charset="-120"/>
              </a:rPr>
              <a:t>SOFT: 40 MiB  → WARN</a:t>
            </a:r>
            <a:endParaRPr lang="en-US" sz="900" dirty="0"/>
          </a:p>
        </p:txBody>
      </p:sp>
      <p:sp>
        <p:nvSpPr>
          <p:cNvPr id="14" name="Shape 12"/>
          <p:cNvSpPr/>
          <p:nvPr/>
        </p:nvSpPr>
        <p:spPr>
          <a:xfrm>
            <a:off x="4937760" y="1536192"/>
            <a:ext cx="3566160" cy="22860"/>
          </a:xfrm>
          <a:prstGeom prst="rect">
            <a:avLst/>
          </a:prstGeom>
          <a:solidFill>
            <a:srgbClr val="E63946"/>
          </a:solidFill>
          <a:ln w="12700">
            <a:solidFill>
              <a:srgbClr val="E63946"/>
            </a:solidFill>
            <a:prstDash val="solid"/>
          </a:ln>
        </p:spPr>
      </p:sp>
      <p:sp>
        <p:nvSpPr>
          <p:cNvPr id="15" name="Text 13"/>
          <p:cNvSpPr/>
          <p:nvPr/>
        </p:nvSpPr>
        <p:spPr>
          <a:xfrm>
            <a:off x="4937760" y="1353312"/>
            <a:ext cx="3200400" cy="228600"/>
          </a:xfrm>
          <a:prstGeom prst="rect">
            <a:avLst/>
          </a:prstGeom>
          <a:noFill/>
          <a:ln/>
        </p:spPr>
        <p:txBody>
          <a:bodyPr wrap="square" lIns="0" tIns="0" rIns="0" bIns="0" rtlCol="0" anchor="ctr"/>
          <a:lstStyle/>
          <a:p>
            <a:pPr indent="0" marL="0">
              <a:buNone/>
            </a:pPr>
            <a:r>
              <a:rPr lang="en-US" sz="900" dirty="0">
                <a:solidFill>
                  <a:srgbClr val="E63946"/>
                </a:solidFill>
                <a:latin typeface="Calibri" pitchFamily="34" charset="0"/>
                <a:ea typeface="Calibri" pitchFamily="34" charset="-122"/>
                <a:cs typeface="Calibri" pitchFamily="34" charset="-120"/>
              </a:rPr>
              <a:t>HARD: 64 MiB  → KILL</a:t>
            </a:r>
            <a:endParaRPr lang="en-US" sz="900" dirty="0"/>
          </a:p>
        </p:txBody>
      </p:sp>
      <p:sp>
        <p:nvSpPr>
          <p:cNvPr id="16" name="Shape 14"/>
          <p:cNvSpPr/>
          <p:nvPr/>
        </p:nvSpPr>
        <p:spPr>
          <a:xfrm>
            <a:off x="365760" y="3200400"/>
            <a:ext cx="8412480" cy="1600200"/>
          </a:xfrm>
          <a:prstGeom prst="rect">
            <a:avLst/>
          </a:prstGeom>
          <a:solidFill>
            <a:srgbClr val="0A121D"/>
          </a:solidFill>
          <a:ln w="12700">
            <a:solidFill>
              <a:srgbClr val="00D9A5"/>
            </a:solidFill>
            <a:prstDash val="solid"/>
          </a:ln>
        </p:spPr>
      </p:sp>
      <p:sp>
        <p:nvSpPr>
          <p:cNvPr id="17" name="Text 15"/>
          <p:cNvSpPr/>
          <p:nvPr/>
        </p:nvSpPr>
        <p:spPr>
          <a:xfrm>
            <a:off x="548640" y="3246120"/>
            <a:ext cx="6400800" cy="256032"/>
          </a:xfrm>
          <a:prstGeom prst="rect">
            <a:avLst/>
          </a:prstGeom>
          <a:noFill/>
          <a:ln/>
        </p:spPr>
        <p:txBody>
          <a:bodyPr wrap="square" lIns="0" tIns="0" rIns="0" bIns="0" rtlCol="0" anchor="ctr"/>
          <a:lstStyle/>
          <a:p>
            <a:pPr indent="0" marL="0">
              <a:buNone/>
            </a:pPr>
            <a:r>
              <a:rPr lang="en-US" sz="1100" b="1" dirty="0">
                <a:solidFill>
                  <a:srgbClr val="00D9A5"/>
                </a:solidFill>
                <a:latin typeface="Calibri" pitchFamily="34" charset="0"/>
                <a:ea typeface="Calibri" pitchFamily="34" charset="-122"/>
                <a:cs typeface="Calibri" pitchFamily="34" charset="-120"/>
              </a:rPr>
              <a:t>Timer Callback Logic (every 1 second):</a:t>
            </a:r>
            <a:endParaRPr lang="en-US" sz="1100" dirty="0"/>
          </a:p>
        </p:txBody>
      </p:sp>
      <p:sp>
        <p:nvSpPr>
          <p:cNvPr id="18" name="Text 16"/>
          <p:cNvSpPr/>
          <p:nvPr/>
        </p:nvSpPr>
        <p:spPr>
          <a:xfrm>
            <a:off x="548640" y="3520440"/>
            <a:ext cx="8229600" cy="1188720"/>
          </a:xfrm>
          <a:prstGeom prst="rect">
            <a:avLst/>
          </a:prstGeom>
          <a:noFill/>
          <a:ln/>
        </p:spPr>
        <p:txBody>
          <a:bodyPr wrap="square" lIns="50800" tIns="50800" rIns="50800" bIns="50800" rtlCol="0" anchor="t"/>
          <a:lstStyle/>
          <a:p>
            <a:pPr marL="342900" indent="-342900">
              <a:buSzPct val="100000"/>
              <a:buChar char="•"/>
            </a:pPr>
            <a:r>
              <a:rPr lang="en-US" sz="1100" b="1" dirty="0">
                <a:solidFill>
                  <a:srgbClr val="F0F4F8"/>
                </a:solidFill>
                <a:latin typeface="Calibri" pitchFamily="34" charset="0"/>
                <a:ea typeface="Calibri" pitchFamily="34" charset="-122"/>
                <a:cs typeface="Calibri" pitchFamily="34" charset="-120"/>
              </a:rPr>
              <a:t>Iterate list with list_for_each_entry_safe(node, tmp, &amp;head, list)</a:t>
            </a:r>
            <a:endParaRPr lang="en-US" sz="1100" dirty="0"/>
          </a:p>
          <a:p>
            <a:pPr marL="342900" indent="-342900">
              <a:buSzPct val="100000"/>
              <a:buChar char="•"/>
            </a:pPr>
            <a:r>
              <a:rPr lang="en-US" sz="1100" dirty="0">
                <a:solidFill>
                  <a:srgbClr val="F0F4F8"/>
                </a:solidFill>
                <a:latin typeface="Calibri" pitchFamily="34" charset="0"/>
                <a:ea typeface="Calibri" pitchFamily="34" charset="-122"/>
                <a:cs typeface="Calibri" pitchFamily="34" charset="-120"/>
              </a:rPr>
              <a:t>rss = get_rss_bytes(node-&gt;pid)  →  if -1: process exited, remove node and continue</a:t>
            </a:r>
            <a:endParaRPr lang="en-US" sz="1100" dirty="0"/>
          </a:p>
          <a:p>
            <a:pPr marL="342900" indent="-342900">
              <a:buSzPct val="100000"/>
              <a:buChar char="•"/>
            </a:pPr>
            <a:r>
              <a:rPr lang="en-US" sz="1100" dirty="0">
                <a:solidFill>
                  <a:srgbClr val="F5A623"/>
                </a:solidFill>
                <a:latin typeface="Calibri" pitchFamily="34" charset="0"/>
                <a:ea typeface="Calibri" pitchFamily="34" charset="-122"/>
                <a:cs typeface="Calibri" pitchFamily="34" charset="-120"/>
              </a:rPr>
              <a:t>if (rss &gt; soft_limit &amp;&amp; !warned): log_soft_limit_event() — emit one KERN_WARNING only</a:t>
            </a:r>
            <a:endParaRPr lang="en-US" sz="1100" dirty="0"/>
          </a:p>
          <a:p>
            <a:pPr marL="342900" indent="-342900">
              <a:buSzPct val="100000"/>
              <a:buChar char="•"/>
            </a:pPr>
            <a:r>
              <a:rPr lang="en-US" sz="1100" dirty="0">
                <a:solidFill>
                  <a:srgbClr val="E63946"/>
                </a:solidFill>
                <a:latin typeface="Calibri" pitchFamily="34" charset="0"/>
                <a:ea typeface="Calibri" pitchFamily="34" charset="-122"/>
                <a:cs typeface="Calibri" pitchFamily="34" charset="-120"/>
              </a:rPr>
              <a:t>if (rss &gt; hard_limit): kill_process() via send_sig(SIGKILL) — remove node</a:t>
            </a:r>
            <a:endParaRPr lang="en-US" sz="1100" dirty="0"/>
          </a:p>
          <a:p>
            <a:pPr marL="342900" indent="-342900">
              <a:buSzPct val="100000"/>
              <a:buChar char="•"/>
            </a:pPr>
            <a:r>
              <a:rPr lang="en-US" sz="1100" dirty="0">
                <a:solidFill>
                  <a:srgbClr val="F0F4F8"/>
                </a:solidFill>
                <a:latin typeface="Calibri" pitchFamily="34" charset="0"/>
                <a:ea typeface="Calibri" pitchFamily="34" charset="-122"/>
                <a:cs typeface="Calibri" pitchFamily="34" charset="-120"/>
              </a:rPr>
              <a:t>list_del + kfree handled safely because list_for_each_entry_safe holds next pointer before delete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800" b="1" dirty="0">
                <a:solidFill>
                  <a:srgbClr val="1B2A3B"/>
                </a:solidFill>
                <a:latin typeface="Calibri" pitchFamily="34" charset="0"/>
                <a:ea typeface="Calibri" pitchFamily="34" charset="-122"/>
                <a:cs typeface="Calibri" pitchFamily="34" charset="-120"/>
              </a:rPr>
              <a:t>Workload Generators: cpu_hog, memory_hog, io_pulse</a:t>
            </a:r>
            <a:endParaRPr lang="en-US" sz="2800" dirty="0"/>
          </a:p>
        </p:txBody>
      </p:sp>
      <p:sp>
        <p:nvSpPr>
          <p:cNvPr id="3" name="Shape 1"/>
          <p:cNvSpPr/>
          <p:nvPr/>
        </p:nvSpPr>
        <p:spPr>
          <a:xfrm>
            <a:off x="457200" y="841248"/>
            <a:ext cx="1097280" cy="201168"/>
          </a:xfrm>
          <a:prstGeom prst="rect">
            <a:avLst/>
          </a:prstGeom>
          <a:solidFill>
            <a:srgbClr val="00D9A5"/>
          </a:solidFill>
          <a:ln w="12700">
            <a:solidFill>
              <a:srgbClr val="00D9A5"/>
            </a:solidFill>
            <a:prstDash val="solid"/>
          </a:ln>
        </p:spPr>
      </p:sp>
      <p:sp>
        <p:nvSpPr>
          <p:cNvPr id="4" name="Text 2"/>
          <p:cNvSpPr/>
          <p:nvPr/>
        </p:nvSpPr>
        <p:spPr>
          <a:xfrm>
            <a:off x="457200" y="841248"/>
            <a:ext cx="1097280" cy="201168"/>
          </a:xfrm>
          <a:prstGeom prst="rect">
            <a:avLst/>
          </a:prstGeom>
          <a:noFill/>
          <a:ln/>
        </p:spPr>
        <p:txBody>
          <a:bodyPr wrap="square" lIns="0" tIns="0" rIns="0" bIns="0" rtlCol="0" anchor="ctr"/>
          <a:lstStyle/>
          <a:p>
            <a:pPr algn="ctr" indent="0" marL="0">
              <a:buNone/>
            </a:pPr>
            <a:r>
              <a:rPr lang="en-US" sz="800" b="1" dirty="0">
                <a:solidFill>
                  <a:srgbClr val="0D1B2A"/>
                </a:solidFill>
                <a:latin typeface="Calibri" pitchFamily="34" charset="0"/>
                <a:ea typeface="Calibri" pitchFamily="34" charset="-122"/>
                <a:cs typeface="Calibri" pitchFamily="34" charset="-120"/>
              </a:rPr>
              <a:t>WORKLOADS</a:t>
            </a:r>
            <a:endParaRPr lang="en-US" sz="800" dirty="0"/>
          </a:p>
        </p:txBody>
      </p:sp>
      <p:sp>
        <p:nvSpPr>
          <p:cNvPr id="5" name="Shape 3"/>
          <p:cNvSpPr/>
          <p:nvPr/>
        </p:nvSpPr>
        <p:spPr>
          <a:xfrm>
            <a:off x="457200" y="777240"/>
            <a:ext cx="8229600" cy="22860"/>
          </a:xfrm>
          <a:prstGeom prst="rect">
            <a:avLst/>
          </a:prstGeom>
          <a:solidFill>
            <a:srgbClr val="0E9AA7"/>
          </a:solidFill>
          <a:ln w="12700">
            <a:solidFill>
              <a:srgbClr val="0E9AA7"/>
            </a:solidFill>
            <a:prstDash val="solid"/>
          </a:ln>
        </p:spPr>
      </p:sp>
      <p:sp>
        <p:nvSpPr>
          <p:cNvPr id="6" name="Shape 4"/>
          <p:cNvSpPr/>
          <p:nvPr/>
        </p:nvSpPr>
        <p:spPr>
          <a:xfrm>
            <a:off x="365760" y="960120"/>
            <a:ext cx="2834640" cy="3931920"/>
          </a:xfrm>
          <a:prstGeom prst="rect">
            <a:avLst/>
          </a:prstGeom>
          <a:solidFill>
            <a:srgbClr val="FFFFFF"/>
          </a:solidFill>
          <a:ln w="12700">
            <a:solidFill>
              <a:srgbClr val="D6E3EE"/>
            </a:solidFill>
            <a:prstDash val="solid"/>
          </a:ln>
          <a:effectLst>
            <a:outerShdw sx="100000" sy="100000" kx="0" ky="0" algn="bl" rotWithShape="0" blurRad="50800" dist="25400" dir="8100000">
              <a:srgbClr val="000000">
                <a:alpha val="8000"/>
              </a:srgbClr>
            </a:outerShdw>
          </a:effectLst>
        </p:spPr>
      </p:sp>
      <p:sp>
        <p:nvSpPr>
          <p:cNvPr id="7" name="Shape 5"/>
          <p:cNvSpPr/>
          <p:nvPr/>
        </p:nvSpPr>
        <p:spPr>
          <a:xfrm>
            <a:off x="365760" y="960120"/>
            <a:ext cx="2834640" cy="411480"/>
          </a:xfrm>
          <a:prstGeom prst="rect">
            <a:avLst/>
          </a:prstGeom>
          <a:solidFill>
            <a:srgbClr val="0E9AA7"/>
          </a:solidFill>
          <a:ln w="12700">
            <a:solidFill>
              <a:srgbClr val="0E9AA7"/>
            </a:solidFill>
            <a:prstDash val="solid"/>
          </a:ln>
        </p:spPr>
      </p:sp>
      <p:sp>
        <p:nvSpPr>
          <p:cNvPr id="8" name="Text 6"/>
          <p:cNvSpPr/>
          <p:nvPr/>
        </p:nvSpPr>
        <p:spPr>
          <a:xfrm>
            <a:off x="457200" y="1005840"/>
            <a:ext cx="265176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cpu_hog.c</a:t>
            </a:r>
            <a:endParaRPr lang="en-US" sz="1300" dirty="0"/>
          </a:p>
        </p:txBody>
      </p:sp>
      <p:sp>
        <p:nvSpPr>
          <p:cNvPr id="9" name="Text 7"/>
          <p:cNvSpPr/>
          <p:nvPr/>
        </p:nvSpPr>
        <p:spPr>
          <a:xfrm>
            <a:off x="475488" y="1444752"/>
            <a:ext cx="2615184" cy="182880"/>
          </a:xfrm>
          <a:prstGeom prst="rect">
            <a:avLst/>
          </a:prstGeom>
          <a:noFill/>
          <a:ln/>
        </p:spPr>
        <p:txBody>
          <a:bodyPr wrap="square" lIns="0" tIns="0" rIns="0" bIns="0" rtlCol="0" anchor="ctr"/>
          <a:lstStyle/>
          <a:p>
            <a:pPr indent="0" marL="0">
              <a:buNone/>
            </a:pPr>
            <a:r>
              <a:rPr lang="en-US" sz="900" b="1" dirty="0">
                <a:solidFill>
                  <a:srgbClr val="0E9AA7"/>
                </a:solidFill>
                <a:latin typeface="Calibri" pitchFamily="34" charset="0"/>
                <a:ea typeface="Calibri" pitchFamily="34" charset="-122"/>
                <a:cs typeface="Calibri" pitchFamily="34" charset="-120"/>
              </a:rPr>
              <a:t>Usage:</a:t>
            </a:r>
            <a:endParaRPr lang="en-US" sz="900" dirty="0"/>
          </a:p>
        </p:txBody>
      </p:sp>
      <p:sp>
        <p:nvSpPr>
          <p:cNvPr id="10" name="Text 8"/>
          <p:cNvSpPr/>
          <p:nvPr/>
        </p:nvSpPr>
        <p:spPr>
          <a:xfrm>
            <a:off x="475488" y="1627632"/>
            <a:ext cx="2615184"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./cpu_hog [seconds]</a:t>
            </a:r>
            <a:endParaRPr lang="en-US" sz="950" dirty="0"/>
          </a:p>
        </p:txBody>
      </p:sp>
      <p:sp>
        <p:nvSpPr>
          <p:cNvPr id="11" name="Text 9"/>
          <p:cNvSpPr/>
          <p:nvPr/>
        </p:nvSpPr>
        <p:spPr>
          <a:xfrm>
            <a:off x="475488" y="2313432"/>
            <a:ext cx="2615184" cy="182880"/>
          </a:xfrm>
          <a:prstGeom prst="rect">
            <a:avLst/>
          </a:prstGeom>
          <a:noFill/>
          <a:ln/>
        </p:spPr>
        <p:txBody>
          <a:bodyPr wrap="square" lIns="0" tIns="0" rIns="0" bIns="0" rtlCol="0" anchor="ctr"/>
          <a:lstStyle/>
          <a:p>
            <a:pPr indent="0" marL="0">
              <a:buNone/>
            </a:pPr>
            <a:r>
              <a:rPr lang="en-US" sz="900" b="1" dirty="0">
                <a:solidFill>
                  <a:srgbClr val="0E9AA7"/>
                </a:solidFill>
                <a:latin typeface="Calibri" pitchFamily="34" charset="0"/>
                <a:ea typeface="Calibri" pitchFamily="34" charset="-122"/>
                <a:cs typeface="Calibri" pitchFamily="34" charset="-120"/>
              </a:rPr>
              <a:t>Mechanism:</a:t>
            </a:r>
            <a:endParaRPr lang="en-US" sz="900" dirty="0"/>
          </a:p>
        </p:txBody>
      </p:sp>
      <p:sp>
        <p:nvSpPr>
          <p:cNvPr id="12" name="Text 10"/>
          <p:cNvSpPr/>
          <p:nvPr/>
        </p:nvSpPr>
        <p:spPr>
          <a:xfrm>
            <a:off x="475488" y="2496312"/>
            <a:ext cx="2615184"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Tight loop: accumulator = accumulator * 1664525 + 1013904223</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Prints progress once/sec via time() check</a:t>
            </a:r>
            <a:endParaRPr lang="en-US" sz="950" dirty="0"/>
          </a:p>
        </p:txBody>
      </p:sp>
      <p:sp>
        <p:nvSpPr>
          <p:cNvPr id="13" name="Text 11"/>
          <p:cNvSpPr/>
          <p:nvPr/>
        </p:nvSpPr>
        <p:spPr>
          <a:xfrm>
            <a:off x="475488" y="3182112"/>
            <a:ext cx="2615184" cy="182880"/>
          </a:xfrm>
          <a:prstGeom prst="rect">
            <a:avLst/>
          </a:prstGeom>
          <a:noFill/>
          <a:ln/>
        </p:spPr>
        <p:txBody>
          <a:bodyPr wrap="square" lIns="0" tIns="0" rIns="0" bIns="0" rtlCol="0" anchor="ctr"/>
          <a:lstStyle/>
          <a:p>
            <a:pPr indent="0" marL="0">
              <a:buNone/>
            </a:pPr>
            <a:r>
              <a:rPr lang="en-US" sz="900" b="1" dirty="0">
                <a:solidFill>
                  <a:srgbClr val="0E9AA7"/>
                </a:solidFill>
                <a:latin typeface="Calibri" pitchFamily="34" charset="0"/>
                <a:ea typeface="Calibri" pitchFamily="34" charset="-122"/>
                <a:cs typeface="Calibri" pitchFamily="34" charset="-120"/>
              </a:rPr>
              <a:t>Purpose:</a:t>
            </a:r>
            <a:endParaRPr lang="en-US" sz="900" dirty="0"/>
          </a:p>
        </p:txBody>
      </p:sp>
      <p:sp>
        <p:nvSpPr>
          <p:cNvPr id="14" name="Text 12"/>
          <p:cNvSpPr/>
          <p:nvPr/>
        </p:nvSpPr>
        <p:spPr>
          <a:xfrm>
            <a:off x="475488" y="3364992"/>
            <a:ext cx="2615184"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Saturates a CPU core</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Test CFS nice scheduling</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Measure completion time differences</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Compare --nice -10 vs --nice 10 vs default</a:t>
            </a:r>
            <a:endParaRPr lang="en-US" sz="950" dirty="0"/>
          </a:p>
        </p:txBody>
      </p:sp>
      <p:sp>
        <p:nvSpPr>
          <p:cNvPr id="15" name="Text 13"/>
          <p:cNvSpPr/>
          <p:nvPr/>
        </p:nvSpPr>
        <p:spPr>
          <a:xfrm>
            <a:off x="475488" y="4050792"/>
            <a:ext cx="2615184" cy="182880"/>
          </a:xfrm>
          <a:prstGeom prst="rect">
            <a:avLst/>
          </a:prstGeom>
          <a:noFill/>
          <a:ln/>
        </p:spPr>
        <p:txBody>
          <a:bodyPr wrap="square" lIns="0" tIns="0" rIns="0" bIns="0" rtlCol="0" anchor="ctr"/>
          <a:lstStyle/>
          <a:p>
            <a:pPr indent="0" marL="0">
              <a:buNone/>
            </a:pPr>
            <a:r>
              <a:rPr lang="en-US" sz="900" b="1" dirty="0">
                <a:solidFill>
                  <a:srgbClr val="0E9AA7"/>
                </a:solidFill>
                <a:latin typeface="Calibri" pitchFamily="34" charset="0"/>
                <a:ea typeface="Calibri" pitchFamily="34" charset="-122"/>
                <a:cs typeface="Calibri" pitchFamily="34" charset="-120"/>
              </a:rPr>
              <a:t>Key Metric:</a:t>
            </a:r>
            <a:endParaRPr lang="en-US" sz="900" dirty="0"/>
          </a:p>
        </p:txBody>
      </p:sp>
      <p:sp>
        <p:nvSpPr>
          <p:cNvPr id="16" name="Text 14"/>
          <p:cNvSpPr/>
          <p:nvPr/>
        </p:nvSpPr>
        <p:spPr>
          <a:xfrm>
            <a:off x="475488" y="4233672"/>
            <a:ext cx="2615184"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Completion time</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(lower nice = faster)</a:t>
            </a:r>
            <a:endParaRPr lang="en-US" sz="950" dirty="0"/>
          </a:p>
        </p:txBody>
      </p:sp>
      <p:sp>
        <p:nvSpPr>
          <p:cNvPr id="17" name="Shape 15"/>
          <p:cNvSpPr/>
          <p:nvPr/>
        </p:nvSpPr>
        <p:spPr>
          <a:xfrm>
            <a:off x="3337560" y="960120"/>
            <a:ext cx="2834640" cy="3931920"/>
          </a:xfrm>
          <a:prstGeom prst="rect">
            <a:avLst/>
          </a:prstGeom>
          <a:solidFill>
            <a:srgbClr val="FFFFFF"/>
          </a:solidFill>
          <a:ln w="12700">
            <a:solidFill>
              <a:srgbClr val="D6E3EE"/>
            </a:solidFill>
            <a:prstDash val="solid"/>
          </a:ln>
          <a:effectLst>
            <a:outerShdw sx="100000" sy="100000" kx="0" ky="0" algn="bl" rotWithShape="0" blurRad="50800" dist="25400" dir="8100000">
              <a:srgbClr val="000000">
                <a:alpha val="8000"/>
              </a:srgbClr>
            </a:outerShdw>
          </a:effectLst>
        </p:spPr>
      </p:sp>
      <p:sp>
        <p:nvSpPr>
          <p:cNvPr id="18" name="Shape 16"/>
          <p:cNvSpPr/>
          <p:nvPr/>
        </p:nvSpPr>
        <p:spPr>
          <a:xfrm>
            <a:off x="3337560" y="960120"/>
            <a:ext cx="2834640" cy="411480"/>
          </a:xfrm>
          <a:prstGeom prst="rect">
            <a:avLst/>
          </a:prstGeom>
          <a:solidFill>
            <a:srgbClr val="00D9A5"/>
          </a:solidFill>
          <a:ln w="12700">
            <a:solidFill>
              <a:srgbClr val="00D9A5"/>
            </a:solidFill>
            <a:prstDash val="solid"/>
          </a:ln>
        </p:spPr>
      </p:sp>
      <p:sp>
        <p:nvSpPr>
          <p:cNvPr id="19" name="Text 17"/>
          <p:cNvSpPr/>
          <p:nvPr/>
        </p:nvSpPr>
        <p:spPr>
          <a:xfrm>
            <a:off x="3429000" y="1005840"/>
            <a:ext cx="265176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memory_hog.c</a:t>
            </a:r>
            <a:endParaRPr lang="en-US" sz="1300" dirty="0"/>
          </a:p>
        </p:txBody>
      </p:sp>
      <p:sp>
        <p:nvSpPr>
          <p:cNvPr id="20" name="Text 18"/>
          <p:cNvSpPr/>
          <p:nvPr/>
        </p:nvSpPr>
        <p:spPr>
          <a:xfrm>
            <a:off x="3447288" y="1444752"/>
            <a:ext cx="2615184" cy="182880"/>
          </a:xfrm>
          <a:prstGeom prst="rect">
            <a:avLst/>
          </a:prstGeom>
          <a:noFill/>
          <a:ln/>
        </p:spPr>
        <p:txBody>
          <a:bodyPr wrap="square" lIns="0" tIns="0" rIns="0" bIns="0" rtlCol="0" anchor="ctr"/>
          <a:lstStyle/>
          <a:p>
            <a:pPr indent="0" marL="0">
              <a:buNone/>
            </a:pPr>
            <a:r>
              <a:rPr lang="en-US" sz="900" b="1" dirty="0">
                <a:solidFill>
                  <a:srgbClr val="00D9A5"/>
                </a:solidFill>
                <a:latin typeface="Calibri" pitchFamily="34" charset="0"/>
                <a:ea typeface="Calibri" pitchFamily="34" charset="-122"/>
                <a:cs typeface="Calibri" pitchFamily="34" charset="-120"/>
              </a:rPr>
              <a:t>Usage:</a:t>
            </a:r>
            <a:endParaRPr lang="en-US" sz="900" dirty="0"/>
          </a:p>
        </p:txBody>
      </p:sp>
      <p:sp>
        <p:nvSpPr>
          <p:cNvPr id="21" name="Text 19"/>
          <p:cNvSpPr/>
          <p:nvPr/>
        </p:nvSpPr>
        <p:spPr>
          <a:xfrm>
            <a:off x="3447288" y="1627632"/>
            <a:ext cx="2615184"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./memory_hog [chunk_mb] [sleep_ms]</a:t>
            </a:r>
            <a:endParaRPr lang="en-US" sz="950" dirty="0"/>
          </a:p>
        </p:txBody>
      </p:sp>
      <p:sp>
        <p:nvSpPr>
          <p:cNvPr id="22" name="Text 20"/>
          <p:cNvSpPr/>
          <p:nvPr/>
        </p:nvSpPr>
        <p:spPr>
          <a:xfrm>
            <a:off x="3447288" y="2313432"/>
            <a:ext cx="2615184" cy="182880"/>
          </a:xfrm>
          <a:prstGeom prst="rect">
            <a:avLst/>
          </a:prstGeom>
          <a:noFill/>
          <a:ln/>
        </p:spPr>
        <p:txBody>
          <a:bodyPr wrap="square" lIns="0" tIns="0" rIns="0" bIns="0" rtlCol="0" anchor="ctr"/>
          <a:lstStyle/>
          <a:p>
            <a:pPr indent="0" marL="0">
              <a:buNone/>
            </a:pPr>
            <a:r>
              <a:rPr lang="en-US" sz="900" b="1" dirty="0">
                <a:solidFill>
                  <a:srgbClr val="00D9A5"/>
                </a:solidFill>
                <a:latin typeface="Calibri" pitchFamily="34" charset="0"/>
                <a:ea typeface="Calibri" pitchFamily="34" charset="-122"/>
                <a:cs typeface="Calibri" pitchFamily="34" charset="-120"/>
              </a:rPr>
              <a:t>Mechanism:</a:t>
            </a:r>
            <a:endParaRPr lang="en-US" sz="900" dirty="0"/>
          </a:p>
        </p:txBody>
      </p:sp>
      <p:sp>
        <p:nvSpPr>
          <p:cNvPr id="23" name="Text 21"/>
          <p:cNvSpPr/>
          <p:nvPr/>
        </p:nvSpPr>
        <p:spPr>
          <a:xfrm>
            <a:off x="3447288" y="2496312"/>
            <a:ext cx="2615184"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malloc(chunk_bytes) then memset(mem,'A') per cycle</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Each memset forces real page allocation</a:t>
            </a:r>
            <a:endParaRPr lang="en-US" sz="950" dirty="0"/>
          </a:p>
        </p:txBody>
      </p:sp>
      <p:sp>
        <p:nvSpPr>
          <p:cNvPr id="24" name="Text 22"/>
          <p:cNvSpPr/>
          <p:nvPr/>
        </p:nvSpPr>
        <p:spPr>
          <a:xfrm>
            <a:off x="3447288" y="3182112"/>
            <a:ext cx="2615184" cy="182880"/>
          </a:xfrm>
          <a:prstGeom prst="rect">
            <a:avLst/>
          </a:prstGeom>
          <a:noFill/>
          <a:ln/>
        </p:spPr>
        <p:txBody>
          <a:bodyPr wrap="square" lIns="0" tIns="0" rIns="0" bIns="0" rtlCol="0" anchor="ctr"/>
          <a:lstStyle/>
          <a:p>
            <a:pPr indent="0" marL="0">
              <a:buNone/>
            </a:pPr>
            <a:r>
              <a:rPr lang="en-US" sz="900" b="1" dirty="0">
                <a:solidFill>
                  <a:srgbClr val="00D9A5"/>
                </a:solidFill>
                <a:latin typeface="Calibri" pitchFamily="34" charset="0"/>
                <a:ea typeface="Calibri" pitchFamily="34" charset="-122"/>
                <a:cs typeface="Calibri" pitchFamily="34" charset="-120"/>
              </a:rPr>
              <a:t>Purpose:</a:t>
            </a:r>
            <a:endParaRPr lang="en-US" sz="900" dirty="0"/>
          </a:p>
        </p:txBody>
      </p:sp>
      <p:sp>
        <p:nvSpPr>
          <p:cNvPr id="25" name="Text 23"/>
          <p:cNvSpPr/>
          <p:nvPr/>
        </p:nvSpPr>
        <p:spPr>
          <a:xfrm>
            <a:off x="3447288" y="3364992"/>
            <a:ext cx="2615184"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Grows RSS by N MiB/sec</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Trigger soft-limit warning</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Trigger hard-limit SIGKILL</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Default: 8 MiB chunks, 1000 ms sleep</a:t>
            </a:r>
            <a:endParaRPr lang="en-US" sz="950" dirty="0"/>
          </a:p>
        </p:txBody>
      </p:sp>
      <p:sp>
        <p:nvSpPr>
          <p:cNvPr id="26" name="Text 24"/>
          <p:cNvSpPr/>
          <p:nvPr/>
        </p:nvSpPr>
        <p:spPr>
          <a:xfrm>
            <a:off x="3447288" y="4050792"/>
            <a:ext cx="2615184" cy="182880"/>
          </a:xfrm>
          <a:prstGeom prst="rect">
            <a:avLst/>
          </a:prstGeom>
          <a:noFill/>
          <a:ln/>
        </p:spPr>
        <p:txBody>
          <a:bodyPr wrap="square" lIns="0" tIns="0" rIns="0" bIns="0" rtlCol="0" anchor="ctr"/>
          <a:lstStyle/>
          <a:p>
            <a:pPr indent="0" marL="0">
              <a:buNone/>
            </a:pPr>
            <a:r>
              <a:rPr lang="en-US" sz="900" b="1" dirty="0">
                <a:solidFill>
                  <a:srgbClr val="00D9A5"/>
                </a:solidFill>
                <a:latin typeface="Calibri" pitchFamily="34" charset="0"/>
                <a:ea typeface="Calibri" pitchFamily="34" charset="-122"/>
                <a:cs typeface="Calibri" pitchFamily="34" charset="-120"/>
              </a:rPr>
              <a:t>Key Metric:</a:t>
            </a:r>
            <a:endParaRPr lang="en-US" sz="900" dirty="0"/>
          </a:p>
        </p:txBody>
      </p:sp>
      <p:sp>
        <p:nvSpPr>
          <p:cNvPr id="27" name="Text 25"/>
          <p:cNvSpPr/>
          <p:nvPr/>
        </p:nvSpPr>
        <p:spPr>
          <a:xfrm>
            <a:off x="3447288" y="4233672"/>
            <a:ext cx="2615184"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RSS growth &amp; SIGKILL event</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(check dmesg)</a:t>
            </a:r>
            <a:endParaRPr lang="en-US" sz="950" dirty="0"/>
          </a:p>
        </p:txBody>
      </p:sp>
      <p:sp>
        <p:nvSpPr>
          <p:cNvPr id="28" name="Shape 26"/>
          <p:cNvSpPr/>
          <p:nvPr/>
        </p:nvSpPr>
        <p:spPr>
          <a:xfrm>
            <a:off x="6309360" y="960120"/>
            <a:ext cx="2834640" cy="3931920"/>
          </a:xfrm>
          <a:prstGeom prst="rect">
            <a:avLst/>
          </a:prstGeom>
          <a:solidFill>
            <a:srgbClr val="FFFFFF"/>
          </a:solidFill>
          <a:ln w="12700">
            <a:solidFill>
              <a:srgbClr val="D6E3EE"/>
            </a:solidFill>
            <a:prstDash val="solid"/>
          </a:ln>
          <a:effectLst>
            <a:outerShdw sx="100000" sy="100000" kx="0" ky="0" algn="bl" rotWithShape="0" blurRad="50800" dist="25400" dir="8100000">
              <a:srgbClr val="000000">
                <a:alpha val="8000"/>
              </a:srgbClr>
            </a:outerShdw>
          </a:effectLst>
        </p:spPr>
      </p:sp>
      <p:sp>
        <p:nvSpPr>
          <p:cNvPr id="29" name="Shape 27"/>
          <p:cNvSpPr/>
          <p:nvPr/>
        </p:nvSpPr>
        <p:spPr>
          <a:xfrm>
            <a:off x="6309360" y="960120"/>
            <a:ext cx="2834640" cy="411480"/>
          </a:xfrm>
          <a:prstGeom prst="rect">
            <a:avLst/>
          </a:prstGeom>
          <a:solidFill>
            <a:srgbClr val="F5A623"/>
          </a:solidFill>
          <a:ln w="12700">
            <a:solidFill>
              <a:srgbClr val="F5A623"/>
            </a:solidFill>
            <a:prstDash val="solid"/>
          </a:ln>
        </p:spPr>
      </p:sp>
      <p:sp>
        <p:nvSpPr>
          <p:cNvPr id="30" name="Text 28"/>
          <p:cNvSpPr/>
          <p:nvPr/>
        </p:nvSpPr>
        <p:spPr>
          <a:xfrm>
            <a:off x="6400800" y="1005840"/>
            <a:ext cx="265176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io_pulse.c</a:t>
            </a:r>
            <a:endParaRPr lang="en-US" sz="1300" dirty="0"/>
          </a:p>
        </p:txBody>
      </p:sp>
      <p:sp>
        <p:nvSpPr>
          <p:cNvPr id="31" name="Text 29"/>
          <p:cNvSpPr/>
          <p:nvPr/>
        </p:nvSpPr>
        <p:spPr>
          <a:xfrm>
            <a:off x="6419088" y="1444752"/>
            <a:ext cx="2615184" cy="182880"/>
          </a:xfrm>
          <a:prstGeom prst="rect">
            <a:avLst/>
          </a:prstGeom>
          <a:noFill/>
          <a:ln/>
        </p:spPr>
        <p:txBody>
          <a:bodyPr wrap="square" lIns="0" tIns="0" rIns="0" bIns="0" rtlCol="0" anchor="ctr"/>
          <a:lstStyle/>
          <a:p>
            <a:pPr indent="0" marL="0">
              <a:buNone/>
            </a:pPr>
            <a:r>
              <a:rPr lang="en-US" sz="900" b="1" dirty="0">
                <a:solidFill>
                  <a:srgbClr val="F5A623"/>
                </a:solidFill>
                <a:latin typeface="Calibri" pitchFamily="34" charset="0"/>
                <a:ea typeface="Calibri" pitchFamily="34" charset="-122"/>
                <a:cs typeface="Calibri" pitchFamily="34" charset="-120"/>
              </a:rPr>
              <a:t>Usage:</a:t>
            </a:r>
            <a:endParaRPr lang="en-US" sz="900" dirty="0"/>
          </a:p>
        </p:txBody>
      </p:sp>
      <p:sp>
        <p:nvSpPr>
          <p:cNvPr id="32" name="Text 30"/>
          <p:cNvSpPr/>
          <p:nvPr/>
        </p:nvSpPr>
        <p:spPr>
          <a:xfrm>
            <a:off x="6419088" y="1627632"/>
            <a:ext cx="2615184"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./io_pulse [iterations] [sleep_ms]</a:t>
            </a:r>
            <a:endParaRPr lang="en-US" sz="950" dirty="0"/>
          </a:p>
        </p:txBody>
      </p:sp>
      <p:sp>
        <p:nvSpPr>
          <p:cNvPr id="33" name="Text 31"/>
          <p:cNvSpPr/>
          <p:nvPr/>
        </p:nvSpPr>
        <p:spPr>
          <a:xfrm>
            <a:off x="6419088" y="2313432"/>
            <a:ext cx="2615184" cy="182880"/>
          </a:xfrm>
          <a:prstGeom prst="rect">
            <a:avLst/>
          </a:prstGeom>
          <a:noFill/>
          <a:ln/>
        </p:spPr>
        <p:txBody>
          <a:bodyPr wrap="square" lIns="0" tIns="0" rIns="0" bIns="0" rtlCol="0" anchor="ctr"/>
          <a:lstStyle/>
          <a:p>
            <a:pPr indent="0" marL="0">
              <a:buNone/>
            </a:pPr>
            <a:r>
              <a:rPr lang="en-US" sz="900" b="1" dirty="0">
                <a:solidFill>
                  <a:srgbClr val="F5A623"/>
                </a:solidFill>
                <a:latin typeface="Calibri" pitchFamily="34" charset="0"/>
                <a:ea typeface="Calibri" pitchFamily="34" charset="-122"/>
                <a:cs typeface="Calibri" pitchFamily="34" charset="-120"/>
              </a:rPr>
              <a:t>Mechanism:</a:t>
            </a:r>
            <a:endParaRPr lang="en-US" sz="900" dirty="0"/>
          </a:p>
        </p:txBody>
      </p:sp>
      <p:sp>
        <p:nvSpPr>
          <p:cNvPr id="34" name="Text 32"/>
          <p:cNvSpPr/>
          <p:nvPr/>
        </p:nvSpPr>
        <p:spPr>
          <a:xfrm>
            <a:off x="6419088" y="2496312"/>
            <a:ext cx="2615184"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open → write → fsync → usleep per iteration</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Outputs to /tmp/io_pulse.out inside container</a:t>
            </a:r>
            <a:endParaRPr lang="en-US" sz="950" dirty="0"/>
          </a:p>
        </p:txBody>
      </p:sp>
      <p:sp>
        <p:nvSpPr>
          <p:cNvPr id="35" name="Text 33"/>
          <p:cNvSpPr/>
          <p:nvPr/>
        </p:nvSpPr>
        <p:spPr>
          <a:xfrm>
            <a:off x="6419088" y="3182112"/>
            <a:ext cx="2615184" cy="182880"/>
          </a:xfrm>
          <a:prstGeom prst="rect">
            <a:avLst/>
          </a:prstGeom>
          <a:noFill/>
          <a:ln/>
        </p:spPr>
        <p:txBody>
          <a:bodyPr wrap="square" lIns="0" tIns="0" rIns="0" bIns="0" rtlCol="0" anchor="ctr"/>
          <a:lstStyle/>
          <a:p>
            <a:pPr indent="0" marL="0">
              <a:buNone/>
            </a:pPr>
            <a:r>
              <a:rPr lang="en-US" sz="900" b="1" dirty="0">
                <a:solidFill>
                  <a:srgbClr val="F5A623"/>
                </a:solidFill>
                <a:latin typeface="Calibri" pitchFamily="34" charset="0"/>
                <a:ea typeface="Calibri" pitchFamily="34" charset="-122"/>
                <a:cs typeface="Calibri" pitchFamily="34" charset="-120"/>
              </a:rPr>
              <a:t>Purpose:</a:t>
            </a:r>
            <a:endParaRPr lang="en-US" sz="900" dirty="0"/>
          </a:p>
        </p:txBody>
      </p:sp>
      <p:sp>
        <p:nvSpPr>
          <p:cNvPr id="36" name="Text 34"/>
          <p:cNvSpPr/>
          <p:nvPr/>
        </p:nvSpPr>
        <p:spPr>
          <a:xfrm>
            <a:off x="6419088" y="3364992"/>
            <a:ext cx="2615184"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I/O-bound vs CPU-bound comparison</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Test scheduler responsiveness</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Mix with cpu_hog to observe I/O fairness</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Default: 20 iterations, 200 ms sleep</a:t>
            </a:r>
            <a:endParaRPr lang="en-US" sz="950" dirty="0"/>
          </a:p>
        </p:txBody>
      </p:sp>
      <p:sp>
        <p:nvSpPr>
          <p:cNvPr id="37" name="Text 35"/>
          <p:cNvSpPr/>
          <p:nvPr/>
        </p:nvSpPr>
        <p:spPr>
          <a:xfrm>
            <a:off x="6419088" y="4050792"/>
            <a:ext cx="2615184" cy="182880"/>
          </a:xfrm>
          <a:prstGeom prst="rect">
            <a:avLst/>
          </a:prstGeom>
          <a:noFill/>
          <a:ln/>
        </p:spPr>
        <p:txBody>
          <a:bodyPr wrap="square" lIns="0" tIns="0" rIns="0" bIns="0" rtlCol="0" anchor="ctr"/>
          <a:lstStyle/>
          <a:p>
            <a:pPr indent="0" marL="0">
              <a:buNone/>
            </a:pPr>
            <a:r>
              <a:rPr lang="en-US" sz="900" b="1" dirty="0">
                <a:solidFill>
                  <a:srgbClr val="F5A623"/>
                </a:solidFill>
                <a:latin typeface="Calibri" pitchFamily="34" charset="0"/>
                <a:ea typeface="Calibri" pitchFamily="34" charset="-122"/>
                <a:cs typeface="Calibri" pitchFamily="34" charset="-120"/>
              </a:rPr>
              <a:t>Key Metric:</a:t>
            </a:r>
            <a:endParaRPr lang="en-US" sz="900" dirty="0"/>
          </a:p>
        </p:txBody>
      </p:sp>
      <p:sp>
        <p:nvSpPr>
          <p:cNvPr id="38" name="Text 36"/>
          <p:cNvSpPr/>
          <p:nvPr/>
        </p:nvSpPr>
        <p:spPr>
          <a:xfrm>
            <a:off x="6419088" y="4233672"/>
            <a:ext cx="2615184"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Write latency &amp;</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responsiveness under load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3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Scheduling Experiments &amp; CFS Analysis</a:t>
            </a:r>
            <a:endParaRPr lang="en-US" sz="2800" dirty="0"/>
          </a:p>
        </p:txBody>
      </p:sp>
      <p:sp>
        <p:nvSpPr>
          <p:cNvPr id="3" name="Shape 1"/>
          <p:cNvSpPr/>
          <p:nvPr/>
        </p:nvSpPr>
        <p:spPr>
          <a:xfrm>
            <a:off x="457200" y="841248"/>
            <a:ext cx="1097280" cy="201168"/>
          </a:xfrm>
          <a:prstGeom prst="rect">
            <a:avLst/>
          </a:prstGeom>
          <a:solidFill>
            <a:srgbClr val="00D9A5"/>
          </a:solidFill>
          <a:ln w="12700">
            <a:solidFill>
              <a:srgbClr val="00D9A5"/>
            </a:solidFill>
            <a:prstDash val="solid"/>
          </a:ln>
        </p:spPr>
      </p:sp>
      <p:sp>
        <p:nvSpPr>
          <p:cNvPr id="4" name="Text 2"/>
          <p:cNvSpPr/>
          <p:nvPr/>
        </p:nvSpPr>
        <p:spPr>
          <a:xfrm>
            <a:off x="457200" y="841248"/>
            <a:ext cx="1097280" cy="201168"/>
          </a:xfrm>
          <a:prstGeom prst="rect">
            <a:avLst/>
          </a:prstGeom>
          <a:noFill/>
          <a:ln/>
        </p:spPr>
        <p:txBody>
          <a:bodyPr wrap="square" lIns="0" tIns="0" rIns="0" bIns="0" rtlCol="0" anchor="ctr"/>
          <a:lstStyle/>
          <a:p>
            <a:pPr algn="ctr" indent="0" marL="0">
              <a:buNone/>
            </a:pPr>
            <a:r>
              <a:rPr lang="en-US" sz="800" b="1" dirty="0">
                <a:solidFill>
                  <a:srgbClr val="0D1B2A"/>
                </a:solidFill>
                <a:latin typeface="Calibri" pitchFamily="34" charset="0"/>
                <a:ea typeface="Calibri" pitchFamily="34" charset="-122"/>
                <a:cs typeface="Calibri" pitchFamily="34" charset="-120"/>
              </a:rPr>
              <a:t>SCHEDULING</a:t>
            </a:r>
            <a:endParaRPr lang="en-US" sz="800" dirty="0"/>
          </a:p>
        </p:txBody>
      </p:sp>
      <p:sp>
        <p:nvSpPr>
          <p:cNvPr id="5" name="Shape 3"/>
          <p:cNvSpPr/>
          <p:nvPr/>
        </p:nvSpPr>
        <p:spPr>
          <a:xfrm>
            <a:off x="457200" y="777240"/>
            <a:ext cx="8229600" cy="22860"/>
          </a:xfrm>
          <a:prstGeom prst="rect">
            <a:avLst/>
          </a:prstGeom>
          <a:solidFill>
            <a:srgbClr val="F5A623"/>
          </a:solidFill>
          <a:ln w="12700">
            <a:solidFill>
              <a:srgbClr val="F5A623"/>
            </a:solidFill>
            <a:prstDash val="solid"/>
          </a:ln>
        </p:spPr>
      </p:sp>
      <p:sp>
        <p:nvSpPr>
          <p:cNvPr id="6" name="Text 4"/>
          <p:cNvSpPr/>
          <p:nvPr/>
        </p:nvSpPr>
        <p:spPr>
          <a:xfrm>
            <a:off x="365760" y="960120"/>
            <a:ext cx="4023360" cy="256032"/>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CFS: Completely Fair Scheduler</a:t>
            </a:r>
            <a:endParaRPr lang="en-US" sz="1300" dirty="0"/>
          </a:p>
        </p:txBody>
      </p:sp>
      <p:sp>
        <p:nvSpPr>
          <p:cNvPr id="7" name="Text 5"/>
          <p:cNvSpPr/>
          <p:nvPr/>
        </p:nvSpPr>
        <p:spPr>
          <a:xfrm>
            <a:off x="365760" y="1261872"/>
            <a:ext cx="4023360" cy="2286000"/>
          </a:xfrm>
          <a:prstGeom prst="rect">
            <a:avLst/>
          </a:prstGeom>
          <a:noFill/>
          <a:ln/>
        </p:spPr>
        <p:txBody>
          <a:bodyPr wrap="square" lIns="50800" tIns="50800" rIns="50800" bIns="50800"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Tracks virtual runtime (vruntime) per task in a red-black tree</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Task with lowest vruntime runs next — ensures fairness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nice value maps to weight: nice=-20 → weight=88761; nice=+19 → weight=15</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Lower nice = higher weight = more CPU share = faster accumulation of real time</a:t>
            </a:r>
            <a:endParaRPr lang="en-US" sz="1200" dirty="0"/>
          </a:p>
          <a:p>
            <a:pPr marL="342900" indent="-342900">
              <a:buSzPct val="100000"/>
              <a:buChar char="•"/>
            </a:pPr>
            <a:r>
              <a:rPr lang="en-US" sz="1200" b="1" dirty="0">
                <a:solidFill>
                  <a:srgbClr val="F0F4F8"/>
                </a:solidFill>
                <a:latin typeface="Calibri" pitchFamily="34" charset="0"/>
                <a:ea typeface="Calibri" pitchFamily="34" charset="-122"/>
                <a:cs typeface="Calibri" pitchFamily="34" charset="-120"/>
              </a:rPr>
              <a:t>Set via setpriority(PRIO_PROCESS, 0, nice_value) inside child_fn()</a:t>
            </a:r>
            <a:endParaRPr lang="en-US" sz="1200" dirty="0"/>
          </a:p>
        </p:txBody>
      </p:sp>
      <p:graphicFrame>
        <p:nvGraphicFramePr>
          <p:cNvPr id="8" name="Chart 0" descr=""/>
          <p:cNvGraphicFramePr/>
          <p:nvPr/>
        </p:nvGraphicFramePr>
        <p:xfrm>
          <a:off x="4572000" y="960120"/>
          <a:ext cx="4114800" cy="26517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365760" y="3611880"/>
            <a:ext cx="8412480" cy="256032"/>
          </a:xfrm>
          <a:prstGeom prst="rect">
            <a:avLst/>
          </a:prstGeom>
          <a:noFill/>
          <a:ln/>
        </p:spPr>
        <p:txBody>
          <a:bodyPr wrap="square" lIns="0" tIns="0" rIns="0" bIns="0" rtlCol="0" anchor="ctr"/>
          <a:lstStyle/>
          <a:p>
            <a:pPr indent="0" marL="0">
              <a:buNone/>
            </a:pPr>
            <a:r>
              <a:rPr lang="en-US" sz="1200" b="1" dirty="0">
                <a:solidFill>
                  <a:srgbClr val="00D9A5"/>
                </a:solidFill>
                <a:latin typeface="Calibri" pitchFamily="34" charset="0"/>
                <a:ea typeface="Calibri" pitchFamily="34" charset="-122"/>
                <a:cs typeface="Calibri" pitchFamily="34" charset="-120"/>
              </a:rPr>
              <a:t>Experiment Setup</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3913632"/>
          <a:ext cx="8412480" cy="960120"/>
        </p:xfrm>
        <a:graphic>
          <a:graphicData uri="http://schemas.openxmlformats.org/drawingml/2006/table">
            <a:tbl>
              <a:tblPr/>
              <a:tblGrid>
                <a:gridCol w="1645920"/>
                <a:gridCol w="3840480"/>
                <a:gridCol w="2926080"/>
              </a:tblGrid>
              <a:tr h="240030">
                <a:tc>
                  <a:txBody>
                    <a:bodyPr/>
                    <a:lstStyle/>
                    <a:p>
                      <a:pPr indent="0" marL="0">
                        <a:buNone/>
                      </a:pPr>
                      <a:r>
                        <a:rPr lang="en-US" sz="900" b="1" dirty="0">
                          <a:solidFill>
                            <a:srgbClr val="FFFFFF"/>
                          </a:solidFill>
                        </a:rPr>
                        <a:t>Experiment</a:t>
                      </a:r>
                      <a:endParaRPr lang="en-US" sz="900" dirty="0"/>
                    </a:p>
                  </a:txBody>
                  <a:tcPr marL="91440" marR="91440" marT="45720" marB="45720">
                    <a:lnL w="6350" cap="flat" cmpd="sng" algn="ctr">
                      <a:solidFill>
                        <a:srgbClr val="2E4057"/>
                      </a:solidFill>
                      <a:prstDash val="solid"/>
                      <a:round/>
                      <a:headEnd type="none" w="med" len="med"/>
                      <a:tailEnd type="none" w="med" len="med"/>
                    </a:lnL>
                    <a:lnR w="6350" cap="flat" cmpd="sng" algn="ctr">
                      <a:solidFill>
                        <a:srgbClr val="2E4057"/>
                      </a:solidFill>
                      <a:prstDash val="solid"/>
                      <a:round/>
                      <a:headEnd type="none" w="med" len="med"/>
                      <a:tailEnd type="none" w="med" len="med"/>
                    </a:lnR>
                    <a:lnT w="6350" cap="flat" cmpd="sng" algn="ctr">
                      <a:solidFill>
                        <a:srgbClr val="2E4057"/>
                      </a:solidFill>
                      <a:prstDash val="solid"/>
                      <a:round/>
                      <a:headEnd type="none" w="med" len="med"/>
                      <a:tailEnd type="none" w="med" len="med"/>
                    </a:lnT>
                    <a:lnB w="6350" cap="flat" cmpd="sng" algn="ctr">
                      <a:solidFill>
                        <a:srgbClr val="2E4057"/>
                      </a:solidFill>
                      <a:prstDash val="solid"/>
                      <a:round/>
                      <a:headEnd type="none" w="med" len="med"/>
                      <a:tailEnd type="none" w="med" len="med"/>
                    </a:lnB>
                    <a:solidFill>
                      <a:srgbClr val="007A5E"/>
                    </a:solidFill>
                  </a:tcPr>
                </a:tc>
                <a:tc>
                  <a:txBody>
                    <a:bodyPr/>
                    <a:lstStyle/>
                    <a:p>
                      <a:pPr indent="0" marL="0">
                        <a:buNone/>
                      </a:pPr>
                      <a:r>
                        <a:rPr lang="en-US" sz="900" b="1" dirty="0">
                          <a:solidFill>
                            <a:srgbClr val="FFFFFF"/>
                          </a:solidFill>
                        </a:rPr>
                        <a:t>Command</a:t>
                      </a:r>
                      <a:endParaRPr lang="en-US" sz="900" dirty="0"/>
                    </a:p>
                  </a:txBody>
                  <a:tcPr marL="91440" marR="91440" marT="45720" marB="45720">
                    <a:lnL w="6350" cap="flat" cmpd="sng" algn="ctr">
                      <a:solidFill>
                        <a:srgbClr val="2E4057"/>
                      </a:solidFill>
                      <a:prstDash val="solid"/>
                      <a:round/>
                      <a:headEnd type="none" w="med" len="med"/>
                      <a:tailEnd type="none" w="med" len="med"/>
                    </a:lnL>
                    <a:lnR w="6350" cap="flat" cmpd="sng" algn="ctr">
                      <a:solidFill>
                        <a:srgbClr val="2E4057"/>
                      </a:solidFill>
                      <a:prstDash val="solid"/>
                      <a:round/>
                      <a:headEnd type="none" w="med" len="med"/>
                      <a:tailEnd type="none" w="med" len="med"/>
                    </a:lnR>
                    <a:lnT w="6350" cap="flat" cmpd="sng" algn="ctr">
                      <a:solidFill>
                        <a:srgbClr val="2E4057"/>
                      </a:solidFill>
                      <a:prstDash val="solid"/>
                      <a:round/>
                      <a:headEnd type="none" w="med" len="med"/>
                      <a:tailEnd type="none" w="med" len="med"/>
                    </a:lnT>
                    <a:lnB w="6350" cap="flat" cmpd="sng" algn="ctr">
                      <a:solidFill>
                        <a:srgbClr val="2E4057"/>
                      </a:solidFill>
                      <a:prstDash val="solid"/>
                      <a:round/>
                      <a:headEnd type="none" w="med" len="med"/>
                      <a:tailEnd type="none" w="med" len="med"/>
                    </a:lnB>
                    <a:solidFill>
                      <a:srgbClr val="007A5E"/>
                    </a:solidFill>
                  </a:tcPr>
                </a:tc>
                <a:tc>
                  <a:txBody>
                    <a:bodyPr/>
                    <a:lstStyle/>
                    <a:p>
                      <a:pPr indent="0" marL="0">
                        <a:buNone/>
                      </a:pPr>
                      <a:r>
                        <a:rPr lang="en-US" sz="900" b="1" dirty="0">
                          <a:solidFill>
                            <a:srgbClr val="FFFFFF"/>
                          </a:solidFill>
                        </a:rPr>
                        <a:t>Observation</a:t>
                      </a:r>
                      <a:endParaRPr lang="en-US" sz="900" dirty="0"/>
                    </a:p>
                  </a:txBody>
                  <a:tcPr marL="91440" marR="91440" marT="45720" marB="45720">
                    <a:lnL w="6350" cap="flat" cmpd="sng" algn="ctr">
                      <a:solidFill>
                        <a:srgbClr val="2E4057"/>
                      </a:solidFill>
                      <a:prstDash val="solid"/>
                      <a:round/>
                      <a:headEnd type="none" w="med" len="med"/>
                      <a:tailEnd type="none" w="med" len="med"/>
                    </a:lnL>
                    <a:lnR w="6350" cap="flat" cmpd="sng" algn="ctr">
                      <a:solidFill>
                        <a:srgbClr val="2E4057"/>
                      </a:solidFill>
                      <a:prstDash val="solid"/>
                      <a:round/>
                      <a:headEnd type="none" w="med" len="med"/>
                      <a:tailEnd type="none" w="med" len="med"/>
                    </a:lnR>
                    <a:lnT w="6350" cap="flat" cmpd="sng" algn="ctr">
                      <a:solidFill>
                        <a:srgbClr val="2E4057"/>
                      </a:solidFill>
                      <a:prstDash val="solid"/>
                      <a:round/>
                      <a:headEnd type="none" w="med" len="med"/>
                      <a:tailEnd type="none" w="med" len="med"/>
                    </a:lnT>
                    <a:lnB w="6350" cap="flat" cmpd="sng" algn="ctr">
                      <a:solidFill>
                        <a:srgbClr val="2E4057"/>
                      </a:solidFill>
                      <a:prstDash val="solid"/>
                      <a:round/>
                      <a:headEnd type="none" w="med" len="med"/>
                      <a:tailEnd type="none" w="med" len="med"/>
                    </a:lnB>
                    <a:solidFill>
                      <a:srgbClr val="007A5E"/>
                    </a:solidFill>
                  </a:tcPr>
                </a:tc>
              </a:tr>
              <a:tr h="240030">
                <a:tc>
                  <a:txBody>
                    <a:bodyPr/>
                    <a:lstStyle/>
                    <a:p>
                      <a:pPr indent="0" marL="0">
                        <a:buNone/>
                      </a:pPr>
                      <a:r>
                        <a:rPr lang="en-US" sz="900" dirty="0">
                          <a:solidFill>
                            <a:srgbClr val="F0F4F8"/>
                          </a:solidFill>
                        </a:rPr>
                        <a:t>Nice Priority</a:t>
                      </a:r>
                      <a:endParaRPr lang="en-US" sz="900" dirty="0"/>
                    </a:p>
                  </a:txBody>
                  <a:tcPr marL="91440" marR="91440" marT="45720" marB="45720">
                    <a:lnL w="6350" cap="flat" cmpd="sng" algn="ctr">
                      <a:solidFill>
                        <a:srgbClr val="2E4057"/>
                      </a:solidFill>
                      <a:prstDash val="solid"/>
                      <a:round/>
                      <a:headEnd type="none" w="med" len="med"/>
                      <a:tailEnd type="none" w="med" len="med"/>
                    </a:lnL>
                    <a:lnR w="6350" cap="flat" cmpd="sng" algn="ctr">
                      <a:solidFill>
                        <a:srgbClr val="2E4057"/>
                      </a:solidFill>
                      <a:prstDash val="solid"/>
                      <a:round/>
                      <a:headEnd type="none" w="med" len="med"/>
                      <a:tailEnd type="none" w="med" len="med"/>
                    </a:lnR>
                    <a:lnT w="6350" cap="flat" cmpd="sng" algn="ctr">
                      <a:solidFill>
                        <a:srgbClr val="2E4057"/>
                      </a:solidFill>
                      <a:prstDash val="solid"/>
                      <a:round/>
                      <a:headEnd type="none" w="med" len="med"/>
                      <a:tailEnd type="none" w="med" len="med"/>
                    </a:lnT>
                    <a:lnB w="6350" cap="flat" cmpd="sng" algn="ctr">
                      <a:solidFill>
                        <a:srgbClr val="2E4057"/>
                      </a:solidFill>
                      <a:prstDash val="solid"/>
                      <a:round/>
                      <a:headEnd type="none" w="med" len="med"/>
                      <a:tailEnd type="none" w="med" len="med"/>
                    </a:lnB>
                    <a:solidFill>
                      <a:srgbClr val="162534"/>
                    </a:solidFill>
                  </a:tcPr>
                </a:tc>
                <a:tc>
                  <a:txBody>
                    <a:bodyPr/>
                    <a:lstStyle/>
                    <a:p>
                      <a:pPr indent="0" marL="0">
                        <a:buNone/>
                      </a:pPr>
                      <a:r>
                        <a:rPr lang="en-US" sz="900" dirty="0">
                          <a:solidFill>
                            <a:srgbClr val="F0F4F8"/>
                          </a:solidFill>
                        </a:rPr>
                        <a:t>engine start c1 ... cpu_hog 10 --nice -10</a:t>
                      </a:r>
                      <a:endParaRPr lang="en-US" sz="900" dirty="0"/>
                    </a:p>
                    <a:p>
                      <a:pPr indent="0" marL="0">
                        <a:buNone/>
                      </a:pPr>
                      <a:r>
                        <a:rPr lang="en-US" sz="900" dirty="0">
                          <a:solidFill>
                            <a:srgbClr val="F0F4F8"/>
                          </a:solidFill>
                        </a:rPr>
                        <a:t>engine start c2 ... cpu_hog 10 --nice +10</a:t>
                      </a:r>
                      <a:endParaRPr lang="en-US" sz="900" dirty="0"/>
                    </a:p>
                  </a:txBody>
                  <a:tcPr marL="91440" marR="91440" marT="45720" marB="45720">
                    <a:lnL w="6350" cap="flat" cmpd="sng" algn="ctr">
                      <a:solidFill>
                        <a:srgbClr val="2E4057"/>
                      </a:solidFill>
                      <a:prstDash val="solid"/>
                      <a:round/>
                      <a:headEnd type="none" w="med" len="med"/>
                      <a:tailEnd type="none" w="med" len="med"/>
                    </a:lnL>
                    <a:lnR w="6350" cap="flat" cmpd="sng" algn="ctr">
                      <a:solidFill>
                        <a:srgbClr val="2E4057"/>
                      </a:solidFill>
                      <a:prstDash val="solid"/>
                      <a:round/>
                      <a:headEnd type="none" w="med" len="med"/>
                      <a:tailEnd type="none" w="med" len="med"/>
                    </a:lnR>
                    <a:lnT w="6350" cap="flat" cmpd="sng" algn="ctr">
                      <a:solidFill>
                        <a:srgbClr val="2E4057"/>
                      </a:solidFill>
                      <a:prstDash val="solid"/>
                      <a:round/>
                      <a:headEnd type="none" w="med" len="med"/>
                      <a:tailEnd type="none" w="med" len="med"/>
                    </a:lnT>
                    <a:lnB w="6350" cap="flat" cmpd="sng" algn="ctr">
                      <a:solidFill>
                        <a:srgbClr val="2E4057"/>
                      </a:solidFill>
                      <a:prstDash val="solid"/>
                      <a:round/>
                      <a:headEnd type="none" w="med" len="med"/>
                      <a:tailEnd type="none" w="med" len="med"/>
                    </a:lnB>
                    <a:solidFill>
                      <a:srgbClr val="162534"/>
                    </a:solidFill>
                  </a:tcPr>
                </a:tc>
                <a:tc>
                  <a:txBody>
                    <a:bodyPr/>
                    <a:lstStyle/>
                    <a:p>
                      <a:pPr indent="0" marL="0">
                        <a:buNone/>
                      </a:pPr>
                      <a:r>
                        <a:rPr lang="en-US" sz="900" dirty="0">
                          <a:solidFill>
                            <a:srgbClr val="F0F4F8"/>
                          </a:solidFill>
                        </a:rPr>
                        <a:t>c1 gets ~3× more CPU; finishes faster</a:t>
                      </a:r>
                      <a:endParaRPr lang="en-US" sz="900" dirty="0"/>
                    </a:p>
                  </a:txBody>
                  <a:tcPr marL="91440" marR="91440" marT="45720" marB="45720">
                    <a:lnL w="6350" cap="flat" cmpd="sng" algn="ctr">
                      <a:solidFill>
                        <a:srgbClr val="2E4057"/>
                      </a:solidFill>
                      <a:prstDash val="solid"/>
                      <a:round/>
                      <a:headEnd type="none" w="med" len="med"/>
                      <a:tailEnd type="none" w="med" len="med"/>
                    </a:lnL>
                    <a:lnR w="6350" cap="flat" cmpd="sng" algn="ctr">
                      <a:solidFill>
                        <a:srgbClr val="2E4057"/>
                      </a:solidFill>
                      <a:prstDash val="solid"/>
                      <a:round/>
                      <a:headEnd type="none" w="med" len="med"/>
                      <a:tailEnd type="none" w="med" len="med"/>
                    </a:lnR>
                    <a:lnT w="6350" cap="flat" cmpd="sng" algn="ctr">
                      <a:solidFill>
                        <a:srgbClr val="2E4057"/>
                      </a:solidFill>
                      <a:prstDash val="solid"/>
                      <a:round/>
                      <a:headEnd type="none" w="med" len="med"/>
                      <a:tailEnd type="none" w="med" len="med"/>
                    </a:lnT>
                    <a:lnB w="6350" cap="flat" cmpd="sng" algn="ctr">
                      <a:solidFill>
                        <a:srgbClr val="2E4057"/>
                      </a:solidFill>
                      <a:prstDash val="solid"/>
                      <a:round/>
                      <a:headEnd type="none" w="med" len="med"/>
                      <a:tailEnd type="none" w="med" len="med"/>
                    </a:lnB>
                    <a:solidFill>
                      <a:srgbClr val="162534"/>
                    </a:solidFill>
                  </a:tcPr>
                </a:tc>
              </a:tr>
              <a:tr h="240030">
                <a:tc>
                  <a:txBody>
                    <a:bodyPr/>
                    <a:lstStyle/>
                    <a:p>
                      <a:pPr indent="0" marL="0">
                        <a:buNone/>
                      </a:pPr>
                      <a:r>
                        <a:rPr lang="en-US" sz="900" dirty="0">
                          <a:solidFill>
                            <a:srgbClr val="F0F4F8"/>
                          </a:solidFill>
                        </a:rPr>
                        <a:t>Memory Limit</a:t>
                      </a:r>
                      <a:endParaRPr lang="en-US" sz="900" dirty="0"/>
                    </a:p>
                  </a:txBody>
                  <a:tcPr marL="91440" marR="91440" marT="45720" marB="45720">
                    <a:lnL w="6350" cap="flat" cmpd="sng" algn="ctr">
                      <a:solidFill>
                        <a:srgbClr val="2E4057"/>
                      </a:solidFill>
                      <a:prstDash val="solid"/>
                      <a:round/>
                      <a:headEnd type="none" w="med" len="med"/>
                      <a:tailEnd type="none" w="med" len="med"/>
                    </a:lnL>
                    <a:lnR w="6350" cap="flat" cmpd="sng" algn="ctr">
                      <a:solidFill>
                        <a:srgbClr val="2E4057"/>
                      </a:solidFill>
                      <a:prstDash val="solid"/>
                      <a:round/>
                      <a:headEnd type="none" w="med" len="med"/>
                      <a:tailEnd type="none" w="med" len="med"/>
                    </a:lnR>
                    <a:lnT w="6350" cap="flat" cmpd="sng" algn="ctr">
                      <a:solidFill>
                        <a:srgbClr val="2E4057"/>
                      </a:solidFill>
                      <a:prstDash val="solid"/>
                      <a:round/>
                      <a:headEnd type="none" w="med" len="med"/>
                      <a:tailEnd type="none" w="med" len="med"/>
                    </a:lnT>
                    <a:lnB w="6350" cap="flat" cmpd="sng" algn="ctr">
                      <a:solidFill>
                        <a:srgbClr val="2E4057"/>
                      </a:solidFill>
                      <a:prstDash val="solid"/>
                      <a:round/>
                      <a:headEnd type="none" w="med" len="med"/>
                      <a:tailEnd type="none" w="med" len="med"/>
                    </a:lnB>
                    <a:solidFill>
                      <a:srgbClr val="162534"/>
                    </a:solidFill>
                  </a:tcPr>
                </a:tc>
                <a:tc>
                  <a:txBody>
                    <a:bodyPr/>
                    <a:lstStyle/>
                    <a:p>
                      <a:pPr indent="0" marL="0">
                        <a:buNone/>
                      </a:pPr>
                      <a:r>
                        <a:rPr lang="en-US" sz="900" dirty="0">
                          <a:solidFill>
                            <a:srgbClr val="F0F4F8"/>
                          </a:solidFill>
                        </a:rPr>
                        <a:t>engine start mem1 ... memory_hog --hard-mib 32</a:t>
                      </a:r>
                      <a:endParaRPr lang="en-US" sz="900" dirty="0"/>
                    </a:p>
                  </a:txBody>
                  <a:tcPr marL="91440" marR="91440" marT="45720" marB="45720">
                    <a:lnL w="6350" cap="flat" cmpd="sng" algn="ctr">
                      <a:solidFill>
                        <a:srgbClr val="2E4057"/>
                      </a:solidFill>
                      <a:prstDash val="solid"/>
                      <a:round/>
                      <a:headEnd type="none" w="med" len="med"/>
                      <a:tailEnd type="none" w="med" len="med"/>
                    </a:lnL>
                    <a:lnR w="6350" cap="flat" cmpd="sng" algn="ctr">
                      <a:solidFill>
                        <a:srgbClr val="2E4057"/>
                      </a:solidFill>
                      <a:prstDash val="solid"/>
                      <a:round/>
                      <a:headEnd type="none" w="med" len="med"/>
                      <a:tailEnd type="none" w="med" len="med"/>
                    </a:lnR>
                    <a:lnT w="6350" cap="flat" cmpd="sng" algn="ctr">
                      <a:solidFill>
                        <a:srgbClr val="2E4057"/>
                      </a:solidFill>
                      <a:prstDash val="solid"/>
                      <a:round/>
                      <a:headEnd type="none" w="med" len="med"/>
                      <a:tailEnd type="none" w="med" len="med"/>
                    </a:lnT>
                    <a:lnB w="6350" cap="flat" cmpd="sng" algn="ctr">
                      <a:solidFill>
                        <a:srgbClr val="2E4057"/>
                      </a:solidFill>
                      <a:prstDash val="solid"/>
                      <a:round/>
                      <a:headEnd type="none" w="med" len="med"/>
                      <a:tailEnd type="none" w="med" len="med"/>
                    </a:lnB>
                    <a:solidFill>
                      <a:srgbClr val="162534"/>
                    </a:solidFill>
                  </a:tcPr>
                </a:tc>
                <a:tc>
                  <a:txBody>
                    <a:bodyPr/>
                    <a:lstStyle/>
                    <a:p>
                      <a:pPr indent="0" marL="0">
                        <a:buNone/>
                      </a:pPr>
                      <a:r>
                        <a:rPr lang="en-US" sz="900" dirty="0">
                          <a:solidFill>
                            <a:srgbClr val="F0F4F8"/>
                          </a:solidFill>
                        </a:rPr>
                        <a:t>dmesg shows HARD LIMIT + SIGKILL at ~32 MiB</a:t>
                      </a:r>
                      <a:endParaRPr lang="en-US" sz="900" dirty="0"/>
                    </a:p>
                  </a:txBody>
                  <a:tcPr marL="91440" marR="91440" marT="45720" marB="45720">
                    <a:lnL w="6350" cap="flat" cmpd="sng" algn="ctr">
                      <a:solidFill>
                        <a:srgbClr val="2E4057"/>
                      </a:solidFill>
                      <a:prstDash val="solid"/>
                      <a:round/>
                      <a:headEnd type="none" w="med" len="med"/>
                      <a:tailEnd type="none" w="med" len="med"/>
                    </a:lnL>
                    <a:lnR w="6350" cap="flat" cmpd="sng" algn="ctr">
                      <a:solidFill>
                        <a:srgbClr val="2E4057"/>
                      </a:solidFill>
                      <a:prstDash val="solid"/>
                      <a:round/>
                      <a:headEnd type="none" w="med" len="med"/>
                      <a:tailEnd type="none" w="med" len="med"/>
                    </a:lnR>
                    <a:lnT w="6350" cap="flat" cmpd="sng" algn="ctr">
                      <a:solidFill>
                        <a:srgbClr val="2E4057"/>
                      </a:solidFill>
                      <a:prstDash val="solid"/>
                      <a:round/>
                      <a:headEnd type="none" w="med" len="med"/>
                      <a:tailEnd type="none" w="med" len="med"/>
                    </a:lnT>
                    <a:lnB w="6350" cap="flat" cmpd="sng" algn="ctr">
                      <a:solidFill>
                        <a:srgbClr val="2E4057"/>
                      </a:solidFill>
                      <a:prstDash val="solid"/>
                      <a:round/>
                      <a:headEnd type="none" w="med" len="med"/>
                      <a:tailEnd type="none" w="med" len="med"/>
                    </a:lnB>
                    <a:solidFill>
                      <a:srgbClr val="162534"/>
                    </a:solidFill>
                  </a:tcPr>
                </a:tc>
              </a:tr>
              <a:tr h="240030">
                <a:tc>
                  <a:txBody>
                    <a:bodyPr/>
                    <a:lstStyle/>
                    <a:p>
                      <a:pPr indent="0" marL="0">
                        <a:buNone/>
                      </a:pPr>
                      <a:r>
                        <a:rPr lang="en-US" sz="900" dirty="0">
                          <a:solidFill>
                            <a:srgbClr val="F0F4F8"/>
                          </a:solidFill>
                        </a:rPr>
                        <a:t>Mixed Workload</a:t>
                      </a:r>
                      <a:endParaRPr lang="en-US" sz="900" dirty="0"/>
                    </a:p>
                  </a:txBody>
                  <a:tcPr marL="91440" marR="91440" marT="45720" marB="45720">
                    <a:lnL w="6350" cap="flat" cmpd="sng" algn="ctr">
                      <a:solidFill>
                        <a:srgbClr val="2E4057"/>
                      </a:solidFill>
                      <a:prstDash val="solid"/>
                      <a:round/>
                      <a:headEnd type="none" w="med" len="med"/>
                      <a:tailEnd type="none" w="med" len="med"/>
                    </a:lnL>
                    <a:lnR w="6350" cap="flat" cmpd="sng" algn="ctr">
                      <a:solidFill>
                        <a:srgbClr val="2E4057"/>
                      </a:solidFill>
                      <a:prstDash val="solid"/>
                      <a:round/>
                      <a:headEnd type="none" w="med" len="med"/>
                      <a:tailEnd type="none" w="med" len="med"/>
                    </a:lnR>
                    <a:lnT w="6350" cap="flat" cmpd="sng" algn="ctr">
                      <a:solidFill>
                        <a:srgbClr val="2E4057"/>
                      </a:solidFill>
                      <a:prstDash val="solid"/>
                      <a:round/>
                      <a:headEnd type="none" w="med" len="med"/>
                      <a:tailEnd type="none" w="med" len="med"/>
                    </a:lnT>
                    <a:lnB w="6350" cap="flat" cmpd="sng" algn="ctr">
                      <a:solidFill>
                        <a:srgbClr val="2E4057"/>
                      </a:solidFill>
                      <a:prstDash val="solid"/>
                      <a:round/>
                      <a:headEnd type="none" w="med" len="med"/>
                      <a:tailEnd type="none" w="med" len="med"/>
                    </a:lnB>
                    <a:solidFill>
                      <a:srgbClr val="162534"/>
                    </a:solidFill>
                  </a:tcPr>
                </a:tc>
                <a:tc>
                  <a:txBody>
                    <a:bodyPr/>
                    <a:lstStyle/>
                    <a:p>
                      <a:pPr indent="0" marL="0">
                        <a:buNone/>
                      </a:pPr>
                      <a:r>
                        <a:rPr lang="en-US" sz="900" dirty="0">
                          <a:solidFill>
                            <a:srgbClr val="F0F4F8"/>
                          </a:solidFill>
                        </a:rPr>
                        <a:t>cpu_hog + io_pulse at same nice</a:t>
                      </a:r>
                      <a:endParaRPr lang="en-US" sz="900" dirty="0"/>
                    </a:p>
                  </a:txBody>
                  <a:tcPr marL="91440" marR="91440" marT="45720" marB="45720">
                    <a:lnL w="6350" cap="flat" cmpd="sng" algn="ctr">
                      <a:solidFill>
                        <a:srgbClr val="2E4057"/>
                      </a:solidFill>
                      <a:prstDash val="solid"/>
                      <a:round/>
                      <a:headEnd type="none" w="med" len="med"/>
                      <a:tailEnd type="none" w="med" len="med"/>
                    </a:lnL>
                    <a:lnR w="6350" cap="flat" cmpd="sng" algn="ctr">
                      <a:solidFill>
                        <a:srgbClr val="2E4057"/>
                      </a:solidFill>
                      <a:prstDash val="solid"/>
                      <a:round/>
                      <a:headEnd type="none" w="med" len="med"/>
                      <a:tailEnd type="none" w="med" len="med"/>
                    </a:lnR>
                    <a:lnT w="6350" cap="flat" cmpd="sng" algn="ctr">
                      <a:solidFill>
                        <a:srgbClr val="2E4057"/>
                      </a:solidFill>
                      <a:prstDash val="solid"/>
                      <a:round/>
                      <a:headEnd type="none" w="med" len="med"/>
                      <a:tailEnd type="none" w="med" len="med"/>
                    </a:lnT>
                    <a:lnB w="6350" cap="flat" cmpd="sng" algn="ctr">
                      <a:solidFill>
                        <a:srgbClr val="2E4057"/>
                      </a:solidFill>
                      <a:prstDash val="solid"/>
                      <a:round/>
                      <a:headEnd type="none" w="med" len="med"/>
                      <a:tailEnd type="none" w="med" len="med"/>
                    </a:lnB>
                    <a:solidFill>
                      <a:srgbClr val="162534"/>
                    </a:solidFill>
                  </a:tcPr>
                </a:tc>
                <a:tc>
                  <a:txBody>
                    <a:bodyPr/>
                    <a:lstStyle/>
                    <a:p>
                      <a:pPr indent="0" marL="0">
                        <a:buNone/>
                      </a:pPr>
                      <a:r>
                        <a:rPr lang="en-US" sz="900" dirty="0">
                          <a:solidFill>
                            <a:srgbClr val="F0F4F8"/>
                          </a:solidFill>
                        </a:rPr>
                        <a:t>I/O process sleeps often; CPU hog gets more slices</a:t>
                      </a:r>
                      <a:endParaRPr lang="en-US" sz="900" dirty="0"/>
                    </a:p>
                  </a:txBody>
                  <a:tcPr marL="91440" marR="91440" marT="45720" marB="45720">
                    <a:lnL w="6350" cap="flat" cmpd="sng" algn="ctr">
                      <a:solidFill>
                        <a:srgbClr val="2E4057"/>
                      </a:solidFill>
                      <a:prstDash val="solid"/>
                      <a:round/>
                      <a:headEnd type="none" w="med" len="med"/>
                      <a:tailEnd type="none" w="med" len="med"/>
                    </a:lnL>
                    <a:lnR w="6350" cap="flat" cmpd="sng" algn="ctr">
                      <a:solidFill>
                        <a:srgbClr val="2E4057"/>
                      </a:solidFill>
                      <a:prstDash val="solid"/>
                      <a:round/>
                      <a:headEnd type="none" w="med" len="med"/>
                      <a:tailEnd type="none" w="med" len="med"/>
                    </a:lnR>
                    <a:lnT w="6350" cap="flat" cmpd="sng" algn="ctr">
                      <a:solidFill>
                        <a:srgbClr val="2E4057"/>
                      </a:solidFill>
                      <a:prstDash val="solid"/>
                      <a:round/>
                      <a:headEnd type="none" w="med" len="med"/>
                      <a:tailEnd type="none" w="med" len="med"/>
                    </a:lnT>
                    <a:lnB w="6350" cap="flat" cmpd="sng" algn="ctr">
                      <a:solidFill>
                        <a:srgbClr val="2E4057"/>
                      </a:solidFill>
                      <a:prstDash val="solid"/>
                      <a:round/>
                      <a:headEnd type="none" w="med" len="med"/>
                      <a:tailEnd type="none" w="med" len="med"/>
                    </a:lnB>
                    <a:solidFill>
                      <a:srgbClr val="162534"/>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800" b="1" dirty="0">
                <a:solidFill>
                  <a:srgbClr val="1B2A3B"/>
                </a:solidFill>
                <a:latin typeface="Calibri" pitchFamily="34" charset="0"/>
                <a:ea typeface="Calibri" pitchFamily="34" charset="-122"/>
                <a:cs typeface="Calibri" pitchFamily="34" charset="-120"/>
              </a:rPr>
              <a:t>Key OS Concepts Used</a:t>
            </a:r>
            <a:endParaRPr lang="en-US" sz="2800" dirty="0"/>
          </a:p>
        </p:txBody>
      </p:sp>
      <p:sp>
        <p:nvSpPr>
          <p:cNvPr id="3" name="Shape 1"/>
          <p:cNvSpPr/>
          <p:nvPr/>
        </p:nvSpPr>
        <p:spPr>
          <a:xfrm>
            <a:off x="457200" y="841248"/>
            <a:ext cx="1097280" cy="201168"/>
          </a:xfrm>
          <a:prstGeom prst="rect">
            <a:avLst/>
          </a:prstGeom>
          <a:solidFill>
            <a:srgbClr val="00D9A5"/>
          </a:solidFill>
          <a:ln w="12700">
            <a:solidFill>
              <a:srgbClr val="00D9A5"/>
            </a:solidFill>
            <a:prstDash val="solid"/>
          </a:ln>
        </p:spPr>
      </p:sp>
      <p:sp>
        <p:nvSpPr>
          <p:cNvPr id="4" name="Text 2"/>
          <p:cNvSpPr/>
          <p:nvPr/>
        </p:nvSpPr>
        <p:spPr>
          <a:xfrm>
            <a:off x="457200" y="841248"/>
            <a:ext cx="1097280" cy="201168"/>
          </a:xfrm>
          <a:prstGeom prst="rect">
            <a:avLst/>
          </a:prstGeom>
          <a:noFill/>
          <a:ln/>
        </p:spPr>
        <p:txBody>
          <a:bodyPr wrap="square" lIns="0" tIns="0" rIns="0" bIns="0" rtlCol="0" anchor="ctr"/>
          <a:lstStyle/>
          <a:p>
            <a:pPr algn="ctr" indent="0" marL="0">
              <a:buNone/>
            </a:pPr>
            <a:r>
              <a:rPr lang="en-US" sz="800" b="1" dirty="0">
                <a:solidFill>
                  <a:srgbClr val="0D1B2A"/>
                </a:solidFill>
                <a:latin typeface="Calibri" pitchFamily="34" charset="0"/>
                <a:ea typeface="Calibri" pitchFamily="34" charset="-122"/>
                <a:cs typeface="Calibri" pitchFamily="34" charset="-120"/>
              </a:rPr>
              <a:t>OS CONCEPTS</a:t>
            </a:r>
            <a:endParaRPr lang="en-US" sz="800" dirty="0"/>
          </a:p>
        </p:txBody>
      </p:sp>
      <p:sp>
        <p:nvSpPr>
          <p:cNvPr id="5" name="Shape 3"/>
          <p:cNvSpPr/>
          <p:nvPr/>
        </p:nvSpPr>
        <p:spPr>
          <a:xfrm>
            <a:off x="457200" y="777240"/>
            <a:ext cx="8229600" cy="22860"/>
          </a:xfrm>
          <a:prstGeom prst="rect">
            <a:avLst/>
          </a:prstGeom>
          <a:solidFill>
            <a:srgbClr val="0E9AA7"/>
          </a:solidFill>
          <a:ln w="12700">
            <a:solidFill>
              <a:srgbClr val="0E9AA7"/>
            </a:solidFill>
            <a:prstDash val="solid"/>
          </a:ln>
        </p:spPr>
      </p:sp>
      <p:sp>
        <p:nvSpPr>
          <p:cNvPr id="6" name="Shape 4"/>
          <p:cNvSpPr/>
          <p:nvPr/>
        </p:nvSpPr>
        <p:spPr>
          <a:xfrm>
            <a:off x="320040" y="960120"/>
            <a:ext cx="2651760" cy="1097280"/>
          </a:xfrm>
          <a:prstGeom prst="rect">
            <a:avLst/>
          </a:prstGeom>
          <a:solidFill>
            <a:srgbClr val="FFFFFF"/>
          </a:solidFill>
          <a:ln w="12700">
            <a:solidFill>
              <a:srgbClr val="D6E3EE"/>
            </a:solidFill>
            <a:prstDash val="solid"/>
          </a:ln>
          <a:effectLst>
            <a:outerShdw sx="100000" sy="100000" kx="0" ky="0" algn="bl" rotWithShape="0" blurRad="38100" dist="12700" dir="8100000">
              <a:srgbClr val="000000">
                <a:alpha val="8000"/>
              </a:srgbClr>
            </a:outerShdw>
          </a:effectLst>
        </p:spPr>
      </p:sp>
      <p:sp>
        <p:nvSpPr>
          <p:cNvPr id="7" name="Shape 5"/>
          <p:cNvSpPr/>
          <p:nvPr/>
        </p:nvSpPr>
        <p:spPr>
          <a:xfrm>
            <a:off x="429768" y="1216152"/>
            <a:ext cx="457200" cy="457200"/>
          </a:xfrm>
          <a:prstGeom prst="ellipse">
            <a:avLst/>
          </a:prstGeom>
          <a:solidFill>
            <a:srgbClr val="0E9AA7"/>
          </a:solidFill>
          <a:ln w="12700">
            <a:solidFill>
              <a:srgbClr val="0E9AA7"/>
            </a:solidFill>
            <a:prstDash val="solid"/>
          </a:ln>
        </p:spPr>
      </p:sp>
      <p:sp>
        <p:nvSpPr>
          <p:cNvPr id="8" name="Text 6"/>
          <p:cNvSpPr/>
          <p:nvPr/>
        </p:nvSpPr>
        <p:spPr>
          <a:xfrm>
            <a:off x="429768" y="1216152"/>
            <a:ext cx="457200" cy="45720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NS</a:t>
            </a:r>
            <a:endParaRPr lang="en-US" sz="800" dirty="0"/>
          </a:p>
        </p:txBody>
      </p:sp>
      <p:sp>
        <p:nvSpPr>
          <p:cNvPr id="9" name="Text 7"/>
          <p:cNvSpPr/>
          <p:nvPr/>
        </p:nvSpPr>
        <p:spPr>
          <a:xfrm>
            <a:off x="978408" y="1033272"/>
            <a:ext cx="1901952" cy="274320"/>
          </a:xfrm>
          <a:prstGeom prst="rect">
            <a:avLst/>
          </a:prstGeom>
          <a:noFill/>
          <a:ln/>
        </p:spPr>
        <p:txBody>
          <a:bodyPr wrap="square" lIns="0" tIns="0" rIns="0" bIns="0" rtlCol="0" anchor="ctr"/>
          <a:lstStyle/>
          <a:p>
            <a:pPr indent="0" marL="0">
              <a:buNone/>
            </a:pPr>
            <a:r>
              <a:rPr lang="en-US" sz="1100" b="1" dirty="0">
                <a:solidFill>
                  <a:srgbClr val="0E9AA7"/>
                </a:solidFill>
                <a:latin typeface="Calibri" pitchFamily="34" charset="0"/>
                <a:ea typeface="Calibri" pitchFamily="34" charset="-122"/>
                <a:cs typeface="Calibri" pitchFamily="34" charset="-120"/>
              </a:rPr>
              <a:t>Linux Namespaces</a:t>
            </a:r>
            <a:endParaRPr lang="en-US" sz="1100" dirty="0"/>
          </a:p>
        </p:txBody>
      </p:sp>
      <p:sp>
        <p:nvSpPr>
          <p:cNvPr id="10" name="Text 8"/>
          <p:cNvSpPr/>
          <p:nvPr/>
        </p:nvSpPr>
        <p:spPr>
          <a:xfrm>
            <a:off x="978408" y="1325880"/>
            <a:ext cx="1901952"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PID, UTS, Mount namespaces</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isolate container from host</a:t>
            </a:r>
            <a:endParaRPr lang="en-US" sz="950" dirty="0"/>
          </a:p>
        </p:txBody>
      </p:sp>
      <p:sp>
        <p:nvSpPr>
          <p:cNvPr id="11" name="Shape 9"/>
          <p:cNvSpPr/>
          <p:nvPr/>
        </p:nvSpPr>
        <p:spPr>
          <a:xfrm>
            <a:off x="3127248" y="960120"/>
            <a:ext cx="2651760" cy="1097280"/>
          </a:xfrm>
          <a:prstGeom prst="rect">
            <a:avLst/>
          </a:prstGeom>
          <a:solidFill>
            <a:srgbClr val="FFFFFF"/>
          </a:solidFill>
          <a:ln w="12700">
            <a:solidFill>
              <a:srgbClr val="D6E3EE"/>
            </a:solidFill>
            <a:prstDash val="solid"/>
          </a:ln>
          <a:effectLst>
            <a:outerShdw sx="100000" sy="100000" kx="0" ky="0" algn="bl" rotWithShape="0" blurRad="38100" dist="12700" dir="8100000">
              <a:srgbClr val="000000">
                <a:alpha val="8000"/>
              </a:srgbClr>
            </a:outerShdw>
          </a:effectLst>
        </p:spPr>
      </p:sp>
      <p:sp>
        <p:nvSpPr>
          <p:cNvPr id="12" name="Shape 10"/>
          <p:cNvSpPr/>
          <p:nvPr/>
        </p:nvSpPr>
        <p:spPr>
          <a:xfrm>
            <a:off x="3236976" y="1216152"/>
            <a:ext cx="457200" cy="457200"/>
          </a:xfrm>
          <a:prstGeom prst="ellipse">
            <a:avLst/>
          </a:prstGeom>
          <a:solidFill>
            <a:srgbClr val="00D9A5"/>
          </a:solidFill>
          <a:ln w="12700">
            <a:solidFill>
              <a:srgbClr val="00D9A5"/>
            </a:solidFill>
            <a:prstDash val="solid"/>
          </a:ln>
        </p:spPr>
      </p:sp>
      <p:sp>
        <p:nvSpPr>
          <p:cNvPr id="13" name="Text 11"/>
          <p:cNvSpPr/>
          <p:nvPr/>
        </p:nvSpPr>
        <p:spPr>
          <a:xfrm>
            <a:off x="3236976" y="1216152"/>
            <a:ext cx="457200" cy="45720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CL</a:t>
            </a:r>
            <a:endParaRPr lang="en-US" sz="800" dirty="0"/>
          </a:p>
        </p:txBody>
      </p:sp>
      <p:sp>
        <p:nvSpPr>
          <p:cNvPr id="14" name="Text 12"/>
          <p:cNvSpPr/>
          <p:nvPr/>
        </p:nvSpPr>
        <p:spPr>
          <a:xfrm>
            <a:off x="3785616" y="1033272"/>
            <a:ext cx="1901952" cy="274320"/>
          </a:xfrm>
          <a:prstGeom prst="rect">
            <a:avLst/>
          </a:prstGeom>
          <a:noFill/>
          <a:ln/>
        </p:spPr>
        <p:txBody>
          <a:bodyPr wrap="square" lIns="0" tIns="0" rIns="0" bIns="0" rtlCol="0" anchor="ctr"/>
          <a:lstStyle/>
          <a:p>
            <a:pPr indent="0" marL="0">
              <a:buNone/>
            </a:pPr>
            <a:r>
              <a:rPr lang="en-US" sz="1100" b="1" dirty="0">
                <a:solidFill>
                  <a:srgbClr val="00D9A5"/>
                </a:solidFill>
                <a:latin typeface="Calibri" pitchFamily="34" charset="0"/>
                <a:ea typeface="Calibri" pitchFamily="34" charset="-122"/>
                <a:cs typeface="Calibri" pitchFamily="34" charset="-120"/>
              </a:rPr>
              <a:t>clone() Syscall</a:t>
            </a:r>
            <a:endParaRPr lang="en-US" sz="1100" dirty="0"/>
          </a:p>
        </p:txBody>
      </p:sp>
      <p:sp>
        <p:nvSpPr>
          <p:cNvPr id="15" name="Text 13"/>
          <p:cNvSpPr/>
          <p:nvPr/>
        </p:nvSpPr>
        <p:spPr>
          <a:xfrm>
            <a:off x="3785616" y="1325880"/>
            <a:ext cx="1901952"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Low-level fork with namespace</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flags; passes stack + fn ptr</a:t>
            </a:r>
            <a:endParaRPr lang="en-US" sz="950" dirty="0"/>
          </a:p>
        </p:txBody>
      </p:sp>
      <p:sp>
        <p:nvSpPr>
          <p:cNvPr id="16" name="Shape 14"/>
          <p:cNvSpPr/>
          <p:nvPr/>
        </p:nvSpPr>
        <p:spPr>
          <a:xfrm>
            <a:off x="5934456" y="960120"/>
            <a:ext cx="2651760" cy="1097280"/>
          </a:xfrm>
          <a:prstGeom prst="rect">
            <a:avLst/>
          </a:prstGeom>
          <a:solidFill>
            <a:srgbClr val="FFFFFF"/>
          </a:solidFill>
          <a:ln w="12700">
            <a:solidFill>
              <a:srgbClr val="D6E3EE"/>
            </a:solidFill>
            <a:prstDash val="solid"/>
          </a:ln>
          <a:effectLst>
            <a:outerShdw sx="100000" sy="100000" kx="0" ky="0" algn="bl" rotWithShape="0" blurRad="38100" dist="12700" dir="8100000">
              <a:srgbClr val="000000">
                <a:alpha val="8000"/>
              </a:srgbClr>
            </a:outerShdw>
          </a:effectLst>
        </p:spPr>
      </p:sp>
      <p:sp>
        <p:nvSpPr>
          <p:cNvPr id="17" name="Shape 15"/>
          <p:cNvSpPr/>
          <p:nvPr/>
        </p:nvSpPr>
        <p:spPr>
          <a:xfrm>
            <a:off x="6044184" y="1216152"/>
            <a:ext cx="457200" cy="457200"/>
          </a:xfrm>
          <a:prstGeom prst="ellipse">
            <a:avLst/>
          </a:prstGeom>
          <a:solidFill>
            <a:srgbClr val="F5A623"/>
          </a:solidFill>
          <a:ln w="12700">
            <a:solidFill>
              <a:srgbClr val="F5A623"/>
            </a:solidFill>
            <a:prstDash val="solid"/>
          </a:ln>
        </p:spPr>
      </p:sp>
      <p:sp>
        <p:nvSpPr>
          <p:cNvPr id="18" name="Text 16"/>
          <p:cNvSpPr/>
          <p:nvPr/>
        </p:nvSpPr>
        <p:spPr>
          <a:xfrm>
            <a:off x="6044184" y="1216152"/>
            <a:ext cx="457200" cy="45720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CR</a:t>
            </a:r>
            <a:endParaRPr lang="en-US" sz="800" dirty="0"/>
          </a:p>
        </p:txBody>
      </p:sp>
      <p:sp>
        <p:nvSpPr>
          <p:cNvPr id="19" name="Text 17"/>
          <p:cNvSpPr/>
          <p:nvPr/>
        </p:nvSpPr>
        <p:spPr>
          <a:xfrm>
            <a:off x="6592824" y="1033272"/>
            <a:ext cx="1901952" cy="274320"/>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chroot()</a:t>
            </a:r>
            <a:endParaRPr lang="en-US" sz="1100" dirty="0"/>
          </a:p>
        </p:txBody>
      </p:sp>
      <p:sp>
        <p:nvSpPr>
          <p:cNvPr id="20" name="Text 18"/>
          <p:cNvSpPr/>
          <p:nvPr/>
        </p:nvSpPr>
        <p:spPr>
          <a:xfrm>
            <a:off x="6592824" y="1325880"/>
            <a:ext cx="1901952"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Pivot filesystem root for</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container isolation</a:t>
            </a:r>
            <a:endParaRPr lang="en-US" sz="950" dirty="0"/>
          </a:p>
        </p:txBody>
      </p:sp>
      <p:sp>
        <p:nvSpPr>
          <p:cNvPr id="21" name="Shape 19"/>
          <p:cNvSpPr/>
          <p:nvPr/>
        </p:nvSpPr>
        <p:spPr>
          <a:xfrm>
            <a:off x="320040" y="2212848"/>
            <a:ext cx="2651760" cy="1097280"/>
          </a:xfrm>
          <a:prstGeom prst="rect">
            <a:avLst/>
          </a:prstGeom>
          <a:solidFill>
            <a:srgbClr val="FFFFFF"/>
          </a:solidFill>
          <a:ln w="12700">
            <a:solidFill>
              <a:srgbClr val="D6E3EE"/>
            </a:solidFill>
            <a:prstDash val="solid"/>
          </a:ln>
          <a:effectLst>
            <a:outerShdw sx="100000" sy="100000" kx="0" ky="0" algn="bl" rotWithShape="0" blurRad="38100" dist="12700" dir="8100000">
              <a:srgbClr val="000000">
                <a:alpha val="8000"/>
              </a:srgbClr>
            </a:outerShdw>
          </a:effectLst>
        </p:spPr>
      </p:sp>
      <p:sp>
        <p:nvSpPr>
          <p:cNvPr id="22" name="Shape 20"/>
          <p:cNvSpPr/>
          <p:nvPr/>
        </p:nvSpPr>
        <p:spPr>
          <a:xfrm>
            <a:off x="429768" y="2468880"/>
            <a:ext cx="457200" cy="457200"/>
          </a:xfrm>
          <a:prstGeom prst="ellipse">
            <a:avLst/>
          </a:prstGeom>
          <a:solidFill>
            <a:srgbClr val="0E9AA7"/>
          </a:solidFill>
          <a:ln w="12700">
            <a:solidFill>
              <a:srgbClr val="0E9AA7"/>
            </a:solidFill>
            <a:prstDash val="solid"/>
          </a:ln>
        </p:spPr>
      </p:sp>
      <p:sp>
        <p:nvSpPr>
          <p:cNvPr id="23" name="Text 21"/>
          <p:cNvSpPr/>
          <p:nvPr/>
        </p:nvSpPr>
        <p:spPr>
          <a:xfrm>
            <a:off x="429768" y="2468880"/>
            <a:ext cx="457200" cy="45720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LK</a:t>
            </a:r>
            <a:endParaRPr lang="en-US" sz="800" dirty="0"/>
          </a:p>
        </p:txBody>
      </p:sp>
      <p:sp>
        <p:nvSpPr>
          <p:cNvPr id="24" name="Text 22"/>
          <p:cNvSpPr/>
          <p:nvPr/>
        </p:nvSpPr>
        <p:spPr>
          <a:xfrm>
            <a:off x="978408" y="2286000"/>
            <a:ext cx="1901952" cy="274320"/>
          </a:xfrm>
          <a:prstGeom prst="rect">
            <a:avLst/>
          </a:prstGeom>
          <a:noFill/>
          <a:ln/>
        </p:spPr>
        <p:txBody>
          <a:bodyPr wrap="square" lIns="0" tIns="0" rIns="0" bIns="0" rtlCol="0" anchor="ctr"/>
          <a:lstStyle/>
          <a:p>
            <a:pPr indent="0" marL="0">
              <a:buNone/>
            </a:pPr>
            <a:r>
              <a:rPr lang="en-US" sz="1100" b="1" dirty="0">
                <a:solidFill>
                  <a:srgbClr val="0E9AA7"/>
                </a:solidFill>
                <a:latin typeface="Calibri" pitchFamily="34" charset="0"/>
                <a:ea typeface="Calibri" pitchFamily="34" charset="-122"/>
                <a:cs typeface="Calibri" pitchFamily="34" charset="-120"/>
              </a:rPr>
              <a:t>Mutex + Cond Vars</a:t>
            </a:r>
            <a:endParaRPr lang="en-US" sz="1100" dirty="0"/>
          </a:p>
        </p:txBody>
      </p:sp>
      <p:sp>
        <p:nvSpPr>
          <p:cNvPr id="25" name="Text 23"/>
          <p:cNvSpPr/>
          <p:nvPr/>
        </p:nvSpPr>
        <p:spPr>
          <a:xfrm>
            <a:off x="978408" y="2578608"/>
            <a:ext cx="1901952"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pthread_mutex + pthread_cond</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for bounded buffer sync</a:t>
            </a:r>
            <a:endParaRPr lang="en-US" sz="950" dirty="0"/>
          </a:p>
        </p:txBody>
      </p:sp>
      <p:sp>
        <p:nvSpPr>
          <p:cNvPr id="26" name="Shape 24"/>
          <p:cNvSpPr/>
          <p:nvPr/>
        </p:nvSpPr>
        <p:spPr>
          <a:xfrm>
            <a:off x="3127248" y="2212848"/>
            <a:ext cx="2651760" cy="1097280"/>
          </a:xfrm>
          <a:prstGeom prst="rect">
            <a:avLst/>
          </a:prstGeom>
          <a:solidFill>
            <a:srgbClr val="FFFFFF"/>
          </a:solidFill>
          <a:ln w="12700">
            <a:solidFill>
              <a:srgbClr val="D6E3EE"/>
            </a:solidFill>
            <a:prstDash val="solid"/>
          </a:ln>
          <a:effectLst>
            <a:outerShdw sx="100000" sy="100000" kx="0" ky="0" algn="bl" rotWithShape="0" blurRad="38100" dist="12700" dir="8100000">
              <a:srgbClr val="000000">
                <a:alpha val="8000"/>
              </a:srgbClr>
            </a:outerShdw>
          </a:effectLst>
        </p:spPr>
      </p:sp>
      <p:sp>
        <p:nvSpPr>
          <p:cNvPr id="27" name="Shape 25"/>
          <p:cNvSpPr/>
          <p:nvPr/>
        </p:nvSpPr>
        <p:spPr>
          <a:xfrm>
            <a:off x="3236976" y="2468880"/>
            <a:ext cx="457200" cy="457200"/>
          </a:xfrm>
          <a:prstGeom prst="ellipse">
            <a:avLst/>
          </a:prstGeom>
          <a:solidFill>
            <a:srgbClr val="007A5E"/>
          </a:solidFill>
          <a:ln w="12700">
            <a:solidFill>
              <a:srgbClr val="007A5E"/>
            </a:solidFill>
            <a:prstDash val="solid"/>
          </a:ln>
        </p:spPr>
      </p:sp>
      <p:sp>
        <p:nvSpPr>
          <p:cNvPr id="28" name="Text 26"/>
          <p:cNvSpPr/>
          <p:nvPr/>
        </p:nvSpPr>
        <p:spPr>
          <a:xfrm>
            <a:off x="3236976" y="2468880"/>
            <a:ext cx="457200" cy="45720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PC</a:t>
            </a:r>
            <a:endParaRPr lang="en-US" sz="800" dirty="0"/>
          </a:p>
        </p:txBody>
      </p:sp>
      <p:sp>
        <p:nvSpPr>
          <p:cNvPr id="29" name="Text 27"/>
          <p:cNvSpPr/>
          <p:nvPr/>
        </p:nvSpPr>
        <p:spPr>
          <a:xfrm>
            <a:off x="3785616" y="2286000"/>
            <a:ext cx="1901952" cy="274320"/>
          </a:xfrm>
          <a:prstGeom prst="rect">
            <a:avLst/>
          </a:prstGeom>
          <a:noFill/>
          <a:ln/>
        </p:spPr>
        <p:txBody>
          <a:bodyPr wrap="square" lIns="0" tIns="0" rIns="0" bIns="0" rtlCol="0" anchor="ctr"/>
          <a:lstStyle/>
          <a:p>
            <a:pPr indent="0" marL="0">
              <a:buNone/>
            </a:pPr>
            <a:r>
              <a:rPr lang="en-US" sz="1100" b="1" dirty="0">
                <a:solidFill>
                  <a:srgbClr val="007A5E"/>
                </a:solidFill>
                <a:latin typeface="Calibri" pitchFamily="34" charset="0"/>
                <a:ea typeface="Calibri" pitchFamily="34" charset="-122"/>
                <a:cs typeface="Calibri" pitchFamily="34" charset="-120"/>
              </a:rPr>
              <a:t>Producer-Consumer</a:t>
            </a:r>
            <a:endParaRPr lang="en-US" sz="1100" dirty="0"/>
          </a:p>
        </p:txBody>
      </p:sp>
      <p:sp>
        <p:nvSpPr>
          <p:cNvPr id="30" name="Text 28"/>
          <p:cNvSpPr/>
          <p:nvPr/>
        </p:nvSpPr>
        <p:spPr>
          <a:xfrm>
            <a:off x="3785616" y="2578608"/>
            <a:ext cx="1901952"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Reader thread + logger thread</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with circular buffer pattern</a:t>
            </a:r>
            <a:endParaRPr lang="en-US" sz="950" dirty="0"/>
          </a:p>
        </p:txBody>
      </p:sp>
      <p:sp>
        <p:nvSpPr>
          <p:cNvPr id="31" name="Shape 29"/>
          <p:cNvSpPr/>
          <p:nvPr/>
        </p:nvSpPr>
        <p:spPr>
          <a:xfrm>
            <a:off x="5934456" y="2212848"/>
            <a:ext cx="2651760" cy="1097280"/>
          </a:xfrm>
          <a:prstGeom prst="rect">
            <a:avLst/>
          </a:prstGeom>
          <a:solidFill>
            <a:srgbClr val="FFFFFF"/>
          </a:solidFill>
          <a:ln w="12700">
            <a:solidFill>
              <a:srgbClr val="D6E3EE"/>
            </a:solidFill>
            <a:prstDash val="solid"/>
          </a:ln>
          <a:effectLst>
            <a:outerShdw sx="100000" sy="100000" kx="0" ky="0" algn="bl" rotWithShape="0" blurRad="38100" dist="12700" dir="8100000">
              <a:srgbClr val="000000">
                <a:alpha val="8000"/>
              </a:srgbClr>
            </a:outerShdw>
          </a:effectLst>
        </p:spPr>
      </p:sp>
      <p:sp>
        <p:nvSpPr>
          <p:cNvPr id="32" name="Shape 30"/>
          <p:cNvSpPr/>
          <p:nvPr/>
        </p:nvSpPr>
        <p:spPr>
          <a:xfrm>
            <a:off x="6044184" y="2468880"/>
            <a:ext cx="457200" cy="457200"/>
          </a:xfrm>
          <a:prstGeom prst="ellipse">
            <a:avLst/>
          </a:prstGeom>
          <a:solidFill>
            <a:srgbClr val="0E9AA7"/>
          </a:solidFill>
          <a:ln w="12700">
            <a:solidFill>
              <a:srgbClr val="0E9AA7"/>
            </a:solidFill>
            <a:prstDash val="solid"/>
          </a:ln>
        </p:spPr>
      </p:sp>
      <p:sp>
        <p:nvSpPr>
          <p:cNvPr id="33" name="Text 31"/>
          <p:cNvSpPr/>
          <p:nvPr/>
        </p:nvSpPr>
        <p:spPr>
          <a:xfrm>
            <a:off x="6044184" y="2468880"/>
            <a:ext cx="457200" cy="45720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IP</a:t>
            </a:r>
            <a:endParaRPr lang="en-US" sz="800" dirty="0"/>
          </a:p>
        </p:txBody>
      </p:sp>
      <p:sp>
        <p:nvSpPr>
          <p:cNvPr id="34" name="Text 32"/>
          <p:cNvSpPr/>
          <p:nvPr/>
        </p:nvSpPr>
        <p:spPr>
          <a:xfrm>
            <a:off x="6592824" y="2286000"/>
            <a:ext cx="1901952" cy="274320"/>
          </a:xfrm>
          <a:prstGeom prst="rect">
            <a:avLst/>
          </a:prstGeom>
          <a:noFill/>
          <a:ln/>
        </p:spPr>
        <p:txBody>
          <a:bodyPr wrap="square" lIns="0" tIns="0" rIns="0" bIns="0" rtlCol="0" anchor="ctr"/>
          <a:lstStyle/>
          <a:p>
            <a:pPr indent="0" marL="0">
              <a:buNone/>
            </a:pPr>
            <a:r>
              <a:rPr lang="en-US" sz="1100" b="1" dirty="0">
                <a:solidFill>
                  <a:srgbClr val="0E9AA7"/>
                </a:solidFill>
                <a:latin typeface="Calibri" pitchFamily="34" charset="0"/>
                <a:ea typeface="Calibri" pitchFamily="34" charset="-122"/>
                <a:cs typeface="Calibri" pitchFamily="34" charset="-120"/>
              </a:rPr>
              <a:t>IPC: Sockets + Pipes</a:t>
            </a:r>
            <a:endParaRPr lang="en-US" sz="1100" dirty="0"/>
          </a:p>
        </p:txBody>
      </p:sp>
      <p:sp>
        <p:nvSpPr>
          <p:cNvPr id="35" name="Text 33"/>
          <p:cNvSpPr/>
          <p:nvPr/>
        </p:nvSpPr>
        <p:spPr>
          <a:xfrm>
            <a:off x="6592824" y="2578608"/>
            <a:ext cx="1901952"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UNIX domain socket for control;</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anonymous pipe for data</a:t>
            </a:r>
            <a:endParaRPr lang="en-US" sz="950" dirty="0"/>
          </a:p>
        </p:txBody>
      </p:sp>
      <p:sp>
        <p:nvSpPr>
          <p:cNvPr id="36" name="Shape 34"/>
          <p:cNvSpPr/>
          <p:nvPr/>
        </p:nvSpPr>
        <p:spPr>
          <a:xfrm>
            <a:off x="320040" y="3465576"/>
            <a:ext cx="2651760" cy="1097280"/>
          </a:xfrm>
          <a:prstGeom prst="rect">
            <a:avLst/>
          </a:prstGeom>
          <a:solidFill>
            <a:srgbClr val="FFFFFF"/>
          </a:solidFill>
          <a:ln w="12700">
            <a:solidFill>
              <a:srgbClr val="D6E3EE"/>
            </a:solidFill>
            <a:prstDash val="solid"/>
          </a:ln>
          <a:effectLst>
            <a:outerShdw sx="100000" sy="100000" kx="0" ky="0" algn="bl" rotWithShape="0" blurRad="38100" dist="12700" dir="8100000">
              <a:srgbClr val="000000">
                <a:alpha val="8000"/>
              </a:srgbClr>
            </a:outerShdw>
          </a:effectLst>
        </p:spPr>
      </p:sp>
      <p:sp>
        <p:nvSpPr>
          <p:cNvPr id="37" name="Shape 35"/>
          <p:cNvSpPr/>
          <p:nvPr/>
        </p:nvSpPr>
        <p:spPr>
          <a:xfrm>
            <a:off x="429768" y="3721608"/>
            <a:ext cx="457200" cy="457200"/>
          </a:xfrm>
          <a:prstGeom prst="ellipse">
            <a:avLst/>
          </a:prstGeom>
          <a:solidFill>
            <a:srgbClr val="E63946"/>
          </a:solidFill>
          <a:ln w="12700">
            <a:solidFill>
              <a:srgbClr val="E63946"/>
            </a:solidFill>
            <a:prstDash val="solid"/>
          </a:ln>
        </p:spPr>
      </p:sp>
      <p:sp>
        <p:nvSpPr>
          <p:cNvPr id="38" name="Text 36"/>
          <p:cNvSpPr/>
          <p:nvPr/>
        </p:nvSpPr>
        <p:spPr>
          <a:xfrm>
            <a:off x="429768" y="3721608"/>
            <a:ext cx="457200" cy="45720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LM</a:t>
            </a:r>
            <a:endParaRPr lang="en-US" sz="800" dirty="0"/>
          </a:p>
        </p:txBody>
      </p:sp>
      <p:sp>
        <p:nvSpPr>
          <p:cNvPr id="39" name="Text 37"/>
          <p:cNvSpPr/>
          <p:nvPr/>
        </p:nvSpPr>
        <p:spPr>
          <a:xfrm>
            <a:off x="978408" y="3538728"/>
            <a:ext cx="1901952" cy="274320"/>
          </a:xfrm>
          <a:prstGeom prst="rect">
            <a:avLst/>
          </a:prstGeom>
          <a:noFill/>
          <a:ln/>
        </p:spPr>
        <p:txBody>
          <a:bodyPr wrap="square" lIns="0" tIns="0" rIns="0" bIns="0"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Kernel Module (LKM)</a:t>
            </a:r>
            <a:endParaRPr lang="en-US" sz="1100" dirty="0"/>
          </a:p>
        </p:txBody>
      </p:sp>
      <p:sp>
        <p:nvSpPr>
          <p:cNvPr id="40" name="Text 38"/>
          <p:cNvSpPr/>
          <p:nvPr/>
        </p:nvSpPr>
        <p:spPr>
          <a:xfrm>
            <a:off x="978408" y="3831336"/>
            <a:ext cx="1901952"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Dynamically loadable code;</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runs in ring 0 kernel context</a:t>
            </a:r>
            <a:endParaRPr lang="en-US" sz="950" dirty="0"/>
          </a:p>
        </p:txBody>
      </p:sp>
      <p:sp>
        <p:nvSpPr>
          <p:cNvPr id="41" name="Shape 39"/>
          <p:cNvSpPr/>
          <p:nvPr/>
        </p:nvSpPr>
        <p:spPr>
          <a:xfrm>
            <a:off x="3127248" y="3465576"/>
            <a:ext cx="2651760" cy="1097280"/>
          </a:xfrm>
          <a:prstGeom prst="rect">
            <a:avLst/>
          </a:prstGeom>
          <a:solidFill>
            <a:srgbClr val="FFFFFF"/>
          </a:solidFill>
          <a:ln w="12700">
            <a:solidFill>
              <a:srgbClr val="D6E3EE"/>
            </a:solidFill>
            <a:prstDash val="solid"/>
          </a:ln>
          <a:effectLst>
            <a:outerShdw sx="100000" sy="100000" kx="0" ky="0" algn="bl" rotWithShape="0" blurRad="38100" dist="12700" dir="8100000">
              <a:srgbClr val="000000">
                <a:alpha val="8000"/>
              </a:srgbClr>
            </a:outerShdw>
          </a:effectLst>
        </p:spPr>
      </p:sp>
      <p:sp>
        <p:nvSpPr>
          <p:cNvPr id="42" name="Shape 40"/>
          <p:cNvSpPr/>
          <p:nvPr/>
        </p:nvSpPr>
        <p:spPr>
          <a:xfrm>
            <a:off x="3236976" y="3721608"/>
            <a:ext cx="457200" cy="457200"/>
          </a:xfrm>
          <a:prstGeom prst="ellipse">
            <a:avLst/>
          </a:prstGeom>
          <a:solidFill>
            <a:srgbClr val="F5A623"/>
          </a:solidFill>
          <a:ln w="12700">
            <a:solidFill>
              <a:srgbClr val="F5A623"/>
            </a:solidFill>
            <a:prstDash val="solid"/>
          </a:ln>
        </p:spPr>
      </p:sp>
      <p:sp>
        <p:nvSpPr>
          <p:cNvPr id="43" name="Text 41"/>
          <p:cNvSpPr/>
          <p:nvPr/>
        </p:nvSpPr>
        <p:spPr>
          <a:xfrm>
            <a:off x="3236976" y="3721608"/>
            <a:ext cx="457200" cy="45720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MM</a:t>
            </a:r>
            <a:endParaRPr lang="en-US" sz="800" dirty="0"/>
          </a:p>
        </p:txBody>
      </p:sp>
      <p:sp>
        <p:nvSpPr>
          <p:cNvPr id="44" name="Text 42"/>
          <p:cNvSpPr/>
          <p:nvPr/>
        </p:nvSpPr>
        <p:spPr>
          <a:xfrm>
            <a:off x="3785616" y="3538728"/>
            <a:ext cx="1901952" cy="274320"/>
          </a:xfrm>
          <a:prstGeom prst="rect">
            <a:avLst/>
          </a:prstGeom>
          <a:noFill/>
          <a:ln/>
        </p:spPr>
        <p:txBody>
          <a:bodyPr wrap="square" lIns="0" tIns="0" rIns="0" bIns="0"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Virtual Memory / RSS</a:t>
            </a:r>
            <a:endParaRPr lang="en-US" sz="1100" dirty="0"/>
          </a:p>
        </p:txBody>
      </p:sp>
      <p:sp>
        <p:nvSpPr>
          <p:cNvPr id="45" name="Text 43"/>
          <p:cNvSpPr/>
          <p:nvPr/>
        </p:nvSpPr>
        <p:spPr>
          <a:xfrm>
            <a:off x="3785616" y="3831336"/>
            <a:ext cx="1901952"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mm_struct, get_mm_rss()</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PAGE_SIZE, page tables</a:t>
            </a:r>
            <a:endParaRPr lang="en-US" sz="950" dirty="0"/>
          </a:p>
        </p:txBody>
      </p:sp>
      <p:sp>
        <p:nvSpPr>
          <p:cNvPr id="46" name="Shape 44"/>
          <p:cNvSpPr/>
          <p:nvPr/>
        </p:nvSpPr>
        <p:spPr>
          <a:xfrm>
            <a:off x="5934456" y="3465576"/>
            <a:ext cx="2651760" cy="1097280"/>
          </a:xfrm>
          <a:prstGeom prst="rect">
            <a:avLst/>
          </a:prstGeom>
          <a:solidFill>
            <a:srgbClr val="FFFFFF"/>
          </a:solidFill>
          <a:ln w="12700">
            <a:solidFill>
              <a:srgbClr val="D6E3EE"/>
            </a:solidFill>
            <a:prstDash val="solid"/>
          </a:ln>
          <a:effectLst>
            <a:outerShdw sx="100000" sy="100000" kx="0" ky="0" algn="bl" rotWithShape="0" blurRad="38100" dist="12700" dir="8100000">
              <a:srgbClr val="000000">
                <a:alpha val="8000"/>
              </a:srgbClr>
            </a:outerShdw>
          </a:effectLst>
        </p:spPr>
      </p:sp>
      <p:sp>
        <p:nvSpPr>
          <p:cNvPr id="47" name="Shape 45"/>
          <p:cNvSpPr/>
          <p:nvPr/>
        </p:nvSpPr>
        <p:spPr>
          <a:xfrm>
            <a:off x="6044184" y="3721608"/>
            <a:ext cx="457200" cy="457200"/>
          </a:xfrm>
          <a:prstGeom prst="ellipse">
            <a:avLst/>
          </a:prstGeom>
          <a:solidFill>
            <a:srgbClr val="00D9A5"/>
          </a:solidFill>
          <a:ln w="12700">
            <a:solidFill>
              <a:srgbClr val="00D9A5"/>
            </a:solidFill>
            <a:prstDash val="solid"/>
          </a:ln>
        </p:spPr>
      </p:sp>
      <p:sp>
        <p:nvSpPr>
          <p:cNvPr id="48" name="Text 46"/>
          <p:cNvSpPr/>
          <p:nvPr/>
        </p:nvSpPr>
        <p:spPr>
          <a:xfrm>
            <a:off x="6044184" y="3721608"/>
            <a:ext cx="457200" cy="45720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CF</a:t>
            </a:r>
            <a:endParaRPr lang="en-US" sz="800" dirty="0"/>
          </a:p>
        </p:txBody>
      </p:sp>
      <p:sp>
        <p:nvSpPr>
          <p:cNvPr id="49" name="Text 47"/>
          <p:cNvSpPr/>
          <p:nvPr/>
        </p:nvSpPr>
        <p:spPr>
          <a:xfrm>
            <a:off x="6592824" y="3538728"/>
            <a:ext cx="1901952" cy="274320"/>
          </a:xfrm>
          <a:prstGeom prst="rect">
            <a:avLst/>
          </a:prstGeom>
          <a:noFill/>
          <a:ln/>
        </p:spPr>
        <p:txBody>
          <a:bodyPr wrap="square" lIns="0" tIns="0" rIns="0" bIns="0" rtlCol="0" anchor="ctr"/>
          <a:lstStyle/>
          <a:p>
            <a:pPr indent="0" marL="0">
              <a:buNone/>
            </a:pPr>
            <a:r>
              <a:rPr lang="en-US" sz="1100" b="1" dirty="0">
                <a:solidFill>
                  <a:srgbClr val="00D9A5"/>
                </a:solidFill>
                <a:latin typeface="Calibri" pitchFamily="34" charset="0"/>
                <a:ea typeface="Calibri" pitchFamily="34" charset="-122"/>
                <a:cs typeface="Calibri" pitchFamily="34" charset="-120"/>
              </a:rPr>
              <a:t>CFS Scheduler</a:t>
            </a:r>
            <a:endParaRPr lang="en-US" sz="1100" dirty="0"/>
          </a:p>
        </p:txBody>
      </p:sp>
      <p:sp>
        <p:nvSpPr>
          <p:cNvPr id="50" name="Text 48"/>
          <p:cNvSpPr/>
          <p:nvPr/>
        </p:nvSpPr>
        <p:spPr>
          <a:xfrm>
            <a:off x="6592824" y="3831336"/>
            <a:ext cx="1901952" cy="640080"/>
          </a:xfrm>
          <a:prstGeom prst="rect">
            <a:avLst/>
          </a:prstGeom>
          <a:noFill/>
          <a:ln/>
        </p:spPr>
        <p:txBody>
          <a:bodyPr wrap="square" lIns="0" tIns="0" rIns="0" bIns="0" rtlCol="0" anchor="ctr"/>
          <a:lstStyle/>
          <a:p>
            <a:pPr indent="0" marL="0">
              <a:buNone/>
            </a:pPr>
            <a:r>
              <a:rPr lang="en-US" sz="950" dirty="0">
                <a:solidFill>
                  <a:srgbClr val="1B2A3B"/>
                </a:solidFill>
                <a:latin typeface="Calibri" pitchFamily="34" charset="0"/>
                <a:ea typeface="Calibri" pitchFamily="34" charset="-122"/>
                <a:cs typeface="Calibri" pitchFamily="34" charset="-120"/>
              </a:rPr>
              <a:t>vruntime, nice weights,</a:t>
            </a:r>
            <a:endParaRPr lang="en-US" sz="950" dirty="0"/>
          </a:p>
          <a:p>
            <a:pPr indent="0" marL="0">
              <a:buNone/>
            </a:pPr>
            <a:r>
              <a:rPr lang="en-US" sz="950" dirty="0">
                <a:solidFill>
                  <a:srgbClr val="1B2A3B"/>
                </a:solidFill>
                <a:latin typeface="Calibri" pitchFamily="34" charset="0"/>
                <a:ea typeface="Calibri" pitchFamily="34" charset="-122"/>
                <a:cs typeface="Calibri" pitchFamily="34" charset="-120"/>
              </a:rPr>
              <a:t>setpriority() in child_fn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3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Design Decisions &amp; Trade-offs</a:t>
            </a:r>
            <a:endParaRPr lang="en-US" sz="2800" dirty="0"/>
          </a:p>
        </p:txBody>
      </p:sp>
      <p:sp>
        <p:nvSpPr>
          <p:cNvPr id="3" name="Shape 1"/>
          <p:cNvSpPr/>
          <p:nvPr/>
        </p:nvSpPr>
        <p:spPr>
          <a:xfrm>
            <a:off x="457200" y="841248"/>
            <a:ext cx="1097280" cy="201168"/>
          </a:xfrm>
          <a:prstGeom prst="rect">
            <a:avLst/>
          </a:prstGeom>
          <a:solidFill>
            <a:srgbClr val="00D9A5"/>
          </a:solidFill>
          <a:ln w="12700">
            <a:solidFill>
              <a:srgbClr val="00D9A5"/>
            </a:solidFill>
            <a:prstDash val="solid"/>
          </a:ln>
        </p:spPr>
      </p:sp>
      <p:sp>
        <p:nvSpPr>
          <p:cNvPr id="4" name="Text 2"/>
          <p:cNvSpPr/>
          <p:nvPr/>
        </p:nvSpPr>
        <p:spPr>
          <a:xfrm>
            <a:off x="457200" y="841248"/>
            <a:ext cx="1097280" cy="201168"/>
          </a:xfrm>
          <a:prstGeom prst="rect">
            <a:avLst/>
          </a:prstGeom>
          <a:noFill/>
          <a:ln/>
        </p:spPr>
        <p:txBody>
          <a:bodyPr wrap="square" lIns="0" tIns="0" rIns="0" bIns="0" rtlCol="0" anchor="ctr"/>
          <a:lstStyle/>
          <a:p>
            <a:pPr algn="ctr" indent="0" marL="0">
              <a:buNone/>
            </a:pPr>
            <a:r>
              <a:rPr lang="en-US" sz="800" b="1" dirty="0">
                <a:solidFill>
                  <a:srgbClr val="0D1B2A"/>
                </a:solidFill>
                <a:latin typeface="Calibri" pitchFamily="34" charset="0"/>
                <a:ea typeface="Calibri" pitchFamily="34" charset="-122"/>
                <a:cs typeface="Calibri" pitchFamily="34" charset="-120"/>
              </a:rPr>
              <a:t>DESIGN</a:t>
            </a:r>
            <a:endParaRPr lang="en-US" sz="800" dirty="0"/>
          </a:p>
        </p:txBody>
      </p:sp>
      <p:sp>
        <p:nvSpPr>
          <p:cNvPr id="5" name="Shape 3"/>
          <p:cNvSpPr/>
          <p:nvPr/>
        </p:nvSpPr>
        <p:spPr>
          <a:xfrm>
            <a:off x="457200" y="777240"/>
            <a:ext cx="8229600" cy="22860"/>
          </a:xfrm>
          <a:prstGeom prst="rect">
            <a:avLst/>
          </a:prstGeom>
          <a:solidFill>
            <a:srgbClr val="00D9A5"/>
          </a:solidFill>
          <a:ln w="12700">
            <a:solidFill>
              <a:srgbClr val="00D9A5"/>
            </a:solidFill>
            <a:prstDash val="solid"/>
          </a:ln>
        </p:spPr>
      </p:sp>
      <p:sp>
        <p:nvSpPr>
          <p:cNvPr id="6" name="Shape 4"/>
          <p:cNvSpPr/>
          <p:nvPr/>
        </p:nvSpPr>
        <p:spPr>
          <a:xfrm>
            <a:off x="320040" y="960120"/>
            <a:ext cx="8503920" cy="896112"/>
          </a:xfrm>
          <a:prstGeom prst="rect">
            <a:avLst/>
          </a:prstGeom>
          <a:solidFill>
            <a:srgbClr val="162534"/>
          </a:solidFill>
          <a:ln w="12700">
            <a:solidFill>
              <a:srgbClr val="0E9AA7"/>
            </a:solidFill>
            <a:prstDash val="solid"/>
          </a:ln>
        </p:spPr>
      </p:sp>
      <p:sp>
        <p:nvSpPr>
          <p:cNvPr id="7" name="Shape 5"/>
          <p:cNvSpPr/>
          <p:nvPr/>
        </p:nvSpPr>
        <p:spPr>
          <a:xfrm>
            <a:off x="320040" y="960120"/>
            <a:ext cx="64008" cy="896112"/>
          </a:xfrm>
          <a:prstGeom prst="rect">
            <a:avLst/>
          </a:prstGeom>
          <a:solidFill>
            <a:srgbClr val="0E9AA7"/>
          </a:solidFill>
          <a:ln w="12700">
            <a:solidFill>
              <a:srgbClr val="0E9AA7"/>
            </a:solidFill>
            <a:prstDash val="solid"/>
          </a:ln>
        </p:spPr>
      </p:sp>
      <p:sp>
        <p:nvSpPr>
          <p:cNvPr id="8" name="Text 6"/>
          <p:cNvSpPr/>
          <p:nvPr/>
        </p:nvSpPr>
        <p:spPr>
          <a:xfrm>
            <a:off x="502920" y="1014984"/>
            <a:ext cx="8183880" cy="228600"/>
          </a:xfrm>
          <a:prstGeom prst="rect">
            <a:avLst/>
          </a:prstGeom>
          <a:noFill/>
          <a:ln/>
        </p:spPr>
        <p:txBody>
          <a:bodyPr wrap="square" lIns="0" tIns="0" rIns="0" bIns="0" rtlCol="0" anchor="ctr"/>
          <a:lstStyle/>
          <a:p>
            <a:pPr indent="0" marL="0">
              <a:buNone/>
            </a:pPr>
            <a:r>
              <a:rPr lang="en-US" sz="1050" b="1" dirty="0">
                <a:solidFill>
                  <a:srgbClr val="0E9AA7"/>
                </a:solidFill>
                <a:latin typeface="Calibri" pitchFamily="34" charset="0"/>
                <a:ea typeface="Calibri" pitchFamily="34" charset="-122"/>
                <a:cs typeface="Calibri" pitchFamily="34" charset="-120"/>
              </a:rPr>
              <a:t>Q: Mutex vs Spinlock in kernel module?</a:t>
            </a:r>
            <a:endParaRPr lang="en-US" sz="1050" dirty="0"/>
          </a:p>
        </p:txBody>
      </p:sp>
      <p:sp>
        <p:nvSpPr>
          <p:cNvPr id="9" name="Text 7"/>
          <p:cNvSpPr/>
          <p:nvPr/>
        </p:nvSpPr>
        <p:spPr>
          <a:xfrm>
            <a:off x="502920" y="1252728"/>
            <a:ext cx="5303520" cy="502920"/>
          </a:xfrm>
          <a:prstGeom prst="rect">
            <a:avLst/>
          </a:prstGeom>
          <a:noFill/>
          <a:ln/>
        </p:spPr>
        <p:txBody>
          <a:bodyPr wrap="square" lIns="0" tIns="0" rIns="0" bIns="0" rtlCol="0" anchor="ctr"/>
          <a:lstStyle/>
          <a:p>
            <a:pPr indent="0" marL="0">
              <a:buNone/>
            </a:pPr>
            <a:r>
              <a:rPr lang="en-US" sz="950" dirty="0">
                <a:solidFill>
                  <a:srgbClr val="F0F4F8"/>
                </a:solidFill>
                <a:latin typeface="Calibri" pitchFamily="34" charset="0"/>
                <a:ea typeface="Calibri" pitchFamily="34" charset="-122"/>
                <a:cs typeface="Calibri" pitchFamily="34" charset="-120"/>
              </a:rPr>
              <a:t>Mutex chosen: timer callback can sleep (mod_timer is deferred); no busy-waiting in interrupt context needed. Spinlock would be required only if called from hard IRQ context.</a:t>
            </a:r>
            <a:endParaRPr lang="en-US" sz="950" dirty="0"/>
          </a:p>
        </p:txBody>
      </p:sp>
      <p:sp>
        <p:nvSpPr>
          <p:cNvPr id="10" name="Shape 8"/>
          <p:cNvSpPr/>
          <p:nvPr/>
        </p:nvSpPr>
        <p:spPr>
          <a:xfrm>
            <a:off x="6035040" y="1069848"/>
            <a:ext cx="1188720" cy="256032"/>
          </a:xfrm>
          <a:prstGeom prst="rect">
            <a:avLst/>
          </a:prstGeom>
          <a:solidFill>
            <a:srgbClr val="007A5E"/>
          </a:solidFill>
          <a:ln w="12700">
            <a:solidFill>
              <a:srgbClr val="007A5E"/>
            </a:solidFill>
            <a:prstDash val="solid"/>
          </a:ln>
        </p:spPr>
      </p:sp>
      <p:sp>
        <p:nvSpPr>
          <p:cNvPr id="11" name="Text 9"/>
          <p:cNvSpPr/>
          <p:nvPr/>
        </p:nvSpPr>
        <p:spPr>
          <a:xfrm>
            <a:off x="6080760" y="1069848"/>
            <a:ext cx="1097280" cy="256032"/>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 Lower CPU usage in contention</a:t>
            </a:r>
            <a:endParaRPr lang="en-US" sz="800" dirty="0"/>
          </a:p>
        </p:txBody>
      </p:sp>
      <p:sp>
        <p:nvSpPr>
          <p:cNvPr id="12" name="Shape 10"/>
          <p:cNvSpPr/>
          <p:nvPr/>
        </p:nvSpPr>
        <p:spPr>
          <a:xfrm>
            <a:off x="7360920" y="1069848"/>
            <a:ext cx="1371600" cy="256032"/>
          </a:xfrm>
          <a:prstGeom prst="rect">
            <a:avLst/>
          </a:prstGeom>
          <a:solidFill>
            <a:srgbClr val="E63946">
              <a:alpha val="70000"/>
            </a:srgbClr>
          </a:solidFill>
          <a:ln w="12700">
            <a:solidFill>
              <a:srgbClr val="E63946"/>
            </a:solidFill>
            <a:prstDash val="solid"/>
          </a:ln>
        </p:spPr>
      </p:sp>
      <p:sp>
        <p:nvSpPr>
          <p:cNvPr id="13" name="Text 11"/>
          <p:cNvSpPr/>
          <p:nvPr/>
        </p:nvSpPr>
        <p:spPr>
          <a:xfrm>
            <a:off x="7406640" y="1069848"/>
            <a:ext cx="1280160" cy="256032"/>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 Cannot use in hard interrupt context</a:t>
            </a:r>
            <a:endParaRPr lang="en-US" sz="800" dirty="0"/>
          </a:p>
        </p:txBody>
      </p:sp>
      <p:sp>
        <p:nvSpPr>
          <p:cNvPr id="14" name="Shape 12"/>
          <p:cNvSpPr/>
          <p:nvPr/>
        </p:nvSpPr>
        <p:spPr>
          <a:xfrm>
            <a:off x="320040" y="1947672"/>
            <a:ext cx="8503920" cy="896112"/>
          </a:xfrm>
          <a:prstGeom prst="rect">
            <a:avLst/>
          </a:prstGeom>
          <a:solidFill>
            <a:srgbClr val="162534"/>
          </a:solidFill>
          <a:ln w="12700">
            <a:solidFill>
              <a:srgbClr val="F5A623"/>
            </a:solidFill>
            <a:prstDash val="solid"/>
          </a:ln>
        </p:spPr>
      </p:sp>
      <p:sp>
        <p:nvSpPr>
          <p:cNvPr id="15" name="Shape 13"/>
          <p:cNvSpPr/>
          <p:nvPr/>
        </p:nvSpPr>
        <p:spPr>
          <a:xfrm>
            <a:off x="320040" y="1947672"/>
            <a:ext cx="64008" cy="896112"/>
          </a:xfrm>
          <a:prstGeom prst="rect">
            <a:avLst/>
          </a:prstGeom>
          <a:solidFill>
            <a:srgbClr val="F5A623"/>
          </a:solidFill>
          <a:ln w="12700">
            <a:solidFill>
              <a:srgbClr val="F5A623"/>
            </a:solidFill>
            <a:prstDash val="solid"/>
          </a:ln>
        </p:spPr>
      </p:sp>
      <p:sp>
        <p:nvSpPr>
          <p:cNvPr id="16" name="Text 14"/>
          <p:cNvSpPr/>
          <p:nvPr/>
        </p:nvSpPr>
        <p:spPr>
          <a:xfrm>
            <a:off x="502920" y="2002536"/>
            <a:ext cx="8183880" cy="228600"/>
          </a:xfrm>
          <a:prstGeom prst="rect">
            <a:avLst/>
          </a:prstGeom>
          <a:noFill/>
          <a:ln/>
        </p:spPr>
        <p:txBody>
          <a:bodyPr wrap="square" lIns="0" tIns="0" rIns="0" bIns="0" rtlCol="0" anchor="ctr"/>
          <a:lstStyle/>
          <a:p>
            <a:pPr indent="0" marL="0">
              <a:buNone/>
            </a:pPr>
            <a:r>
              <a:rPr lang="en-US" sz="1050" b="1" dirty="0">
                <a:solidFill>
                  <a:srgbClr val="F5A623"/>
                </a:solidFill>
                <a:latin typeface="Calibri" pitchFamily="34" charset="0"/>
                <a:ea typeface="Calibri" pitchFamily="34" charset="-122"/>
                <a:cs typeface="Calibri" pitchFamily="34" charset="-120"/>
              </a:rPr>
              <a:t>Q: UNIX socket vs FIFO for control plane?</a:t>
            </a:r>
            <a:endParaRPr lang="en-US" sz="1050" dirty="0"/>
          </a:p>
        </p:txBody>
      </p:sp>
      <p:sp>
        <p:nvSpPr>
          <p:cNvPr id="17" name="Text 15"/>
          <p:cNvSpPr/>
          <p:nvPr/>
        </p:nvSpPr>
        <p:spPr>
          <a:xfrm>
            <a:off x="502920" y="2240280"/>
            <a:ext cx="5303520" cy="502920"/>
          </a:xfrm>
          <a:prstGeom prst="rect">
            <a:avLst/>
          </a:prstGeom>
          <a:noFill/>
          <a:ln/>
        </p:spPr>
        <p:txBody>
          <a:bodyPr wrap="square" lIns="0" tIns="0" rIns="0" bIns="0" rtlCol="0" anchor="ctr"/>
          <a:lstStyle/>
          <a:p>
            <a:pPr indent="0" marL="0">
              <a:buNone/>
            </a:pPr>
            <a:r>
              <a:rPr lang="en-US" sz="950" dirty="0">
                <a:solidFill>
                  <a:srgbClr val="F0F4F8"/>
                </a:solidFill>
                <a:latin typeface="Calibri" pitchFamily="34" charset="0"/>
                <a:ea typeface="Calibri" pitchFamily="34" charset="-122"/>
                <a:cs typeface="Calibri" pitchFamily="34" charset="-120"/>
              </a:rPr>
              <a:t>UNIX domain socket allows bidirectional full-duplex communication with sequential request-response semantics. FIFOs require two files for bidirectional communication.</a:t>
            </a:r>
            <a:endParaRPr lang="en-US" sz="950" dirty="0"/>
          </a:p>
        </p:txBody>
      </p:sp>
      <p:sp>
        <p:nvSpPr>
          <p:cNvPr id="18" name="Shape 16"/>
          <p:cNvSpPr/>
          <p:nvPr/>
        </p:nvSpPr>
        <p:spPr>
          <a:xfrm>
            <a:off x="6035040" y="2057400"/>
            <a:ext cx="1188720" cy="256032"/>
          </a:xfrm>
          <a:prstGeom prst="rect">
            <a:avLst/>
          </a:prstGeom>
          <a:solidFill>
            <a:srgbClr val="007A5E"/>
          </a:solidFill>
          <a:ln w="12700">
            <a:solidFill>
              <a:srgbClr val="007A5E"/>
            </a:solidFill>
            <a:prstDash val="solid"/>
          </a:ln>
        </p:spPr>
      </p:sp>
      <p:sp>
        <p:nvSpPr>
          <p:cNvPr id="19" name="Text 17"/>
          <p:cNvSpPr/>
          <p:nvPr/>
        </p:nvSpPr>
        <p:spPr>
          <a:xfrm>
            <a:off x="6080760" y="2057400"/>
            <a:ext cx="1097280" cy="256032"/>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 Single fd, responses included</a:t>
            </a:r>
            <a:endParaRPr lang="en-US" sz="800" dirty="0"/>
          </a:p>
        </p:txBody>
      </p:sp>
      <p:sp>
        <p:nvSpPr>
          <p:cNvPr id="20" name="Shape 18"/>
          <p:cNvSpPr/>
          <p:nvPr/>
        </p:nvSpPr>
        <p:spPr>
          <a:xfrm>
            <a:off x="7360920" y="2057400"/>
            <a:ext cx="1371600" cy="256032"/>
          </a:xfrm>
          <a:prstGeom prst="rect">
            <a:avLst/>
          </a:prstGeom>
          <a:solidFill>
            <a:srgbClr val="E63946">
              <a:alpha val="70000"/>
            </a:srgbClr>
          </a:solidFill>
          <a:ln w="12700">
            <a:solidFill>
              <a:srgbClr val="E63946"/>
            </a:solidFill>
            <a:prstDash val="solid"/>
          </a:ln>
        </p:spPr>
      </p:sp>
      <p:sp>
        <p:nvSpPr>
          <p:cNvPr id="21" name="Text 19"/>
          <p:cNvSpPr/>
          <p:nvPr/>
        </p:nvSpPr>
        <p:spPr>
          <a:xfrm>
            <a:off x="7406640" y="2057400"/>
            <a:ext cx="1280160" cy="256032"/>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 Slightly more setup code</a:t>
            </a:r>
            <a:endParaRPr lang="en-US" sz="800" dirty="0"/>
          </a:p>
        </p:txBody>
      </p:sp>
      <p:sp>
        <p:nvSpPr>
          <p:cNvPr id="22" name="Shape 20"/>
          <p:cNvSpPr/>
          <p:nvPr/>
        </p:nvSpPr>
        <p:spPr>
          <a:xfrm>
            <a:off x="320040" y="2935224"/>
            <a:ext cx="8503920" cy="896112"/>
          </a:xfrm>
          <a:prstGeom prst="rect">
            <a:avLst/>
          </a:prstGeom>
          <a:solidFill>
            <a:srgbClr val="162534"/>
          </a:solidFill>
          <a:ln w="12700">
            <a:solidFill>
              <a:srgbClr val="00D9A5"/>
            </a:solidFill>
            <a:prstDash val="solid"/>
          </a:ln>
        </p:spPr>
      </p:sp>
      <p:sp>
        <p:nvSpPr>
          <p:cNvPr id="23" name="Shape 21"/>
          <p:cNvSpPr/>
          <p:nvPr/>
        </p:nvSpPr>
        <p:spPr>
          <a:xfrm>
            <a:off x="320040" y="2935224"/>
            <a:ext cx="64008" cy="896112"/>
          </a:xfrm>
          <a:prstGeom prst="rect">
            <a:avLst/>
          </a:prstGeom>
          <a:solidFill>
            <a:srgbClr val="00D9A5"/>
          </a:solidFill>
          <a:ln w="12700">
            <a:solidFill>
              <a:srgbClr val="00D9A5"/>
            </a:solidFill>
            <a:prstDash val="solid"/>
          </a:ln>
        </p:spPr>
      </p:sp>
      <p:sp>
        <p:nvSpPr>
          <p:cNvPr id="24" name="Text 22"/>
          <p:cNvSpPr/>
          <p:nvPr/>
        </p:nvSpPr>
        <p:spPr>
          <a:xfrm>
            <a:off x="502920" y="2990088"/>
            <a:ext cx="8183880" cy="228600"/>
          </a:xfrm>
          <a:prstGeom prst="rect">
            <a:avLst/>
          </a:prstGeom>
          <a:noFill/>
          <a:ln/>
        </p:spPr>
        <p:txBody>
          <a:bodyPr wrap="square" lIns="0" tIns="0" rIns="0" bIns="0" rtlCol="0" anchor="ctr"/>
          <a:lstStyle/>
          <a:p>
            <a:pPr indent="0" marL="0">
              <a:buNone/>
            </a:pPr>
            <a:r>
              <a:rPr lang="en-US" sz="1050" b="1" dirty="0">
                <a:solidFill>
                  <a:srgbClr val="00D9A5"/>
                </a:solidFill>
                <a:latin typeface="Calibri" pitchFamily="34" charset="0"/>
                <a:ea typeface="Calibri" pitchFamily="34" charset="-122"/>
                <a:cs typeface="Calibri" pitchFamily="34" charset="-120"/>
              </a:rPr>
              <a:t>Q: 16-slot bounded buffer — why not unbounded?</a:t>
            </a:r>
            <a:endParaRPr lang="en-US" sz="1050" dirty="0"/>
          </a:p>
        </p:txBody>
      </p:sp>
      <p:sp>
        <p:nvSpPr>
          <p:cNvPr id="25" name="Text 23"/>
          <p:cNvSpPr/>
          <p:nvPr/>
        </p:nvSpPr>
        <p:spPr>
          <a:xfrm>
            <a:off x="502920" y="3227832"/>
            <a:ext cx="5303520" cy="502920"/>
          </a:xfrm>
          <a:prstGeom prst="rect">
            <a:avLst/>
          </a:prstGeom>
          <a:noFill/>
          <a:ln/>
        </p:spPr>
        <p:txBody>
          <a:bodyPr wrap="square" lIns="0" tIns="0" rIns="0" bIns="0" rtlCol="0" anchor="ctr"/>
          <a:lstStyle/>
          <a:p>
            <a:pPr indent="0" marL="0">
              <a:buNone/>
            </a:pPr>
            <a:r>
              <a:rPr lang="en-US" sz="950" dirty="0">
                <a:solidFill>
                  <a:srgbClr val="F0F4F8"/>
                </a:solidFill>
                <a:latin typeface="Calibri" pitchFamily="34" charset="0"/>
                <a:ea typeface="Calibri" pitchFamily="34" charset="-122"/>
                <a:cs typeface="Calibri" pitchFamily="34" charset="-120"/>
              </a:rPr>
              <a:t>Bounded buffer provides backpressure — if the disk logger falls behind, the pipe reader blocks. Unbounded queue could exhaust heap memory under a chatty container.</a:t>
            </a:r>
            <a:endParaRPr lang="en-US" sz="950" dirty="0"/>
          </a:p>
        </p:txBody>
      </p:sp>
      <p:sp>
        <p:nvSpPr>
          <p:cNvPr id="26" name="Shape 24"/>
          <p:cNvSpPr/>
          <p:nvPr/>
        </p:nvSpPr>
        <p:spPr>
          <a:xfrm>
            <a:off x="6035040" y="3044952"/>
            <a:ext cx="1188720" cy="256032"/>
          </a:xfrm>
          <a:prstGeom prst="rect">
            <a:avLst/>
          </a:prstGeom>
          <a:solidFill>
            <a:srgbClr val="007A5E"/>
          </a:solidFill>
          <a:ln w="12700">
            <a:solidFill>
              <a:srgbClr val="007A5E"/>
            </a:solidFill>
            <a:prstDash val="solid"/>
          </a:ln>
        </p:spPr>
      </p:sp>
      <p:sp>
        <p:nvSpPr>
          <p:cNvPr id="27" name="Text 25"/>
          <p:cNvSpPr/>
          <p:nvPr/>
        </p:nvSpPr>
        <p:spPr>
          <a:xfrm>
            <a:off x="6080760" y="3044952"/>
            <a:ext cx="1097280" cy="256032"/>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 Memory-safe, natural backpressure</a:t>
            </a:r>
            <a:endParaRPr lang="en-US" sz="800" dirty="0"/>
          </a:p>
        </p:txBody>
      </p:sp>
      <p:sp>
        <p:nvSpPr>
          <p:cNvPr id="28" name="Shape 26"/>
          <p:cNvSpPr/>
          <p:nvPr/>
        </p:nvSpPr>
        <p:spPr>
          <a:xfrm>
            <a:off x="7360920" y="3044952"/>
            <a:ext cx="1371600" cy="256032"/>
          </a:xfrm>
          <a:prstGeom prst="rect">
            <a:avLst/>
          </a:prstGeom>
          <a:solidFill>
            <a:srgbClr val="E63946">
              <a:alpha val="70000"/>
            </a:srgbClr>
          </a:solidFill>
          <a:ln w="12700">
            <a:solidFill>
              <a:srgbClr val="E63946"/>
            </a:solidFill>
            <a:prstDash val="solid"/>
          </a:ln>
        </p:spPr>
      </p:sp>
      <p:sp>
        <p:nvSpPr>
          <p:cNvPr id="29" name="Text 27"/>
          <p:cNvSpPr/>
          <p:nvPr/>
        </p:nvSpPr>
        <p:spPr>
          <a:xfrm>
            <a:off x="7406640" y="3044952"/>
            <a:ext cx="1280160" cy="256032"/>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 Can slow log producers</a:t>
            </a:r>
            <a:endParaRPr lang="en-US" sz="800" dirty="0"/>
          </a:p>
        </p:txBody>
      </p:sp>
      <p:sp>
        <p:nvSpPr>
          <p:cNvPr id="30" name="Shape 28"/>
          <p:cNvSpPr/>
          <p:nvPr/>
        </p:nvSpPr>
        <p:spPr>
          <a:xfrm>
            <a:off x="320040" y="3922776"/>
            <a:ext cx="8503920" cy="896112"/>
          </a:xfrm>
          <a:prstGeom prst="rect">
            <a:avLst/>
          </a:prstGeom>
          <a:solidFill>
            <a:srgbClr val="162534"/>
          </a:solidFill>
          <a:ln w="12700">
            <a:solidFill>
              <a:srgbClr val="E63946"/>
            </a:solidFill>
            <a:prstDash val="solid"/>
          </a:ln>
        </p:spPr>
      </p:sp>
      <p:sp>
        <p:nvSpPr>
          <p:cNvPr id="31" name="Shape 29"/>
          <p:cNvSpPr/>
          <p:nvPr/>
        </p:nvSpPr>
        <p:spPr>
          <a:xfrm>
            <a:off x="320040" y="3922776"/>
            <a:ext cx="64008" cy="896112"/>
          </a:xfrm>
          <a:prstGeom prst="rect">
            <a:avLst/>
          </a:prstGeom>
          <a:solidFill>
            <a:srgbClr val="E63946"/>
          </a:solidFill>
          <a:ln w="12700">
            <a:solidFill>
              <a:srgbClr val="E63946"/>
            </a:solidFill>
            <a:prstDash val="solid"/>
          </a:ln>
        </p:spPr>
      </p:sp>
      <p:sp>
        <p:nvSpPr>
          <p:cNvPr id="32" name="Text 30"/>
          <p:cNvSpPr/>
          <p:nvPr/>
        </p:nvSpPr>
        <p:spPr>
          <a:xfrm>
            <a:off x="502920" y="3977640"/>
            <a:ext cx="8183880" cy="228600"/>
          </a:xfrm>
          <a:prstGeom prst="rect">
            <a:avLst/>
          </a:prstGeom>
          <a:noFill/>
          <a:ln/>
        </p:spPr>
        <p:txBody>
          <a:bodyPr wrap="square" lIns="0" tIns="0" rIns="0" bIns="0" rtlCol="0" anchor="ctr"/>
          <a:lstStyle/>
          <a:p>
            <a:pPr indent="0" marL="0">
              <a:buNone/>
            </a:pPr>
            <a:r>
              <a:rPr lang="en-US" sz="1050" b="1" dirty="0">
                <a:solidFill>
                  <a:srgbClr val="E63946"/>
                </a:solidFill>
                <a:latin typeface="Calibri" pitchFamily="34" charset="0"/>
                <a:ea typeface="Calibri" pitchFamily="34" charset="-122"/>
                <a:cs typeface="Calibri" pitchFamily="34" charset="-120"/>
              </a:rPr>
              <a:t>Q: clone() vs fork() + setns()?</a:t>
            </a:r>
            <a:endParaRPr lang="en-US" sz="1050" dirty="0"/>
          </a:p>
        </p:txBody>
      </p:sp>
      <p:sp>
        <p:nvSpPr>
          <p:cNvPr id="33" name="Text 31"/>
          <p:cNvSpPr/>
          <p:nvPr/>
        </p:nvSpPr>
        <p:spPr>
          <a:xfrm>
            <a:off x="502920" y="4215384"/>
            <a:ext cx="5303520" cy="502920"/>
          </a:xfrm>
          <a:prstGeom prst="rect">
            <a:avLst/>
          </a:prstGeom>
          <a:noFill/>
          <a:ln/>
        </p:spPr>
        <p:txBody>
          <a:bodyPr wrap="square" lIns="0" tIns="0" rIns="0" bIns="0" rtlCol="0" anchor="ctr"/>
          <a:lstStyle/>
          <a:p>
            <a:pPr indent="0" marL="0">
              <a:buNone/>
            </a:pPr>
            <a:r>
              <a:rPr lang="en-US" sz="950" dirty="0">
                <a:solidFill>
                  <a:srgbClr val="F0F4F8"/>
                </a:solidFill>
                <a:latin typeface="Calibri" pitchFamily="34" charset="0"/>
                <a:ea typeface="Calibri" pitchFamily="34" charset="-122"/>
                <a:cs typeface="Calibri" pitchFamily="34" charset="-120"/>
              </a:rPr>
              <a:t>clone() creates the child already in the new namespace — atomic. fork() + setns() would require two syscalls and a synchronization point. clone() also avoids inheriting unwanted file descriptors.</a:t>
            </a:r>
            <a:endParaRPr lang="en-US" sz="950" dirty="0"/>
          </a:p>
        </p:txBody>
      </p:sp>
      <p:sp>
        <p:nvSpPr>
          <p:cNvPr id="34" name="Shape 32"/>
          <p:cNvSpPr/>
          <p:nvPr/>
        </p:nvSpPr>
        <p:spPr>
          <a:xfrm>
            <a:off x="6035040" y="4032504"/>
            <a:ext cx="1188720" cy="256032"/>
          </a:xfrm>
          <a:prstGeom prst="rect">
            <a:avLst/>
          </a:prstGeom>
          <a:solidFill>
            <a:srgbClr val="007A5E"/>
          </a:solidFill>
          <a:ln w="12700">
            <a:solidFill>
              <a:srgbClr val="007A5E"/>
            </a:solidFill>
            <a:prstDash val="solid"/>
          </a:ln>
        </p:spPr>
      </p:sp>
      <p:sp>
        <p:nvSpPr>
          <p:cNvPr id="35" name="Text 33"/>
          <p:cNvSpPr/>
          <p:nvPr/>
        </p:nvSpPr>
        <p:spPr>
          <a:xfrm>
            <a:off x="6080760" y="4032504"/>
            <a:ext cx="1097280" cy="256032"/>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 Atomic namespace creation</a:t>
            </a:r>
            <a:endParaRPr lang="en-US" sz="800" dirty="0"/>
          </a:p>
        </p:txBody>
      </p:sp>
      <p:sp>
        <p:nvSpPr>
          <p:cNvPr id="36" name="Shape 34"/>
          <p:cNvSpPr/>
          <p:nvPr/>
        </p:nvSpPr>
        <p:spPr>
          <a:xfrm>
            <a:off x="7360920" y="4032504"/>
            <a:ext cx="1371600" cy="256032"/>
          </a:xfrm>
          <a:prstGeom prst="rect">
            <a:avLst/>
          </a:prstGeom>
          <a:solidFill>
            <a:srgbClr val="E63946">
              <a:alpha val="70000"/>
            </a:srgbClr>
          </a:solidFill>
          <a:ln w="12700">
            <a:solidFill>
              <a:srgbClr val="E63946"/>
            </a:solidFill>
            <a:prstDash val="solid"/>
          </a:ln>
        </p:spPr>
      </p:sp>
      <p:sp>
        <p:nvSpPr>
          <p:cNvPr id="37" name="Text 35"/>
          <p:cNvSpPr/>
          <p:nvPr/>
        </p:nvSpPr>
        <p:spPr>
          <a:xfrm>
            <a:off x="7406640" y="4032504"/>
            <a:ext cx="1280160" cy="256032"/>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 More complex argument setup</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800" b="1" dirty="0">
                <a:solidFill>
                  <a:srgbClr val="1B2A3B"/>
                </a:solidFill>
                <a:latin typeface="Calibri" pitchFamily="34" charset="0"/>
                <a:ea typeface="Calibri" pitchFamily="34" charset="-122"/>
                <a:cs typeface="Calibri" pitchFamily="34" charset="-120"/>
              </a:rPr>
              <a:t>Challenges Faced &amp; Solutions</a:t>
            </a:r>
            <a:endParaRPr lang="en-US" sz="2800" dirty="0"/>
          </a:p>
        </p:txBody>
      </p:sp>
      <p:sp>
        <p:nvSpPr>
          <p:cNvPr id="3" name="Shape 1"/>
          <p:cNvSpPr/>
          <p:nvPr/>
        </p:nvSpPr>
        <p:spPr>
          <a:xfrm>
            <a:off x="457200" y="841248"/>
            <a:ext cx="1097280" cy="201168"/>
          </a:xfrm>
          <a:prstGeom prst="rect">
            <a:avLst/>
          </a:prstGeom>
          <a:solidFill>
            <a:srgbClr val="00D9A5"/>
          </a:solidFill>
          <a:ln w="12700">
            <a:solidFill>
              <a:srgbClr val="00D9A5"/>
            </a:solidFill>
            <a:prstDash val="solid"/>
          </a:ln>
        </p:spPr>
      </p:sp>
      <p:sp>
        <p:nvSpPr>
          <p:cNvPr id="4" name="Text 2"/>
          <p:cNvSpPr/>
          <p:nvPr/>
        </p:nvSpPr>
        <p:spPr>
          <a:xfrm>
            <a:off x="457200" y="841248"/>
            <a:ext cx="1097280" cy="201168"/>
          </a:xfrm>
          <a:prstGeom prst="rect">
            <a:avLst/>
          </a:prstGeom>
          <a:noFill/>
          <a:ln/>
        </p:spPr>
        <p:txBody>
          <a:bodyPr wrap="square" lIns="0" tIns="0" rIns="0" bIns="0" rtlCol="0" anchor="ctr"/>
          <a:lstStyle/>
          <a:p>
            <a:pPr algn="ctr" indent="0" marL="0">
              <a:buNone/>
            </a:pPr>
            <a:r>
              <a:rPr lang="en-US" sz="800" b="1" dirty="0">
                <a:solidFill>
                  <a:srgbClr val="0D1B2A"/>
                </a:solidFill>
                <a:latin typeface="Calibri" pitchFamily="34" charset="0"/>
                <a:ea typeface="Calibri" pitchFamily="34" charset="-122"/>
                <a:cs typeface="Calibri" pitchFamily="34" charset="-120"/>
              </a:rPr>
              <a:t>CHALLENGES</a:t>
            </a:r>
            <a:endParaRPr lang="en-US" sz="800" dirty="0"/>
          </a:p>
        </p:txBody>
      </p:sp>
      <p:sp>
        <p:nvSpPr>
          <p:cNvPr id="5" name="Shape 3"/>
          <p:cNvSpPr/>
          <p:nvPr/>
        </p:nvSpPr>
        <p:spPr>
          <a:xfrm>
            <a:off x="457200" y="777240"/>
            <a:ext cx="8229600" cy="22860"/>
          </a:xfrm>
          <a:prstGeom prst="rect">
            <a:avLst/>
          </a:prstGeom>
          <a:solidFill>
            <a:srgbClr val="E63946"/>
          </a:solidFill>
          <a:ln w="12700">
            <a:solidFill>
              <a:srgbClr val="E63946"/>
            </a:solidFill>
            <a:prstDash val="solid"/>
          </a:ln>
        </p:spPr>
      </p:sp>
      <p:sp>
        <p:nvSpPr>
          <p:cNvPr id="6" name="Shape 4"/>
          <p:cNvSpPr/>
          <p:nvPr/>
        </p:nvSpPr>
        <p:spPr>
          <a:xfrm>
            <a:off x="320040" y="960120"/>
            <a:ext cx="4023360" cy="987552"/>
          </a:xfrm>
          <a:prstGeom prst="rect">
            <a:avLst/>
          </a:prstGeom>
          <a:solidFill>
            <a:srgbClr val="FFFFFF"/>
          </a:solidFill>
          <a:ln w="12700">
            <a:solidFill>
              <a:srgbClr val="D6E3EE"/>
            </a:solidFill>
            <a:prstDash val="solid"/>
          </a:ln>
        </p:spPr>
      </p:sp>
      <p:sp>
        <p:nvSpPr>
          <p:cNvPr id="7" name="Shape 5"/>
          <p:cNvSpPr/>
          <p:nvPr/>
        </p:nvSpPr>
        <p:spPr>
          <a:xfrm>
            <a:off x="320040" y="960120"/>
            <a:ext cx="64008" cy="987552"/>
          </a:xfrm>
          <a:prstGeom prst="rect">
            <a:avLst/>
          </a:prstGeom>
          <a:solidFill>
            <a:srgbClr val="E63946"/>
          </a:solidFill>
          <a:ln w="12700">
            <a:solidFill>
              <a:srgbClr val="E63946"/>
            </a:solidFill>
            <a:prstDash val="solid"/>
          </a:ln>
        </p:spPr>
      </p:sp>
      <p:sp>
        <p:nvSpPr>
          <p:cNvPr id="8" name="Text 6"/>
          <p:cNvSpPr/>
          <p:nvPr/>
        </p:nvSpPr>
        <p:spPr>
          <a:xfrm>
            <a:off x="457200" y="1005840"/>
            <a:ext cx="3822192" cy="256032"/>
          </a:xfrm>
          <a:prstGeom prst="rect">
            <a:avLst/>
          </a:prstGeom>
          <a:noFill/>
          <a:ln/>
        </p:spPr>
        <p:txBody>
          <a:bodyPr wrap="square" lIns="0" tIns="0" rIns="0" bIns="0" rtlCol="0" anchor="ctr"/>
          <a:lstStyle/>
          <a:p>
            <a:pPr indent="0" marL="0">
              <a:buNone/>
            </a:pPr>
            <a:r>
              <a:rPr lang="en-US" sz="1000" b="1" dirty="0">
                <a:solidFill>
                  <a:srgbClr val="E63946"/>
                </a:solidFill>
                <a:latin typeface="Calibri" pitchFamily="34" charset="0"/>
                <a:ea typeface="Calibri" pitchFamily="34" charset="-122"/>
                <a:cs typeface="Calibri" pitchFamily="34" charset="-120"/>
              </a:rPr>
              <a:t>⚠ use-after-free in kernel timer callback</a:t>
            </a:r>
            <a:endParaRPr lang="en-US" sz="1000" dirty="0"/>
          </a:p>
        </p:txBody>
      </p:sp>
      <p:sp>
        <p:nvSpPr>
          <p:cNvPr id="9" name="Text 7"/>
          <p:cNvSpPr/>
          <p:nvPr/>
        </p:nvSpPr>
        <p:spPr>
          <a:xfrm>
            <a:off x="457200" y="1280160"/>
            <a:ext cx="3822192" cy="594360"/>
          </a:xfrm>
          <a:prstGeom prst="rect">
            <a:avLst/>
          </a:prstGeom>
          <a:noFill/>
          <a:ln/>
        </p:spPr>
        <p:txBody>
          <a:bodyPr wrap="square" lIns="0" tIns="0" rIns="0" bIns="0" rtlCol="0" anchor="t"/>
          <a:lstStyle/>
          <a:p>
            <a:pPr indent="0" marL="0">
              <a:buNone/>
            </a:pPr>
            <a:r>
              <a:rPr lang="en-US" sz="950" dirty="0">
                <a:solidFill>
                  <a:srgbClr val="1B2A3B"/>
                </a:solidFill>
                <a:latin typeface="Calibri" pitchFamily="34" charset="0"/>
                <a:ea typeface="Calibri" pitchFamily="34" charset="-122"/>
                <a:cs typeface="Calibri" pitchFamily="34" charset="-120"/>
              </a:rPr>
              <a:t>→ Used list_for_each_entry_safe which saves the next pointer before the loop body — allows safe deletion during iteration</a:t>
            </a:r>
            <a:endParaRPr lang="en-US" sz="950" dirty="0"/>
          </a:p>
        </p:txBody>
      </p:sp>
      <p:sp>
        <p:nvSpPr>
          <p:cNvPr id="10" name="Shape 8"/>
          <p:cNvSpPr/>
          <p:nvPr/>
        </p:nvSpPr>
        <p:spPr>
          <a:xfrm>
            <a:off x="4526280" y="960120"/>
            <a:ext cx="4023360" cy="987552"/>
          </a:xfrm>
          <a:prstGeom prst="rect">
            <a:avLst/>
          </a:prstGeom>
          <a:solidFill>
            <a:srgbClr val="FFFFFF"/>
          </a:solidFill>
          <a:ln w="12700">
            <a:solidFill>
              <a:srgbClr val="D6E3EE"/>
            </a:solidFill>
            <a:prstDash val="solid"/>
          </a:ln>
        </p:spPr>
      </p:sp>
      <p:sp>
        <p:nvSpPr>
          <p:cNvPr id="11" name="Shape 9"/>
          <p:cNvSpPr/>
          <p:nvPr/>
        </p:nvSpPr>
        <p:spPr>
          <a:xfrm>
            <a:off x="4526280" y="960120"/>
            <a:ext cx="64008" cy="987552"/>
          </a:xfrm>
          <a:prstGeom prst="rect">
            <a:avLst/>
          </a:prstGeom>
          <a:solidFill>
            <a:srgbClr val="F5A623"/>
          </a:solidFill>
          <a:ln w="12700">
            <a:solidFill>
              <a:srgbClr val="F5A623"/>
            </a:solidFill>
            <a:prstDash val="solid"/>
          </a:ln>
        </p:spPr>
      </p:sp>
      <p:sp>
        <p:nvSpPr>
          <p:cNvPr id="12" name="Text 10"/>
          <p:cNvSpPr/>
          <p:nvPr/>
        </p:nvSpPr>
        <p:spPr>
          <a:xfrm>
            <a:off x="4663440" y="1005840"/>
            <a:ext cx="3822192" cy="256032"/>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 /proc not visible inside container</a:t>
            </a:r>
            <a:endParaRPr lang="en-US" sz="1000" dirty="0"/>
          </a:p>
        </p:txBody>
      </p:sp>
      <p:sp>
        <p:nvSpPr>
          <p:cNvPr id="13" name="Text 11"/>
          <p:cNvSpPr/>
          <p:nvPr/>
        </p:nvSpPr>
        <p:spPr>
          <a:xfrm>
            <a:off x="4663440" y="1280160"/>
            <a:ext cx="3822192" cy="594360"/>
          </a:xfrm>
          <a:prstGeom prst="rect">
            <a:avLst/>
          </a:prstGeom>
          <a:noFill/>
          <a:ln/>
        </p:spPr>
        <p:txBody>
          <a:bodyPr wrap="square" lIns="0" tIns="0" rIns="0" bIns="0" rtlCol="0" anchor="t"/>
          <a:lstStyle/>
          <a:p>
            <a:pPr indent="0" marL="0">
              <a:buNone/>
            </a:pPr>
            <a:r>
              <a:rPr lang="en-US" sz="950" dirty="0">
                <a:solidFill>
                  <a:srgbClr val="1B2A3B"/>
                </a:solidFill>
                <a:latin typeface="Calibri" pitchFamily="34" charset="0"/>
                <a:ea typeface="Calibri" pitchFamily="34" charset="-122"/>
                <a:cs typeface="Calibri" pitchFamily="34" charset="-120"/>
              </a:rPr>
              <a:t>→ After chroot(), /proc must be re-mounted: mount("proc", "/proc", "proc", 0, NULL). This gives the container its own PID-namespace-aware /proc</a:t>
            </a:r>
            <a:endParaRPr lang="en-US" sz="950" dirty="0"/>
          </a:p>
        </p:txBody>
      </p:sp>
      <p:sp>
        <p:nvSpPr>
          <p:cNvPr id="14" name="Shape 12"/>
          <p:cNvSpPr/>
          <p:nvPr/>
        </p:nvSpPr>
        <p:spPr>
          <a:xfrm>
            <a:off x="320040" y="2112264"/>
            <a:ext cx="4023360" cy="987552"/>
          </a:xfrm>
          <a:prstGeom prst="rect">
            <a:avLst/>
          </a:prstGeom>
          <a:solidFill>
            <a:srgbClr val="FFFFFF"/>
          </a:solidFill>
          <a:ln w="12700">
            <a:solidFill>
              <a:srgbClr val="D6E3EE"/>
            </a:solidFill>
            <a:prstDash val="solid"/>
          </a:ln>
        </p:spPr>
      </p:sp>
      <p:sp>
        <p:nvSpPr>
          <p:cNvPr id="15" name="Shape 13"/>
          <p:cNvSpPr/>
          <p:nvPr/>
        </p:nvSpPr>
        <p:spPr>
          <a:xfrm>
            <a:off x="320040" y="2112264"/>
            <a:ext cx="64008" cy="987552"/>
          </a:xfrm>
          <a:prstGeom prst="rect">
            <a:avLst/>
          </a:prstGeom>
          <a:solidFill>
            <a:srgbClr val="0E9AA7"/>
          </a:solidFill>
          <a:ln w="12700">
            <a:solidFill>
              <a:srgbClr val="0E9AA7"/>
            </a:solidFill>
            <a:prstDash val="solid"/>
          </a:ln>
        </p:spPr>
      </p:sp>
      <p:sp>
        <p:nvSpPr>
          <p:cNvPr id="16" name="Text 14"/>
          <p:cNvSpPr/>
          <p:nvPr/>
        </p:nvSpPr>
        <p:spPr>
          <a:xfrm>
            <a:off x="457200" y="2157984"/>
            <a:ext cx="3822192" cy="256032"/>
          </a:xfrm>
          <a:prstGeom prst="rect">
            <a:avLst/>
          </a:prstGeom>
          <a:noFill/>
          <a:ln/>
        </p:spPr>
        <p:txBody>
          <a:bodyPr wrap="square" lIns="0" tIns="0" rIns="0" bIns="0" rtlCol="0" anchor="ctr"/>
          <a:lstStyle/>
          <a:p>
            <a:pPr indent="0" marL="0">
              <a:buNone/>
            </a:pPr>
            <a:r>
              <a:rPr lang="en-US" sz="1000" b="1" dirty="0">
                <a:solidFill>
                  <a:srgbClr val="0E9AA7"/>
                </a:solidFill>
                <a:latin typeface="Calibri" pitchFamily="34" charset="0"/>
                <a:ea typeface="Calibri" pitchFamily="34" charset="-122"/>
                <a:cs typeface="Calibri" pitchFamily="34" charset="-120"/>
              </a:rPr>
              <a:t>⚠ Double-bullet in printk logs (spam)</a:t>
            </a:r>
            <a:endParaRPr lang="en-US" sz="1000" dirty="0"/>
          </a:p>
        </p:txBody>
      </p:sp>
      <p:sp>
        <p:nvSpPr>
          <p:cNvPr id="17" name="Text 15"/>
          <p:cNvSpPr/>
          <p:nvPr/>
        </p:nvSpPr>
        <p:spPr>
          <a:xfrm>
            <a:off x="457200" y="2432304"/>
            <a:ext cx="3822192" cy="594360"/>
          </a:xfrm>
          <a:prstGeom prst="rect">
            <a:avLst/>
          </a:prstGeom>
          <a:noFill/>
          <a:ln/>
        </p:spPr>
        <p:txBody>
          <a:bodyPr wrap="square" lIns="0" tIns="0" rIns="0" bIns="0" rtlCol="0" anchor="t"/>
          <a:lstStyle/>
          <a:p>
            <a:pPr indent="0" marL="0">
              <a:buNone/>
            </a:pPr>
            <a:r>
              <a:rPr lang="en-US" sz="950" dirty="0">
                <a:solidFill>
                  <a:srgbClr val="1B2A3B"/>
                </a:solidFill>
                <a:latin typeface="Calibri" pitchFamily="34" charset="0"/>
                <a:ea typeface="Calibri" pitchFamily="34" charset="-122"/>
                <a:cs typeface="Calibri" pitchFamily="34" charset="-120"/>
              </a:rPr>
              <a:t>→ Added soft_warned flag to each monitored node — once set, soft-limit warnings are suppressed until the entry is re-registered</a:t>
            </a:r>
            <a:endParaRPr lang="en-US" sz="950" dirty="0"/>
          </a:p>
        </p:txBody>
      </p:sp>
      <p:sp>
        <p:nvSpPr>
          <p:cNvPr id="18" name="Shape 16"/>
          <p:cNvSpPr/>
          <p:nvPr/>
        </p:nvSpPr>
        <p:spPr>
          <a:xfrm>
            <a:off x="4526280" y="2112264"/>
            <a:ext cx="4023360" cy="987552"/>
          </a:xfrm>
          <a:prstGeom prst="rect">
            <a:avLst/>
          </a:prstGeom>
          <a:solidFill>
            <a:srgbClr val="FFFFFF"/>
          </a:solidFill>
          <a:ln w="12700">
            <a:solidFill>
              <a:srgbClr val="D6E3EE"/>
            </a:solidFill>
            <a:prstDash val="solid"/>
          </a:ln>
        </p:spPr>
      </p:sp>
      <p:sp>
        <p:nvSpPr>
          <p:cNvPr id="19" name="Shape 17"/>
          <p:cNvSpPr/>
          <p:nvPr/>
        </p:nvSpPr>
        <p:spPr>
          <a:xfrm>
            <a:off x="4526280" y="2112264"/>
            <a:ext cx="64008" cy="987552"/>
          </a:xfrm>
          <a:prstGeom prst="rect">
            <a:avLst/>
          </a:prstGeom>
          <a:solidFill>
            <a:srgbClr val="00D9A5"/>
          </a:solidFill>
          <a:ln w="12700">
            <a:solidFill>
              <a:srgbClr val="00D9A5"/>
            </a:solidFill>
            <a:prstDash val="solid"/>
          </a:ln>
        </p:spPr>
      </p:sp>
      <p:sp>
        <p:nvSpPr>
          <p:cNvPr id="20" name="Text 18"/>
          <p:cNvSpPr/>
          <p:nvPr/>
        </p:nvSpPr>
        <p:spPr>
          <a:xfrm>
            <a:off x="4663440" y="2157984"/>
            <a:ext cx="3822192" cy="256032"/>
          </a:xfrm>
          <a:prstGeom prst="rect">
            <a:avLst/>
          </a:prstGeom>
          <a:noFill/>
          <a:ln/>
        </p:spPr>
        <p:txBody>
          <a:bodyPr wrap="square" lIns="0" tIns="0" rIns="0" bIns="0" rtlCol="0" anchor="ctr"/>
          <a:lstStyle/>
          <a:p>
            <a:pPr indent="0" marL="0">
              <a:buNone/>
            </a:pPr>
            <a:r>
              <a:rPr lang="en-US" sz="1000" b="1" dirty="0">
                <a:solidFill>
                  <a:srgbClr val="00D9A5"/>
                </a:solidFill>
                <a:latin typeface="Calibri" pitchFamily="34" charset="0"/>
                <a:ea typeface="Calibri" pitchFamily="34" charset="-122"/>
                <a:cs typeface="Calibri" pitchFamily="34" charset="-120"/>
              </a:rPr>
              <a:t>⚠ Race between SIGCHLD and unregister ioctl</a:t>
            </a:r>
            <a:endParaRPr lang="en-US" sz="1000" dirty="0"/>
          </a:p>
        </p:txBody>
      </p:sp>
      <p:sp>
        <p:nvSpPr>
          <p:cNvPr id="21" name="Text 19"/>
          <p:cNvSpPr/>
          <p:nvPr/>
        </p:nvSpPr>
        <p:spPr>
          <a:xfrm>
            <a:off x="4663440" y="2432304"/>
            <a:ext cx="3822192" cy="594360"/>
          </a:xfrm>
          <a:prstGeom prst="rect">
            <a:avLst/>
          </a:prstGeom>
          <a:noFill/>
          <a:ln/>
        </p:spPr>
        <p:txBody>
          <a:bodyPr wrap="square" lIns="0" tIns="0" rIns="0" bIns="0" rtlCol="0" anchor="t"/>
          <a:lstStyle/>
          <a:p>
            <a:pPr indent="0" marL="0">
              <a:buNone/>
            </a:pPr>
            <a:r>
              <a:rPr lang="en-US" sz="950" dirty="0">
                <a:solidFill>
                  <a:srgbClr val="1B2A3B"/>
                </a:solidFill>
                <a:latin typeface="Calibri" pitchFamily="34" charset="0"/>
                <a:ea typeface="Calibri" pitchFamily="34" charset="-122"/>
                <a:cs typeface="Calibri" pitchFamily="34" charset="-120"/>
              </a:rPr>
              <a:t>→ Supervisor calls unregister_from_monitor() before waitpid(). Kernel module handles already-exited PIDs gracefully (get_rss_bytes returns -1, node auto-removed)</a:t>
            </a:r>
            <a:endParaRPr lang="en-US" sz="950" dirty="0"/>
          </a:p>
        </p:txBody>
      </p:sp>
      <p:sp>
        <p:nvSpPr>
          <p:cNvPr id="22" name="Shape 20"/>
          <p:cNvSpPr/>
          <p:nvPr/>
        </p:nvSpPr>
        <p:spPr>
          <a:xfrm>
            <a:off x="320040" y="3264408"/>
            <a:ext cx="4023360" cy="987552"/>
          </a:xfrm>
          <a:prstGeom prst="rect">
            <a:avLst/>
          </a:prstGeom>
          <a:solidFill>
            <a:srgbClr val="FFFFFF"/>
          </a:solidFill>
          <a:ln w="12700">
            <a:solidFill>
              <a:srgbClr val="D6E3EE"/>
            </a:solidFill>
            <a:prstDash val="solid"/>
          </a:ln>
        </p:spPr>
      </p:sp>
      <p:sp>
        <p:nvSpPr>
          <p:cNvPr id="23" name="Shape 21"/>
          <p:cNvSpPr/>
          <p:nvPr/>
        </p:nvSpPr>
        <p:spPr>
          <a:xfrm>
            <a:off x="320040" y="3264408"/>
            <a:ext cx="64008" cy="987552"/>
          </a:xfrm>
          <a:prstGeom prst="rect">
            <a:avLst/>
          </a:prstGeom>
          <a:solidFill>
            <a:srgbClr val="007A5E"/>
          </a:solidFill>
          <a:ln w="12700">
            <a:solidFill>
              <a:srgbClr val="007A5E"/>
            </a:solidFill>
            <a:prstDash val="solid"/>
          </a:ln>
        </p:spPr>
      </p:sp>
      <p:sp>
        <p:nvSpPr>
          <p:cNvPr id="24" name="Text 22"/>
          <p:cNvSpPr/>
          <p:nvPr/>
        </p:nvSpPr>
        <p:spPr>
          <a:xfrm>
            <a:off x="457200" y="3310128"/>
            <a:ext cx="3822192" cy="256032"/>
          </a:xfrm>
          <a:prstGeom prst="rect">
            <a:avLst/>
          </a:prstGeom>
          <a:noFill/>
          <a:ln/>
        </p:spPr>
        <p:txBody>
          <a:bodyPr wrap="square" lIns="0" tIns="0" rIns="0" bIns="0" rtlCol="0" anchor="ctr"/>
          <a:lstStyle/>
          <a:p>
            <a:pPr indent="0" marL="0">
              <a:buNone/>
            </a:pPr>
            <a:r>
              <a:rPr lang="en-US" sz="1000" b="1" dirty="0">
                <a:solidFill>
                  <a:srgbClr val="007A5E"/>
                </a:solidFill>
                <a:latin typeface="Calibri" pitchFamily="34" charset="0"/>
                <a:ea typeface="Calibri" pitchFamily="34" charset="-122"/>
                <a:cs typeface="Calibri" pitchFamily="34" charset="-120"/>
              </a:rPr>
              <a:t>⚠ class_create() API changed in kernel 6.4</a:t>
            </a:r>
            <a:endParaRPr lang="en-US" sz="1000" dirty="0"/>
          </a:p>
        </p:txBody>
      </p:sp>
      <p:sp>
        <p:nvSpPr>
          <p:cNvPr id="25" name="Text 23"/>
          <p:cNvSpPr/>
          <p:nvPr/>
        </p:nvSpPr>
        <p:spPr>
          <a:xfrm>
            <a:off x="457200" y="3584448"/>
            <a:ext cx="3822192" cy="594360"/>
          </a:xfrm>
          <a:prstGeom prst="rect">
            <a:avLst/>
          </a:prstGeom>
          <a:noFill/>
          <a:ln/>
        </p:spPr>
        <p:txBody>
          <a:bodyPr wrap="square" lIns="0" tIns="0" rIns="0" bIns="0" rtlCol="0" anchor="t"/>
          <a:lstStyle/>
          <a:p>
            <a:pPr indent="0" marL="0">
              <a:buNone/>
            </a:pPr>
            <a:r>
              <a:rPr lang="en-US" sz="950" dirty="0">
                <a:solidFill>
                  <a:srgbClr val="1B2A3B"/>
                </a:solidFill>
                <a:latin typeface="Calibri" pitchFamily="34" charset="0"/>
                <a:ea typeface="Calibri" pitchFamily="34" charset="-122"/>
                <a:cs typeface="Calibri" pitchFamily="34" charset="-120"/>
              </a:rPr>
              <a:t>→ Added #if LINUX_VERSION_CODE &gt;= KERNEL_VERSION(6,4,0) guard: older kernels pass THIS_MODULE, newer kernels omit it</a:t>
            </a:r>
            <a:endParaRPr lang="en-US" sz="950" dirty="0"/>
          </a:p>
        </p:txBody>
      </p:sp>
      <p:sp>
        <p:nvSpPr>
          <p:cNvPr id="26" name="Shape 24"/>
          <p:cNvSpPr/>
          <p:nvPr/>
        </p:nvSpPr>
        <p:spPr>
          <a:xfrm>
            <a:off x="4526280" y="3264408"/>
            <a:ext cx="4023360" cy="987552"/>
          </a:xfrm>
          <a:prstGeom prst="rect">
            <a:avLst/>
          </a:prstGeom>
          <a:solidFill>
            <a:srgbClr val="FFFFFF"/>
          </a:solidFill>
          <a:ln w="12700">
            <a:solidFill>
              <a:srgbClr val="D6E3EE"/>
            </a:solidFill>
            <a:prstDash val="solid"/>
          </a:ln>
        </p:spPr>
      </p:sp>
      <p:sp>
        <p:nvSpPr>
          <p:cNvPr id="27" name="Shape 25"/>
          <p:cNvSpPr/>
          <p:nvPr/>
        </p:nvSpPr>
        <p:spPr>
          <a:xfrm>
            <a:off x="4526280" y="3264408"/>
            <a:ext cx="64008" cy="987552"/>
          </a:xfrm>
          <a:prstGeom prst="rect">
            <a:avLst/>
          </a:prstGeom>
          <a:solidFill>
            <a:srgbClr val="E63946"/>
          </a:solidFill>
          <a:ln w="12700">
            <a:solidFill>
              <a:srgbClr val="E63946"/>
            </a:solidFill>
            <a:prstDash val="solid"/>
          </a:ln>
        </p:spPr>
      </p:sp>
      <p:sp>
        <p:nvSpPr>
          <p:cNvPr id="28" name="Text 26"/>
          <p:cNvSpPr/>
          <p:nvPr/>
        </p:nvSpPr>
        <p:spPr>
          <a:xfrm>
            <a:off x="4663440" y="3310128"/>
            <a:ext cx="3822192" cy="256032"/>
          </a:xfrm>
          <a:prstGeom prst="rect">
            <a:avLst/>
          </a:prstGeom>
          <a:noFill/>
          <a:ln/>
        </p:spPr>
        <p:txBody>
          <a:bodyPr wrap="square" lIns="0" tIns="0" rIns="0" bIns="0" rtlCol="0" anchor="ctr"/>
          <a:lstStyle/>
          <a:p>
            <a:pPr indent="0" marL="0">
              <a:buNone/>
            </a:pPr>
            <a:r>
              <a:rPr lang="en-US" sz="1000" b="1" dirty="0">
                <a:solidFill>
                  <a:srgbClr val="E63946"/>
                </a:solidFill>
                <a:latin typeface="Calibri" pitchFamily="34" charset="0"/>
                <a:ea typeface="Calibri" pitchFamily="34" charset="-122"/>
                <a:cs typeface="Calibri" pitchFamily="34" charset="-120"/>
              </a:rPr>
              <a:t>⚠ Pipe read vs bounded buffer shutdown deadlock</a:t>
            </a:r>
            <a:endParaRPr lang="en-US" sz="1000" dirty="0"/>
          </a:p>
        </p:txBody>
      </p:sp>
      <p:sp>
        <p:nvSpPr>
          <p:cNvPr id="29" name="Text 27"/>
          <p:cNvSpPr/>
          <p:nvPr/>
        </p:nvSpPr>
        <p:spPr>
          <a:xfrm>
            <a:off x="4663440" y="3584448"/>
            <a:ext cx="3822192" cy="594360"/>
          </a:xfrm>
          <a:prstGeom prst="rect">
            <a:avLst/>
          </a:prstGeom>
          <a:noFill/>
          <a:ln/>
        </p:spPr>
        <p:txBody>
          <a:bodyPr wrap="square" lIns="0" tIns="0" rIns="0" bIns="0" rtlCol="0" anchor="t"/>
          <a:lstStyle/>
          <a:p>
            <a:pPr indent="0" marL="0">
              <a:buNone/>
            </a:pPr>
            <a:r>
              <a:rPr lang="en-US" sz="950" dirty="0">
                <a:solidFill>
                  <a:srgbClr val="1B2A3B"/>
                </a:solidFill>
                <a:latin typeface="Calibri" pitchFamily="34" charset="0"/>
                <a:ea typeface="Calibri" pitchFamily="34" charset="-122"/>
                <a:cs typeface="Calibri" pitchFamily="34" charset="-120"/>
              </a:rPr>
              <a:t>→ bounded_buffer_begin_shutdown() broadcasts on both CVs. Producer and consumer both check shutting_down flag after every wait — both sides exit cleanly</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3B"/>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Demo Workflow: Step-by-Step Execution</a:t>
            </a:r>
            <a:endParaRPr lang="en-US" sz="2800" dirty="0"/>
          </a:p>
        </p:txBody>
      </p:sp>
      <p:sp>
        <p:nvSpPr>
          <p:cNvPr id="3" name="Shape 1"/>
          <p:cNvSpPr/>
          <p:nvPr/>
        </p:nvSpPr>
        <p:spPr>
          <a:xfrm>
            <a:off x="457200" y="841248"/>
            <a:ext cx="1097280" cy="201168"/>
          </a:xfrm>
          <a:prstGeom prst="rect">
            <a:avLst/>
          </a:prstGeom>
          <a:solidFill>
            <a:srgbClr val="00D9A5"/>
          </a:solidFill>
          <a:ln w="12700">
            <a:solidFill>
              <a:srgbClr val="00D9A5"/>
            </a:solidFill>
            <a:prstDash val="solid"/>
          </a:ln>
        </p:spPr>
      </p:sp>
      <p:sp>
        <p:nvSpPr>
          <p:cNvPr id="4" name="Text 2"/>
          <p:cNvSpPr/>
          <p:nvPr/>
        </p:nvSpPr>
        <p:spPr>
          <a:xfrm>
            <a:off x="457200" y="841248"/>
            <a:ext cx="1097280" cy="201168"/>
          </a:xfrm>
          <a:prstGeom prst="rect">
            <a:avLst/>
          </a:prstGeom>
          <a:noFill/>
          <a:ln/>
        </p:spPr>
        <p:txBody>
          <a:bodyPr wrap="square" lIns="0" tIns="0" rIns="0" bIns="0" rtlCol="0" anchor="ctr"/>
          <a:lstStyle/>
          <a:p>
            <a:pPr algn="ctr" indent="0" marL="0">
              <a:buNone/>
            </a:pPr>
            <a:r>
              <a:rPr lang="en-US" sz="800" b="1" dirty="0">
                <a:solidFill>
                  <a:srgbClr val="0D1B2A"/>
                </a:solidFill>
                <a:latin typeface="Calibri" pitchFamily="34" charset="0"/>
                <a:ea typeface="Calibri" pitchFamily="34" charset="-122"/>
                <a:cs typeface="Calibri" pitchFamily="34" charset="-120"/>
              </a:rPr>
              <a:t>DEMO</a:t>
            </a:r>
            <a:endParaRPr lang="en-US" sz="800" dirty="0"/>
          </a:p>
        </p:txBody>
      </p:sp>
      <p:sp>
        <p:nvSpPr>
          <p:cNvPr id="5" name="Shape 3"/>
          <p:cNvSpPr/>
          <p:nvPr/>
        </p:nvSpPr>
        <p:spPr>
          <a:xfrm>
            <a:off x="457200" y="777240"/>
            <a:ext cx="8229600" cy="22860"/>
          </a:xfrm>
          <a:prstGeom prst="rect">
            <a:avLst/>
          </a:prstGeom>
          <a:solidFill>
            <a:srgbClr val="00D9A5"/>
          </a:solidFill>
          <a:ln w="12700">
            <a:solidFill>
              <a:srgbClr val="00D9A5"/>
            </a:solidFill>
            <a:prstDash val="solid"/>
          </a:ln>
        </p:spPr>
      </p:sp>
      <p:sp>
        <p:nvSpPr>
          <p:cNvPr id="6" name="Shape 4"/>
          <p:cNvSpPr/>
          <p:nvPr/>
        </p:nvSpPr>
        <p:spPr>
          <a:xfrm>
            <a:off x="320040" y="960120"/>
            <a:ext cx="4114800" cy="1280160"/>
          </a:xfrm>
          <a:prstGeom prst="rect">
            <a:avLst/>
          </a:prstGeom>
          <a:solidFill>
            <a:srgbClr val="162534"/>
          </a:solidFill>
          <a:ln w="12700">
            <a:solidFill>
              <a:srgbClr val="0E9AA7"/>
            </a:solidFill>
            <a:prstDash val="solid"/>
          </a:ln>
        </p:spPr>
      </p:sp>
      <p:sp>
        <p:nvSpPr>
          <p:cNvPr id="7" name="Shape 5"/>
          <p:cNvSpPr/>
          <p:nvPr/>
        </p:nvSpPr>
        <p:spPr>
          <a:xfrm>
            <a:off x="411480" y="1051560"/>
            <a:ext cx="365760" cy="365760"/>
          </a:xfrm>
          <a:prstGeom prst="ellipse">
            <a:avLst/>
          </a:prstGeom>
          <a:solidFill>
            <a:srgbClr val="0E9AA7"/>
          </a:solidFill>
          <a:ln w="12700">
            <a:solidFill>
              <a:srgbClr val="0E9AA7"/>
            </a:solidFill>
            <a:prstDash val="solid"/>
          </a:ln>
        </p:spPr>
      </p:sp>
      <p:sp>
        <p:nvSpPr>
          <p:cNvPr id="8" name="Text 6"/>
          <p:cNvSpPr/>
          <p:nvPr/>
        </p:nvSpPr>
        <p:spPr>
          <a:xfrm>
            <a:off x="411480" y="1051560"/>
            <a:ext cx="365760" cy="365760"/>
          </a:xfrm>
          <a:prstGeom prst="rect">
            <a:avLst/>
          </a:prstGeom>
          <a:noFill/>
          <a:ln/>
        </p:spPr>
        <p:txBody>
          <a:bodyPr wrap="square"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868680" y="1051560"/>
            <a:ext cx="3456432" cy="256032"/>
          </a:xfrm>
          <a:prstGeom prst="rect">
            <a:avLst/>
          </a:prstGeom>
          <a:noFill/>
          <a:ln/>
        </p:spPr>
        <p:txBody>
          <a:bodyPr wrap="square" lIns="0" tIns="0" rIns="0" bIns="0" rtlCol="0" anchor="ctr"/>
          <a:lstStyle/>
          <a:p>
            <a:pPr indent="0" marL="0">
              <a:buNone/>
            </a:pPr>
            <a:r>
              <a:rPr lang="en-US" sz="1050" b="1" dirty="0">
                <a:solidFill>
                  <a:srgbClr val="0E9AA7"/>
                </a:solidFill>
                <a:latin typeface="Calibri" pitchFamily="34" charset="0"/>
                <a:ea typeface="Calibri" pitchFamily="34" charset="-122"/>
                <a:cs typeface="Calibri" pitchFamily="34" charset="-120"/>
              </a:rPr>
              <a:t>Environment Check &amp; Build</a:t>
            </a:r>
            <a:endParaRPr lang="en-US" sz="1050" dirty="0"/>
          </a:p>
        </p:txBody>
      </p:sp>
      <p:sp>
        <p:nvSpPr>
          <p:cNvPr id="10" name="Text 8"/>
          <p:cNvSpPr/>
          <p:nvPr/>
        </p:nvSpPr>
        <p:spPr>
          <a:xfrm>
            <a:off x="429768" y="1371600"/>
            <a:ext cx="3913632" cy="530352"/>
          </a:xfrm>
          <a:prstGeom prst="rect">
            <a:avLst/>
          </a:prstGeom>
          <a:noFill/>
          <a:ln/>
        </p:spPr>
        <p:txBody>
          <a:bodyPr wrap="square" lIns="0" tIns="0" rIns="0" bIns="0" rtlCol="0" anchor="ctr"/>
          <a:lstStyle/>
          <a:p>
            <a:pPr indent="0" marL="0">
              <a:buNone/>
            </a:pPr>
            <a:r>
              <a:rPr lang="en-US" sz="850" dirty="0">
                <a:solidFill>
                  <a:srgbClr val="00D9A5"/>
                </a:solidFill>
                <a:latin typeface="Consolas" pitchFamily="34" charset="0"/>
                <a:ea typeface="Consolas" pitchFamily="34" charset="-122"/>
                <a:cs typeface="Consolas" pitchFamily="34" charset="-120"/>
              </a:rPr>
              <a:t>sudo ./environment-check.sh --build-only</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make all</a:t>
            </a:r>
            <a:endParaRPr lang="en-US" sz="850" dirty="0"/>
          </a:p>
        </p:txBody>
      </p:sp>
      <p:sp>
        <p:nvSpPr>
          <p:cNvPr id="11" name="Text 9"/>
          <p:cNvSpPr/>
          <p:nvPr/>
        </p:nvSpPr>
        <p:spPr>
          <a:xfrm>
            <a:off x="429768" y="1984248"/>
            <a:ext cx="3913632" cy="219456"/>
          </a:xfrm>
          <a:prstGeom prst="rect">
            <a:avLst/>
          </a:prstGeom>
          <a:noFill/>
          <a:ln/>
        </p:spPr>
        <p:txBody>
          <a:bodyPr wrap="square" lIns="0" tIns="0" rIns="0" bIns="0" rtlCol="0" anchor="ctr"/>
          <a:lstStyle/>
          <a:p>
            <a:pPr indent="0" marL="0">
              <a:buNone/>
            </a:pPr>
            <a:r>
              <a:rPr lang="en-US" sz="800" i="1" dirty="0">
                <a:solidFill>
                  <a:srgbClr val="8FA3B1"/>
                </a:solidFill>
                <a:latin typeface="Calibri" pitchFamily="34" charset="0"/>
                <a:ea typeface="Calibri" pitchFamily="34" charset="-122"/>
                <a:cs typeface="Calibri" pitchFamily="34" charset="-120"/>
              </a:rPr>
              <a:t>Verifies Ubuntu 22/24, kernel headers, builds engine + module</a:t>
            </a:r>
            <a:endParaRPr lang="en-US" sz="800" dirty="0"/>
          </a:p>
        </p:txBody>
      </p:sp>
      <p:sp>
        <p:nvSpPr>
          <p:cNvPr id="12" name="Shape 10"/>
          <p:cNvSpPr/>
          <p:nvPr/>
        </p:nvSpPr>
        <p:spPr>
          <a:xfrm>
            <a:off x="4617720" y="960120"/>
            <a:ext cx="4114800" cy="1280160"/>
          </a:xfrm>
          <a:prstGeom prst="rect">
            <a:avLst/>
          </a:prstGeom>
          <a:solidFill>
            <a:srgbClr val="162534"/>
          </a:solidFill>
          <a:ln w="12700">
            <a:solidFill>
              <a:srgbClr val="F5A623"/>
            </a:solidFill>
            <a:prstDash val="solid"/>
          </a:ln>
        </p:spPr>
      </p:sp>
      <p:sp>
        <p:nvSpPr>
          <p:cNvPr id="13" name="Shape 11"/>
          <p:cNvSpPr/>
          <p:nvPr/>
        </p:nvSpPr>
        <p:spPr>
          <a:xfrm>
            <a:off x="4709160" y="1051560"/>
            <a:ext cx="365760" cy="365760"/>
          </a:xfrm>
          <a:prstGeom prst="ellipse">
            <a:avLst/>
          </a:prstGeom>
          <a:solidFill>
            <a:srgbClr val="F5A623"/>
          </a:solidFill>
          <a:ln w="12700">
            <a:solidFill>
              <a:srgbClr val="F5A623"/>
            </a:solidFill>
            <a:prstDash val="solid"/>
          </a:ln>
        </p:spPr>
      </p:sp>
      <p:sp>
        <p:nvSpPr>
          <p:cNvPr id="14" name="Text 12"/>
          <p:cNvSpPr/>
          <p:nvPr/>
        </p:nvSpPr>
        <p:spPr>
          <a:xfrm>
            <a:off x="4709160" y="1051560"/>
            <a:ext cx="365760" cy="365760"/>
          </a:xfrm>
          <a:prstGeom prst="rect">
            <a:avLst/>
          </a:prstGeom>
          <a:noFill/>
          <a:ln/>
        </p:spPr>
        <p:txBody>
          <a:bodyPr wrap="square"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5166360" y="1051560"/>
            <a:ext cx="3456432" cy="256032"/>
          </a:xfrm>
          <a:prstGeom prst="rect">
            <a:avLst/>
          </a:prstGeom>
          <a:noFill/>
          <a:ln/>
        </p:spPr>
        <p:txBody>
          <a:bodyPr wrap="square" lIns="0" tIns="0" rIns="0" bIns="0" rtlCol="0" anchor="ctr"/>
          <a:lstStyle/>
          <a:p>
            <a:pPr indent="0" marL="0">
              <a:buNone/>
            </a:pPr>
            <a:r>
              <a:rPr lang="en-US" sz="1050" b="1" dirty="0">
                <a:solidFill>
                  <a:srgbClr val="F5A623"/>
                </a:solidFill>
                <a:latin typeface="Calibri" pitchFamily="34" charset="0"/>
                <a:ea typeface="Calibri" pitchFamily="34" charset="-122"/>
                <a:cs typeface="Calibri" pitchFamily="34" charset="-120"/>
              </a:rPr>
              <a:t>Load Kernel Module</a:t>
            </a:r>
            <a:endParaRPr lang="en-US" sz="1050" dirty="0"/>
          </a:p>
        </p:txBody>
      </p:sp>
      <p:sp>
        <p:nvSpPr>
          <p:cNvPr id="16" name="Text 14"/>
          <p:cNvSpPr/>
          <p:nvPr/>
        </p:nvSpPr>
        <p:spPr>
          <a:xfrm>
            <a:off x="4727448" y="1371600"/>
            <a:ext cx="3913632" cy="530352"/>
          </a:xfrm>
          <a:prstGeom prst="rect">
            <a:avLst/>
          </a:prstGeom>
          <a:noFill/>
          <a:ln/>
        </p:spPr>
        <p:txBody>
          <a:bodyPr wrap="square" lIns="0" tIns="0" rIns="0" bIns="0" rtlCol="0" anchor="ctr"/>
          <a:lstStyle/>
          <a:p>
            <a:pPr indent="0" marL="0">
              <a:buNone/>
            </a:pPr>
            <a:r>
              <a:rPr lang="en-US" sz="850" dirty="0">
                <a:solidFill>
                  <a:srgbClr val="00D9A5"/>
                </a:solidFill>
                <a:latin typeface="Consolas" pitchFamily="34" charset="0"/>
                <a:ea typeface="Consolas" pitchFamily="34" charset="-122"/>
                <a:cs typeface="Consolas" pitchFamily="34" charset="-120"/>
              </a:rPr>
              <a:t>sudo insmod ./monitor.ko</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ls /dev/container_monitor</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dmesg | tail -3</a:t>
            </a:r>
            <a:endParaRPr lang="en-US" sz="850" dirty="0"/>
          </a:p>
        </p:txBody>
      </p:sp>
      <p:sp>
        <p:nvSpPr>
          <p:cNvPr id="17" name="Text 15"/>
          <p:cNvSpPr/>
          <p:nvPr/>
        </p:nvSpPr>
        <p:spPr>
          <a:xfrm>
            <a:off x="4727448" y="1984248"/>
            <a:ext cx="3913632" cy="219456"/>
          </a:xfrm>
          <a:prstGeom prst="rect">
            <a:avLst/>
          </a:prstGeom>
          <a:noFill/>
          <a:ln/>
        </p:spPr>
        <p:txBody>
          <a:bodyPr wrap="square" lIns="0" tIns="0" rIns="0" bIns="0" rtlCol="0" anchor="ctr"/>
          <a:lstStyle/>
          <a:p>
            <a:pPr indent="0" marL="0">
              <a:buNone/>
            </a:pPr>
            <a:r>
              <a:rPr lang="en-US" sz="800" i="1" dirty="0">
                <a:solidFill>
                  <a:srgbClr val="8FA3B1"/>
                </a:solidFill>
                <a:latin typeface="Calibri" pitchFamily="34" charset="0"/>
                <a:ea typeface="Calibri" pitchFamily="34" charset="-122"/>
                <a:cs typeface="Calibri" pitchFamily="34" charset="-120"/>
              </a:rPr>
              <a:t>Creates /dev/container_monitor device</a:t>
            </a:r>
            <a:endParaRPr lang="en-US" sz="800" dirty="0"/>
          </a:p>
        </p:txBody>
      </p:sp>
      <p:sp>
        <p:nvSpPr>
          <p:cNvPr id="18" name="Shape 16"/>
          <p:cNvSpPr/>
          <p:nvPr/>
        </p:nvSpPr>
        <p:spPr>
          <a:xfrm>
            <a:off x="320040" y="2404872"/>
            <a:ext cx="4114800" cy="1280160"/>
          </a:xfrm>
          <a:prstGeom prst="rect">
            <a:avLst/>
          </a:prstGeom>
          <a:solidFill>
            <a:srgbClr val="162534"/>
          </a:solidFill>
          <a:ln w="12700">
            <a:solidFill>
              <a:srgbClr val="00D9A5"/>
            </a:solidFill>
            <a:prstDash val="solid"/>
          </a:ln>
        </p:spPr>
      </p:sp>
      <p:sp>
        <p:nvSpPr>
          <p:cNvPr id="19" name="Shape 17"/>
          <p:cNvSpPr/>
          <p:nvPr/>
        </p:nvSpPr>
        <p:spPr>
          <a:xfrm>
            <a:off x="411480" y="2496312"/>
            <a:ext cx="365760" cy="365760"/>
          </a:xfrm>
          <a:prstGeom prst="ellipse">
            <a:avLst/>
          </a:prstGeom>
          <a:solidFill>
            <a:srgbClr val="00D9A5"/>
          </a:solidFill>
          <a:ln w="12700">
            <a:solidFill>
              <a:srgbClr val="00D9A5"/>
            </a:solidFill>
            <a:prstDash val="solid"/>
          </a:ln>
        </p:spPr>
      </p:sp>
      <p:sp>
        <p:nvSpPr>
          <p:cNvPr id="20" name="Text 18"/>
          <p:cNvSpPr/>
          <p:nvPr/>
        </p:nvSpPr>
        <p:spPr>
          <a:xfrm>
            <a:off x="411480" y="2496312"/>
            <a:ext cx="365760" cy="365760"/>
          </a:xfrm>
          <a:prstGeom prst="rect">
            <a:avLst/>
          </a:prstGeom>
          <a:noFill/>
          <a:ln/>
        </p:spPr>
        <p:txBody>
          <a:bodyPr wrap="square"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868680" y="2496312"/>
            <a:ext cx="3456432" cy="256032"/>
          </a:xfrm>
          <a:prstGeom prst="rect">
            <a:avLst/>
          </a:prstGeom>
          <a:noFill/>
          <a:ln/>
        </p:spPr>
        <p:txBody>
          <a:bodyPr wrap="square" lIns="0" tIns="0" rIns="0" bIns="0" rtlCol="0" anchor="ctr"/>
          <a:lstStyle/>
          <a:p>
            <a:pPr indent="0" marL="0">
              <a:buNone/>
            </a:pPr>
            <a:r>
              <a:rPr lang="en-US" sz="1050" b="1" dirty="0">
                <a:solidFill>
                  <a:srgbClr val="00D9A5"/>
                </a:solidFill>
                <a:latin typeface="Calibri" pitchFamily="34" charset="0"/>
                <a:ea typeface="Calibri" pitchFamily="34" charset="-122"/>
                <a:cs typeface="Calibri" pitchFamily="34" charset="-120"/>
              </a:rPr>
              <a:t>Start Supervisor</a:t>
            </a:r>
            <a:endParaRPr lang="en-US" sz="1050" dirty="0"/>
          </a:p>
        </p:txBody>
      </p:sp>
      <p:sp>
        <p:nvSpPr>
          <p:cNvPr id="22" name="Text 20"/>
          <p:cNvSpPr/>
          <p:nvPr/>
        </p:nvSpPr>
        <p:spPr>
          <a:xfrm>
            <a:off x="429768" y="2816352"/>
            <a:ext cx="3913632" cy="530352"/>
          </a:xfrm>
          <a:prstGeom prst="rect">
            <a:avLst/>
          </a:prstGeom>
          <a:noFill/>
          <a:ln/>
        </p:spPr>
        <p:txBody>
          <a:bodyPr wrap="square" lIns="0" tIns="0" rIns="0" bIns="0" rtlCol="0" anchor="ctr"/>
          <a:lstStyle/>
          <a:p>
            <a:pPr indent="0" marL="0">
              <a:buNone/>
            </a:pPr>
            <a:r>
              <a:rPr lang="en-US" sz="850" dirty="0">
                <a:solidFill>
                  <a:srgbClr val="00D9A5"/>
                </a:solidFill>
                <a:latin typeface="Consolas" pitchFamily="34" charset="0"/>
                <a:ea typeface="Consolas" pitchFamily="34" charset="-122"/>
                <a:cs typeface="Consolas" pitchFamily="34" charset="-120"/>
              </a:rPr>
              <a:t>sudo ./engine supervisor ./rootfs &amp;</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 Long-running daemon</a:t>
            </a:r>
            <a:endParaRPr lang="en-US" sz="850" dirty="0"/>
          </a:p>
        </p:txBody>
      </p:sp>
      <p:sp>
        <p:nvSpPr>
          <p:cNvPr id="23" name="Text 21"/>
          <p:cNvSpPr/>
          <p:nvPr/>
        </p:nvSpPr>
        <p:spPr>
          <a:xfrm>
            <a:off x="429768" y="3429000"/>
            <a:ext cx="3913632" cy="219456"/>
          </a:xfrm>
          <a:prstGeom prst="rect">
            <a:avLst/>
          </a:prstGeom>
          <a:noFill/>
          <a:ln/>
        </p:spPr>
        <p:txBody>
          <a:bodyPr wrap="square" lIns="0" tIns="0" rIns="0" bIns="0" rtlCol="0" anchor="ctr"/>
          <a:lstStyle/>
          <a:p>
            <a:pPr indent="0" marL="0">
              <a:buNone/>
            </a:pPr>
            <a:r>
              <a:rPr lang="en-US" sz="800" i="1" dirty="0">
                <a:solidFill>
                  <a:srgbClr val="8FA3B1"/>
                </a:solidFill>
                <a:latin typeface="Calibri" pitchFamily="34" charset="0"/>
                <a:ea typeface="Calibri" pitchFamily="34" charset="-122"/>
                <a:cs typeface="Calibri" pitchFamily="34" charset="-120"/>
              </a:rPr>
              <a:t>Opens /dev/container_monitor, starts UNIX socket</a:t>
            </a:r>
            <a:endParaRPr lang="en-US" sz="800" dirty="0"/>
          </a:p>
        </p:txBody>
      </p:sp>
      <p:sp>
        <p:nvSpPr>
          <p:cNvPr id="24" name="Shape 22"/>
          <p:cNvSpPr/>
          <p:nvPr/>
        </p:nvSpPr>
        <p:spPr>
          <a:xfrm>
            <a:off x="4617720" y="2404872"/>
            <a:ext cx="4114800" cy="1280160"/>
          </a:xfrm>
          <a:prstGeom prst="rect">
            <a:avLst/>
          </a:prstGeom>
          <a:solidFill>
            <a:srgbClr val="162534"/>
          </a:solidFill>
          <a:ln w="12700">
            <a:solidFill>
              <a:srgbClr val="0E9AA7"/>
            </a:solidFill>
            <a:prstDash val="solid"/>
          </a:ln>
        </p:spPr>
      </p:sp>
      <p:sp>
        <p:nvSpPr>
          <p:cNvPr id="25" name="Shape 23"/>
          <p:cNvSpPr/>
          <p:nvPr/>
        </p:nvSpPr>
        <p:spPr>
          <a:xfrm>
            <a:off x="4709160" y="2496312"/>
            <a:ext cx="365760" cy="365760"/>
          </a:xfrm>
          <a:prstGeom prst="ellipse">
            <a:avLst/>
          </a:prstGeom>
          <a:solidFill>
            <a:srgbClr val="0E9AA7"/>
          </a:solidFill>
          <a:ln w="12700">
            <a:solidFill>
              <a:srgbClr val="0E9AA7"/>
            </a:solidFill>
            <a:prstDash val="solid"/>
          </a:ln>
        </p:spPr>
      </p:sp>
      <p:sp>
        <p:nvSpPr>
          <p:cNvPr id="26" name="Text 24"/>
          <p:cNvSpPr/>
          <p:nvPr/>
        </p:nvSpPr>
        <p:spPr>
          <a:xfrm>
            <a:off x="4709160" y="2496312"/>
            <a:ext cx="365760" cy="365760"/>
          </a:xfrm>
          <a:prstGeom prst="rect">
            <a:avLst/>
          </a:prstGeom>
          <a:noFill/>
          <a:ln/>
        </p:spPr>
        <p:txBody>
          <a:bodyPr wrap="square"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4</a:t>
            </a:r>
            <a:endParaRPr lang="en-US" sz="1100" dirty="0"/>
          </a:p>
        </p:txBody>
      </p:sp>
      <p:sp>
        <p:nvSpPr>
          <p:cNvPr id="27" name="Text 25"/>
          <p:cNvSpPr/>
          <p:nvPr/>
        </p:nvSpPr>
        <p:spPr>
          <a:xfrm>
            <a:off x="5166360" y="2496312"/>
            <a:ext cx="3456432" cy="256032"/>
          </a:xfrm>
          <a:prstGeom prst="rect">
            <a:avLst/>
          </a:prstGeom>
          <a:noFill/>
          <a:ln/>
        </p:spPr>
        <p:txBody>
          <a:bodyPr wrap="square" lIns="0" tIns="0" rIns="0" bIns="0" rtlCol="0" anchor="ctr"/>
          <a:lstStyle/>
          <a:p>
            <a:pPr indent="0" marL="0">
              <a:buNone/>
            </a:pPr>
            <a:r>
              <a:rPr lang="en-US" sz="1050" b="1" dirty="0">
                <a:solidFill>
                  <a:srgbClr val="0E9AA7"/>
                </a:solidFill>
                <a:latin typeface="Calibri" pitchFamily="34" charset="0"/>
                <a:ea typeface="Calibri" pitchFamily="34" charset="-122"/>
                <a:cs typeface="Calibri" pitchFamily="34" charset="-120"/>
              </a:rPr>
              <a:t>Launch Containers</a:t>
            </a:r>
            <a:endParaRPr lang="en-US" sz="1050" dirty="0"/>
          </a:p>
        </p:txBody>
      </p:sp>
      <p:sp>
        <p:nvSpPr>
          <p:cNvPr id="28" name="Text 26"/>
          <p:cNvSpPr/>
          <p:nvPr/>
        </p:nvSpPr>
        <p:spPr>
          <a:xfrm>
            <a:off x="4727448" y="2816352"/>
            <a:ext cx="3913632" cy="530352"/>
          </a:xfrm>
          <a:prstGeom prst="rect">
            <a:avLst/>
          </a:prstGeom>
          <a:noFill/>
          <a:ln/>
        </p:spPr>
        <p:txBody>
          <a:bodyPr wrap="square" lIns="0" tIns="0" rIns="0" bIns="0" rtlCol="0" anchor="ctr"/>
          <a:lstStyle/>
          <a:p>
            <a:pPr indent="0" marL="0">
              <a:buNone/>
            </a:pPr>
            <a:r>
              <a:rPr lang="en-US" sz="850" dirty="0">
                <a:solidFill>
                  <a:srgbClr val="00D9A5"/>
                </a:solidFill>
                <a:latin typeface="Consolas" pitchFamily="34" charset="0"/>
                <a:ea typeface="Consolas" pitchFamily="34" charset="-122"/>
                <a:cs typeface="Consolas" pitchFamily="34" charset="-120"/>
              </a:rPr>
              <a:t>sudo ./engine start c1 ./rootfs /memory_hog --hard-mib 32</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sudo ./engine start c2 ./rootfs /cpu_hog 10 --nice -5</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sudo ./engine ps</a:t>
            </a:r>
            <a:endParaRPr lang="en-US" sz="850" dirty="0"/>
          </a:p>
        </p:txBody>
      </p:sp>
      <p:sp>
        <p:nvSpPr>
          <p:cNvPr id="29" name="Text 27"/>
          <p:cNvSpPr/>
          <p:nvPr/>
        </p:nvSpPr>
        <p:spPr>
          <a:xfrm>
            <a:off x="4727448" y="3429000"/>
            <a:ext cx="3913632" cy="219456"/>
          </a:xfrm>
          <a:prstGeom prst="rect">
            <a:avLst/>
          </a:prstGeom>
          <a:noFill/>
          <a:ln/>
        </p:spPr>
        <p:txBody>
          <a:bodyPr wrap="square" lIns="0" tIns="0" rIns="0" bIns="0" rtlCol="0" anchor="ctr"/>
          <a:lstStyle/>
          <a:p>
            <a:pPr indent="0" marL="0">
              <a:buNone/>
            </a:pPr>
            <a:r>
              <a:rPr lang="en-US" sz="800" i="1" dirty="0">
                <a:solidFill>
                  <a:srgbClr val="8FA3B1"/>
                </a:solidFill>
                <a:latin typeface="Calibri" pitchFamily="34" charset="0"/>
                <a:ea typeface="Calibri" pitchFamily="34" charset="-122"/>
                <a:cs typeface="Calibri" pitchFamily="34" charset="-120"/>
              </a:rPr>
              <a:t>Registers PIDs with monitor.ko via ioctl</a:t>
            </a:r>
            <a:endParaRPr lang="en-US" sz="800" dirty="0"/>
          </a:p>
        </p:txBody>
      </p:sp>
      <p:sp>
        <p:nvSpPr>
          <p:cNvPr id="30" name="Shape 28"/>
          <p:cNvSpPr/>
          <p:nvPr/>
        </p:nvSpPr>
        <p:spPr>
          <a:xfrm>
            <a:off x="320040" y="3849624"/>
            <a:ext cx="4114800" cy="1280160"/>
          </a:xfrm>
          <a:prstGeom prst="rect">
            <a:avLst/>
          </a:prstGeom>
          <a:solidFill>
            <a:srgbClr val="162534"/>
          </a:solidFill>
          <a:ln w="12700">
            <a:solidFill>
              <a:srgbClr val="E63946"/>
            </a:solidFill>
            <a:prstDash val="solid"/>
          </a:ln>
        </p:spPr>
      </p:sp>
      <p:sp>
        <p:nvSpPr>
          <p:cNvPr id="31" name="Shape 29"/>
          <p:cNvSpPr/>
          <p:nvPr/>
        </p:nvSpPr>
        <p:spPr>
          <a:xfrm>
            <a:off x="411480" y="3941064"/>
            <a:ext cx="365760" cy="365760"/>
          </a:xfrm>
          <a:prstGeom prst="ellipse">
            <a:avLst/>
          </a:prstGeom>
          <a:solidFill>
            <a:srgbClr val="E63946"/>
          </a:solidFill>
          <a:ln w="12700">
            <a:solidFill>
              <a:srgbClr val="E63946"/>
            </a:solidFill>
            <a:prstDash val="solid"/>
          </a:ln>
        </p:spPr>
      </p:sp>
      <p:sp>
        <p:nvSpPr>
          <p:cNvPr id="32" name="Text 30"/>
          <p:cNvSpPr/>
          <p:nvPr/>
        </p:nvSpPr>
        <p:spPr>
          <a:xfrm>
            <a:off x="411480" y="3941064"/>
            <a:ext cx="365760" cy="365760"/>
          </a:xfrm>
          <a:prstGeom prst="rect">
            <a:avLst/>
          </a:prstGeom>
          <a:noFill/>
          <a:ln/>
        </p:spPr>
        <p:txBody>
          <a:bodyPr wrap="square"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5</a:t>
            </a:r>
            <a:endParaRPr lang="en-US" sz="1100" dirty="0"/>
          </a:p>
        </p:txBody>
      </p:sp>
      <p:sp>
        <p:nvSpPr>
          <p:cNvPr id="33" name="Text 31"/>
          <p:cNvSpPr/>
          <p:nvPr/>
        </p:nvSpPr>
        <p:spPr>
          <a:xfrm>
            <a:off x="868680" y="3941064"/>
            <a:ext cx="3456432" cy="256032"/>
          </a:xfrm>
          <a:prstGeom prst="rect">
            <a:avLst/>
          </a:prstGeom>
          <a:noFill/>
          <a:ln/>
        </p:spPr>
        <p:txBody>
          <a:bodyPr wrap="square" lIns="0" tIns="0" rIns="0" bIns="0" rtlCol="0" anchor="ctr"/>
          <a:lstStyle/>
          <a:p>
            <a:pPr indent="0" marL="0">
              <a:buNone/>
            </a:pPr>
            <a:r>
              <a:rPr lang="en-US" sz="1050" b="1" dirty="0">
                <a:solidFill>
                  <a:srgbClr val="E63946"/>
                </a:solidFill>
                <a:latin typeface="Calibri" pitchFamily="34" charset="0"/>
                <a:ea typeface="Calibri" pitchFamily="34" charset="-122"/>
                <a:cs typeface="Calibri" pitchFamily="34" charset="-120"/>
              </a:rPr>
              <a:t>Observe &amp; Verify</a:t>
            </a:r>
            <a:endParaRPr lang="en-US" sz="1050" dirty="0"/>
          </a:p>
        </p:txBody>
      </p:sp>
      <p:sp>
        <p:nvSpPr>
          <p:cNvPr id="34" name="Text 32"/>
          <p:cNvSpPr/>
          <p:nvPr/>
        </p:nvSpPr>
        <p:spPr>
          <a:xfrm>
            <a:off x="429768" y="4261104"/>
            <a:ext cx="3913632" cy="530352"/>
          </a:xfrm>
          <a:prstGeom prst="rect">
            <a:avLst/>
          </a:prstGeom>
          <a:noFill/>
          <a:ln/>
        </p:spPr>
        <p:txBody>
          <a:bodyPr wrap="square" lIns="0" tIns="0" rIns="0" bIns="0" rtlCol="0" anchor="ctr"/>
          <a:lstStyle/>
          <a:p>
            <a:pPr indent="0" marL="0">
              <a:buNone/>
            </a:pPr>
            <a:r>
              <a:rPr lang="en-US" sz="850" dirty="0">
                <a:solidFill>
                  <a:srgbClr val="00D9A5"/>
                </a:solidFill>
                <a:latin typeface="Consolas" pitchFamily="34" charset="0"/>
                <a:ea typeface="Consolas" pitchFamily="34" charset="-122"/>
                <a:cs typeface="Consolas" pitchFamily="34" charset="-120"/>
              </a:rPr>
              <a:t>sudo ./engine logs c1</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dmesg | grep container_monitor</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sudo ./engine ps</a:t>
            </a:r>
            <a:endParaRPr lang="en-US" sz="850" dirty="0"/>
          </a:p>
        </p:txBody>
      </p:sp>
      <p:sp>
        <p:nvSpPr>
          <p:cNvPr id="35" name="Text 33"/>
          <p:cNvSpPr/>
          <p:nvPr/>
        </p:nvSpPr>
        <p:spPr>
          <a:xfrm>
            <a:off x="429768" y="4873752"/>
            <a:ext cx="3913632" cy="219456"/>
          </a:xfrm>
          <a:prstGeom prst="rect">
            <a:avLst/>
          </a:prstGeom>
          <a:noFill/>
          <a:ln/>
        </p:spPr>
        <p:txBody>
          <a:bodyPr wrap="square" lIns="0" tIns="0" rIns="0" bIns="0" rtlCol="0" anchor="ctr"/>
          <a:lstStyle/>
          <a:p>
            <a:pPr indent="0" marL="0">
              <a:buNone/>
            </a:pPr>
            <a:r>
              <a:rPr lang="en-US" sz="800" i="1" dirty="0">
                <a:solidFill>
                  <a:srgbClr val="8FA3B1"/>
                </a:solidFill>
                <a:latin typeface="Calibri" pitchFamily="34" charset="0"/>
                <a:ea typeface="Calibri" pitchFamily="34" charset="-122"/>
                <a:cs typeface="Calibri" pitchFamily="34" charset="-120"/>
              </a:rPr>
              <a:t>Watch SOFT/HARD LIMIT in dmesg; c1 killed at 32 MiB</a:t>
            </a:r>
            <a:endParaRPr lang="en-US" sz="800" dirty="0"/>
          </a:p>
        </p:txBody>
      </p:sp>
      <p:sp>
        <p:nvSpPr>
          <p:cNvPr id="36" name="Shape 34"/>
          <p:cNvSpPr/>
          <p:nvPr/>
        </p:nvSpPr>
        <p:spPr>
          <a:xfrm>
            <a:off x="4617720" y="3849624"/>
            <a:ext cx="4114800" cy="1280160"/>
          </a:xfrm>
          <a:prstGeom prst="rect">
            <a:avLst/>
          </a:prstGeom>
          <a:solidFill>
            <a:srgbClr val="162534"/>
          </a:solidFill>
          <a:ln w="12700">
            <a:solidFill>
              <a:srgbClr val="8FA3B1"/>
            </a:solidFill>
            <a:prstDash val="solid"/>
          </a:ln>
        </p:spPr>
      </p:sp>
      <p:sp>
        <p:nvSpPr>
          <p:cNvPr id="37" name="Shape 35"/>
          <p:cNvSpPr/>
          <p:nvPr/>
        </p:nvSpPr>
        <p:spPr>
          <a:xfrm>
            <a:off x="4709160" y="3941064"/>
            <a:ext cx="365760" cy="365760"/>
          </a:xfrm>
          <a:prstGeom prst="ellipse">
            <a:avLst/>
          </a:prstGeom>
          <a:solidFill>
            <a:srgbClr val="8FA3B1"/>
          </a:solidFill>
          <a:ln w="12700">
            <a:solidFill>
              <a:srgbClr val="8FA3B1"/>
            </a:solidFill>
            <a:prstDash val="solid"/>
          </a:ln>
        </p:spPr>
      </p:sp>
      <p:sp>
        <p:nvSpPr>
          <p:cNvPr id="38" name="Text 36"/>
          <p:cNvSpPr/>
          <p:nvPr/>
        </p:nvSpPr>
        <p:spPr>
          <a:xfrm>
            <a:off x="4709160" y="3941064"/>
            <a:ext cx="365760" cy="365760"/>
          </a:xfrm>
          <a:prstGeom prst="rect">
            <a:avLst/>
          </a:prstGeom>
          <a:noFill/>
          <a:ln/>
        </p:spPr>
        <p:txBody>
          <a:bodyPr wrap="square"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6</a:t>
            </a:r>
            <a:endParaRPr lang="en-US" sz="1100" dirty="0"/>
          </a:p>
        </p:txBody>
      </p:sp>
      <p:sp>
        <p:nvSpPr>
          <p:cNvPr id="39" name="Text 37"/>
          <p:cNvSpPr/>
          <p:nvPr/>
        </p:nvSpPr>
        <p:spPr>
          <a:xfrm>
            <a:off x="5166360" y="3941064"/>
            <a:ext cx="3456432" cy="256032"/>
          </a:xfrm>
          <a:prstGeom prst="rect">
            <a:avLst/>
          </a:prstGeom>
          <a:noFill/>
          <a:ln/>
        </p:spPr>
        <p:txBody>
          <a:bodyPr wrap="square" lIns="0" tIns="0" rIns="0" bIns="0" rtlCol="0" anchor="ctr"/>
          <a:lstStyle/>
          <a:p>
            <a:pPr indent="0" marL="0">
              <a:buNone/>
            </a:pPr>
            <a:r>
              <a:rPr lang="en-US" sz="1050" b="1" dirty="0">
                <a:solidFill>
                  <a:srgbClr val="8FA3B1"/>
                </a:solidFill>
                <a:latin typeface="Calibri" pitchFamily="34" charset="0"/>
                <a:ea typeface="Calibri" pitchFamily="34" charset="-122"/>
                <a:cs typeface="Calibri" pitchFamily="34" charset="-120"/>
              </a:rPr>
              <a:t>Cleanup</a:t>
            </a:r>
            <a:endParaRPr lang="en-US" sz="1050" dirty="0"/>
          </a:p>
        </p:txBody>
      </p:sp>
      <p:sp>
        <p:nvSpPr>
          <p:cNvPr id="40" name="Text 38"/>
          <p:cNvSpPr/>
          <p:nvPr/>
        </p:nvSpPr>
        <p:spPr>
          <a:xfrm>
            <a:off x="4727448" y="4261104"/>
            <a:ext cx="3913632" cy="530352"/>
          </a:xfrm>
          <a:prstGeom prst="rect">
            <a:avLst/>
          </a:prstGeom>
          <a:noFill/>
          <a:ln/>
        </p:spPr>
        <p:txBody>
          <a:bodyPr wrap="square" lIns="0" tIns="0" rIns="0" bIns="0" rtlCol="0" anchor="ctr"/>
          <a:lstStyle/>
          <a:p>
            <a:pPr indent="0" marL="0">
              <a:buNone/>
            </a:pPr>
            <a:r>
              <a:rPr lang="en-US" sz="850" dirty="0">
                <a:solidFill>
                  <a:srgbClr val="00D9A5"/>
                </a:solidFill>
                <a:latin typeface="Consolas" pitchFamily="34" charset="0"/>
                <a:ea typeface="Consolas" pitchFamily="34" charset="-122"/>
                <a:cs typeface="Consolas" pitchFamily="34" charset="-120"/>
              </a:rPr>
              <a:t>sudo ./engine stop c2</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sudo rmmod monitor</a:t>
            </a:r>
            <a:endParaRPr lang="en-US" sz="850" dirty="0"/>
          </a:p>
          <a:p>
            <a:pPr indent="0" marL="0">
              <a:buNone/>
            </a:pPr>
            <a:r>
              <a:rPr lang="en-US" sz="850" dirty="0">
                <a:solidFill>
                  <a:srgbClr val="00D9A5"/>
                </a:solidFill>
                <a:latin typeface="Consolas" pitchFamily="34" charset="0"/>
                <a:ea typeface="Consolas" pitchFamily="34" charset="-122"/>
                <a:cs typeface="Consolas" pitchFamily="34" charset="-120"/>
              </a:rPr>
              <a:t># or engine stop all</a:t>
            </a:r>
            <a:endParaRPr lang="en-US" sz="850" dirty="0"/>
          </a:p>
        </p:txBody>
      </p:sp>
      <p:sp>
        <p:nvSpPr>
          <p:cNvPr id="41" name="Text 39"/>
          <p:cNvSpPr/>
          <p:nvPr/>
        </p:nvSpPr>
        <p:spPr>
          <a:xfrm>
            <a:off x="4727448" y="4873752"/>
            <a:ext cx="3913632" cy="219456"/>
          </a:xfrm>
          <a:prstGeom prst="rect">
            <a:avLst/>
          </a:prstGeom>
          <a:noFill/>
          <a:ln/>
        </p:spPr>
        <p:txBody>
          <a:bodyPr wrap="square" lIns="0" tIns="0" rIns="0" bIns="0" rtlCol="0" anchor="ctr"/>
          <a:lstStyle/>
          <a:p>
            <a:pPr indent="0" marL="0">
              <a:buNone/>
            </a:pPr>
            <a:r>
              <a:rPr lang="en-US" sz="800" i="1" dirty="0">
                <a:solidFill>
                  <a:srgbClr val="8FA3B1"/>
                </a:solidFill>
                <a:latin typeface="Calibri" pitchFamily="34" charset="0"/>
                <a:ea typeface="Calibri" pitchFamily="34" charset="-122"/>
                <a:cs typeface="Calibri" pitchFamily="34" charset="-120"/>
              </a:rPr>
              <a:t>Supervisor sends SIGTERM; module freed cleanly</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858000" y="-457200"/>
            <a:ext cx="3200400" cy="3200400"/>
          </a:xfrm>
          <a:prstGeom prst="ellipse">
            <a:avLst/>
          </a:prstGeom>
          <a:solidFill>
            <a:srgbClr val="00D9A5">
              <a:alpha val="12000"/>
            </a:srgbClr>
          </a:solidFill>
          <a:ln w="12700">
            <a:solidFill>
              <a:srgbClr val="00D9A5">
                <a:alpha val="12000"/>
              </a:srgbClr>
            </a:solidFill>
            <a:prstDash val="solid"/>
          </a:ln>
        </p:spPr>
      </p:sp>
      <p:sp>
        <p:nvSpPr>
          <p:cNvPr id="3" name="Shape 1"/>
          <p:cNvSpPr/>
          <p:nvPr/>
        </p:nvSpPr>
        <p:spPr>
          <a:xfrm>
            <a:off x="-457200" y="3200400"/>
            <a:ext cx="2286000" cy="2286000"/>
          </a:xfrm>
          <a:prstGeom prst="ellipse">
            <a:avLst/>
          </a:prstGeom>
          <a:solidFill>
            <a:srgbClr val="0E9AA7">
              <a:alpha val="15000"/>
            </a:srgbClr>
          </a:solidFill>
          <a:ln w="12700">
            <a:solidFill>
              <a:srgbClr val="0E9AA7">
                <a:alpha val="15000"/>
              </a:srgbClr>
            </a:solidFill>
            <a:prstDash val="solid"/>
          </a:ln>
        </p:spPr>
      </p:sp>
      <p:sp>
        <p:nvSpPr>
          <p:cNvPr id="4" name="Text 2"/>
          <p:cNvSpPr/>
          <p:nvPr/>
        </p:nvSpPr>
        <p:spPr>
          <a:xfrm>
            <a:off x="457200" y="274320"/>
            <a:ext cx="8229600" cy="502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Conclusion &amp; Future Scope</a:t>
            </a:r>
            <a:endParaRPr lang="en-US" sz="3000" dirty="0"/>
          </a:p>
        </p:txBody>
      </p:sp>
      <p:sp>
        <p:nvSpPr>
          <p:cNvPr id="5" name="Shape 3"/>
          <p:cNvSpPr/>
          <p:nvPr/>
        </p:nvSpPr>
        <p:spPr>
          <a:xfrm>
            <a:off x="457200" y="841248"/>
            <a:ext cx="8229600" cy="22860"/>
          </a:xfrm>
          <a:prstGeom prst="rect">
            <a:avLst/>
          </a:prstGeom>
          <a:solidFill>
            <a:srgbClr val="00D9A5"/>
          </a:solidFill>
          <a:ln w="12700">
            <a:solidFill>
              <a:srgbClr val="00D9A5"/>
            </a:solidFill>
            <a:prstDash val="solid"/>
          </a:ln>
        </p:spPr>
      </p:sp>
      <p:sp>
        <p:nvSpPr>
          <p:cNvPr id="6" name="Text 4"/>
          <p:cNvSpPr/>
          <p:nvPr/>
        </p:nvSpPr>
        <p:spPr>
          <a:xfrm>
            <a:off x="457200" y="987552"/>
            <a:ext cx="3840480" cy="274320"/>
          </a:xfrm>
          <a:prstGeom prst="rect">
            <a:avLst/>
          </a:prstGeom>
          <a:noFill/>
          <a:ln/>
        </p:spPr>
        <p:txBody>
          <a:bodyPr wrap="square" lIns="0" tIns="0" rIns="0" bIns="0" rtlCol="0" anchor="ctr"/>
          <a:lstStyle/>
          <a:p>
            <a:pPr indent="0" marL="0">
              <a:buNone/>
            </a:pPr>
            <a:r>
              <a:rPr lang="en-US" sz="1400" b="1" dirty="0">
                <a:solidFill>
                  <a:srgbClr val="00D9A5"/>
                </a:solidFill>
                <a:latin typeface="Calibri" pitchFamily="34" charset="0"/>
                <a:ea typeface="Calibri" pitchFamily="34" charset="-122"/>
                <a:cs typeface="Calibri" pitchFamily="34" charset="-120"/>
              </a:rPr>
              <a:t>What We Built</a:t>
            </a:r>
            <a:endParaRPr lang="en-US" sz="1400" dirty="0"/>
          </a:p>
        </p:txBody>
      </p:sp>
      <p:sp>
        <p:nvSpPr>
          <p:cNvPr id="7" name="Text 5"/>
          <p:cNvSpPr/>
          <p:nvPr/>
        </p:nvSpPr>
        <p:spPr>
          <a:xfrm>
            <a:off x="457200" y="1298448"/>
            <a:ext cx="3840480" cy="2743200"/>
          </a:xfrm>
          <a:prstGeom prst="rect">
            <a:avLst/>
          </a:prstGeom>
          <a:noFill/>
          <a:ln/>
        </p:spPr>
        <p:txBody>
          <a:bodyPr wrap="square" lIns="50800" tIns="50800" rIns="50800" bIns="50800" rtlCol="0" anchor="t"/>
          <a:lstStyle/>
          <a:p>
            <a:pPr marL="342900" indent="-342900">
              <a:buSzPct val="100000"/>
              <a:buChar char="•"/>
            </a:pPr>
            <a:r>
              <a:rPr lang="en-US" sz="1250" dirty="0">
                <a:solidFill>
                  <a:srgbClr val="F0F4F8"/>
                </a:solidFill>
                <a:latin typeface="Calibri" pitchFamily="34" charset="0"/>
                <a:ea typeface="Calibri" pitchFamily="34" charset="-122"/>
                <a:cs typeface="Calibri" pitchFamily="34" charset="-120"/>
              </a:rPr>
              <a:t>Functional mini container runtime with Linux namespace isolation</a:t>
            </a:r>
            <a:endParaRPr lang="en-US" sz="1250" dirty="0"/>
          </a:p>
          <a:p>
            <a:pPr marL="342900" indent="-342900">
              <a:buSzPct val="100000"/>
              <a:buChar char="•"/>
            </a:pPr>
            <a:r>
              <a:rPr lang="en-US" sz="1250" dirty="0">
                <a:solidFill>
                  <a:srgbClr val="F0F4F8"/>
                </a:solidFill>
                <a:latin typeface="Calibri" pitchFamily="34" charset="0"/>
                <a:ea typeface="Calibri" pitchFamily="34" charset="-122"/>
                <a:cs typeface="Calibri" pitchFamily="34" charset="-120"/>
              </a:rPr>
              <a:t>Kernel module with real-time RSS polling via kernel timer (1 Hz)</a:t>
            </a:r>
            <a:endParaRPr lang="en-US" sz="1250" dirty="0"/>
          </a:p>
          <a:p>
            <a:pPr marL="342900" indent="-342900">
              <a:buSzPct val="100000"/>
              <a:buChar char="•"/>
            </a:pPr>
            <a:r>
              <a:rPr lang="en-US" sz="1250" dirty="0">
                <a:solidFill>
                  <a:srgbClr val="F0F4F8"/>
                </a:solidFill>
                <a:latin typeface="Calibri" pitchFamily="34" charset="0"/>
                <a:ea typeface="Calibri" pitchFamily="34" charset="-122"/>
                <a:cs typeface="Calibri" pitchFamily="34" charset="-120"/>
              </a:rPr>
              <a:t>Soft-limit warning + hard-limit SIGKILL enforcement from kernel space</a:t>
            </a:r>
            <a:endParaRPr lang="en-US" sz="1250" dirty="0"/>
          </a:p>
          <a:p>
            <a:pPr marL="342900" indent="-342900">
              <a:buSzPct val="100000"/>
              <a:buChar char="•"/>
            </a:pPr>
            <a:r>
              <a:rPr lang="en-US" sz="1250" dirty="0">
                <a:solidFill>
                  <a:srgbClr val="F0F4F8"/>
                </a:solidFill>
                <a:latin typeface="Calibri" pitchFamily="34" charset="0"/>
                <a:ea typeface="Calibri" pitchFamily="34" charset="-122"/>
                <a:cs typeface="Calibri" pitchFamily="34" charset="-120"/>
              </a:rPr>
              <a:t>Thread-safe bounded-buffer logger with producer-consumer pattern</a:t>
            </a:r>
            <a:endParaRPr lang="en-US" sz="1250" dirty="0"/>
          </a:p>
          <a:p>
            <a:pPr marL="342900" indent="-342900">
              <a:buSzPct val="100000"/>
              <a:buChar char="•"/>
            </a:pPr>
            <a:r>
              <a:rPr lang="en-US" sz="1250" dirty="0">
                <a:solidFill>
                  <a:srgbClr val="F0F4F8"/>
                </a:solidFill>
                <a:latin typeface="Calibri" pitchFamily="34" charset="0"/>
                <a:ea typeface="Calibri" pitchFamily="34" charset="-122"/>
                <a:cs typeface="Calibri" pitchFamily="34" charset="-120"/>
              </a:rPr>
              <a:t>Bidirectional IPC: UNIX socket (control) + pipe (data)</a:t>
            </a:r>
            <a:endParaRPr lang="en-US" sz="1250" dirty="0"/>
          </a:p>
          <a:p>
            <a:pPr marL="342900" indent="-342900">
              <a:buSzPct val="100000"/>
              <a:buChar char="•"/>
            </a:pPr>
            <a:r>
              <a:rPr lang="en-US" sz="1250" dirty="0">
                <a:solidFill>
                  <a:srgbClr val="F0F4F8"/>
                </a:solidFill>
                <a:latin typeface="Calibri" pitchFamily="34" charset="0"/>
                <a:ea typeface="Calibri" pitchFamily="34" charset="-122"/>
                <a:cs typeface="Calibri" pitchFamily="34" charset="-120"/>
              </a:rPr>
              <a:t>CFS scheduling experiments with measurable nice-value effects</a:t>
            </a:r>
            <a:endParaRPr lang="en-US" sz="1250" dirty="0"/>
          </a:p>
        </p:txBody>
      </p:sp>
      <p:sp>
        <p:nvSpPr>
          <p:cNvPr id="8" name="Text 6"/>
          <p:cNvSpPr/>
          <p:nvPr/>
        </p:nvSpPr>
        <p:spPr>
          <a:xfrm>
            <a:off x="4754880" y="987552"/>
            <a:ext cx="3931920" cy="274320"/>
          </a:xfrm>
          <a:prstGeom prst="rect">
            <a:avLst/>
          </a:prstGeom>
          <a:noFill/>
          <a:ln/>
        </p:spPr>
        <p:txBody>
          <a:bodyPr wrap="square" lIns="0" tIns="0" rIns="0" bIns="0"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Future Scope</a:t>
            </a:r>
            <a:endParaRPr lang="en-US" sz="1400" dirty="0"/>
          </a:p>
        </p:txBody>
      </p:sp>
      <p:sp>
        <p:nvSpPr>
          <p:cNvPr id="9" name="Text 7"/>
          <p:cNvSpPr/>
          <p:nvPr/>
        </p:nvSpPr>
        <p:spPr>
          <a:xfrm>
            <a:off x="4754880" y="1298448"/>
            <a:ext cx="3931920" cy="2743200"/>
          </a:xfrm>
          <a:prstGeom prst="rect">
            <a:avLst/>
          </a:prstGeom>
          <a:noFill/>
          <a:ln/>
        </p:spPr>
        <p:txBody>
          <a:bodyPr wrap="square" lIns="50800" tIns="50800" rIns="50800" bIns="50800" rtlCol="0" anchor="t"/>
          <a:lstStyle/>
          <a:p>
            <a:pPr marL="342900" indent="-342900">
              <a:buSzPct val="100000"/>
              <a:buChar char="•"/>
            </a:pPr>
            <a:r>
              <a:rPr lang="en-US" sz="1250" dirty="0">
                <a:solidFill>
                  <a:srgbClr val="F0F4F8"/>
                </a:solidFill>
                <a:latin typeface="Calibri" pitchFamily="34" charset="0"/>
                <a:ea typeface="Calibri" pitchFamily="34" charset="-122"/>
                <a:cs typeface="Calibri" pitchFamily="34" charset="-120"/>
              </a:rPr>
              <a:t>cgroup v2 integration for CPU + I/O limits (not just memory)</a:t>
            </a:r>
            <a:endParaRPr lang="en-US" sz="1250" dirty="0"/>
          </a:p>
          <a:p>
            <a:pPr marL="342900" indent="-342900">
              <a:buSzPct val="100000"/>
              <a:buChar char="•"/>
            </a:pPr>
            <a:r>
              <a:rPr lang="en-US" sz="1250" dirty="0">
                <a:solidFill>
                  <a:srgbClr val="F0F4F8"/>
                </a:solidFill>
                <a:latin typeface="Calibri" pitchFamily="34" charset="0"/>
                <a:ea typeface="Calibri" pitchFamily="34" charset="-122"/>
                <a:cs typeface="Calibri" pitchFamily="34" charset="-120"/>
              </a:rPr>
              <a:t>Network namespace support — veth pairs per container</a:t>
            </a:r>
            <a:endParaRPr lang="en-US" sz="1250" dirty="0"/>
          </a:p>
          <a:p>
            <a:pPr marL="342900" indent="-342900">
              <a:buSzPct val="100000"/>
              <a:buChar char="•"/>
            </a:pPr>
            <a:r>
              <a:rPr lang="en-US" sz="1250" dirty="0">
                <a:solidFill>
                  <a:srgbClr val="F0F4F8"/>
                </a:solidFill>
                <a:latin typeface="Calibri" pitchFamily="34" charset="0"/>
                <a:ea typeface="Calibri" pitchFamily="34" charset="-122"/>
                <a:cs typeface="Calibri" pitchFamily="34" charset="-120"/>
              </a:rPr>
              <a:t>Overlay filesystem (like OverlayFS) for copy-on-write rootfs layers</a:t>
            </a:r>
            <a:endParaRPr lang="en-US" sz="1250" dirty="0"/>
          </a:p>
          <a:p>
            <a:pPr marL="342900" indent="-342900">
              <a:buSzPct val="100000"/>
              <a:buChar char="•"/>
            </a:pPr>
            <a:r>
              <a:rPr lang="en-US" sz="1250" dirty="0">
                <a:solidFill>
                  <a:srgbClr val="F0F4F8"/>
                </a:solidFill>
                <a:latin typeface="Calibri" pitchFamily="34" charset="0"/>
                <a:ea typeface="Calibri" pitchFamily="34" charset="-122"/>
                <a:cs typeface="Calibri" pitchFamily="34" charset="-120"/>
              </a:rPr>
              <a:t>Replace timer polling with memory cgroup event notification</a:t>
            </a:r>
            <a:endParaRPr lang="en-US" sz="1250" dirty="0"/>
          </a:p>
          <a:p>
            <a:pPr marL="342900" indent="-342900">
              <a:buSzPct val="100000"/>
              <a:buChar char="•"/>
            </a:pPr>
            <a:r>
              <a:rPr lang="en-US" sz="1250" dirty="0">
                <a:solidFill>
                  <a:srgbClr val="F0F4F8"/>
                </a:solidFill>
                <a:latin typeface="Calibri" pitchFamily="34" charset="0"/>
                <a:ea typeface="Calibri" pitchFamily="34" charset="-122"/>
                <a:cs typeface="Calibri" pitchFamily="34" charset="-120"/>
              </a:rPr>
              <a:t>Per-container CPU usage accounting (sched_getattr)</a:t>
            </a:r>
            <a:endParaRPr lang="en-US" sz="1250" dirty="0"/>
          </a:p>
          <a:p>
            <a:pPr marL="342900" indent="-342900">
              <a:buSzPct val="100000"/>
              <a:buChar char="•"/>
            </a:pPr>
            <a:r>
              <a:rPr lang="en-US" sz="1250" dirty="0">
                <a:solidFill>
                  <a:srgbClr val="F0F4F8"/>
                </a:solidFill>
                <a:latin typeface="Calibri" pitchFamily="34" charset="0"/>
                <a:ea typeface="Calibri" pitchFamily="34" charset="-122"/>
                <a:cs typeface="Calibri" pitchFamily="34" charset="-120"/>
              </a:rPr>
              <a:t>Seccomp-based syscall filtering for security hardening</a:t>
            </a:r>
            <a:endParaRPr lang="en-US" sz="1250" dirty="0"/>
          </a:p>
        </p:txBody>
      </p:sp>
      <p:sp>
        <p:nvSpPr>
          <p:cNvPr id="10" name="Shape 8"/>
          <p:cNvSpPr/>
          <p:nvPr/>
        </p:nvSpPr>
        <p:spPr>
          <a:xfrm>
            <a:off x="457200" y="4206240"/>
            <a:ext cx="8229600" cy="22860"/>
          </a:xfrm>
          <a:prstGeom prst="rect">
            <a:avLst/>
          </a:prstGeom>
          <a:solidFill>
            <a:srgbClr val="0E9AA7"/>
          </a:solidFill>
          <a:ln w="12700">
            <a:solidFill>
              <a:srgbClr val="0E9AA7"/>
            </a:solidFill>
            <a:prstDash val="solid"/>
          </a:ln>
        </p:spPr>
      </p:sp>
      <p:sp>
        <p:nvSpPr>
          <p:cNvPr id="11" name="Text 9"/>
          <p:cNvSpPr/>
          <p:nvPr/>
        </p:nvSpPr>
        <p:spPr>
          <a:xfrm>
            <a:off x="457200" y="4279392"/>
            <a:ext cx="8229600" cy="457200"/>
          </a:xfrm>
          <a:prstGeom prst="rect">
            <a:avLst/>
          </a:prstGeom>
          <a:noFill/>
          <a:ln/>
        </p:spPr>
        <p:txBody>
          <a:bodyPr wrap="square" rtlCol="0" anchor="ctr"/>
          <a:lstStyle/>
          <a:p>
            <a:pPr algn="ctr" indent="0" marL="0">
              <a:buNone/>
            </a:pPr>
            <a:r>
              <a:rPr lang="en-US" sz="1250" b="1" dirty="0">
                <a:solidFill>
                  <a:srgbClr val="00D9A5"/>
                </a:solidFill>
                <a:latin typeface="Calibri" pitchFamily="34" charset="0"/>
                <a:ea typeface="Calibri" pitchFamily="34" charset="-122"/>
                <a:cs typeface="Calibri" pitchFamily="34" charset="-120"/>
              </a:rPr>
              <a:t>This project demonstrates mastery of: process isolation, kernel programming, IPC, synchronization primitives, and OS scheduling — all in real C.</a:t>
            </a:r>
            <a:endParaRPr lang="en-US" sz="1250" dirty="0"/>
          </a:p>
        </p:txBody>
      </p:sp>
      <p:sp>
        <p:nvSpPr>
          <p:cNvPr id="12" name="Text 10"/>
          <p:cNvSpPr/>
          <p:nvPr/>
        </p:nvSpPr>
        <p:spPr>
          <a:xfrm>
            <a:off x="457200" y="4572000"/>
            <a:ext cx="8229600" cy="365760"/>
          </a:xfrm>
          <a:prstGeom prst="rect">
            <a:avLst/>
          </a:prstGeom>
          <a:noFill/>
          <a:ln/>
        </p:spPr>
        <p:txBody>
          <a:bodyPr wrap="square" rtlCol="0" anchor="ctr"/>
          <a:lstStyle/>
          <a:p>
            <a:pPr algn="ctr" indent="0" marL="0">
              <a:buNone/>
            </a:pPr>
            <a:r>
              <a:rPr lang="en-US" sz="1100" dirty="0">
                <a:solidFill>
                  <a:srgbClr val="8FA3B1"/>
                </a:solidFill>
                <a:latin typeface="Calibri" pitchFamily="34" charset="0"/>
                <a:ea typeface="Calibri" pitchFamily="34" charset="-122"/>
                <a:cs typeface="Calibri" pitchFamily="34" charset="-120"/>
              </a:rPr>
              <a:t>Thank You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Multi-Container Runtime OS Project</dc:title>
  <dc:subject>PptxGenJS Presentation</dc:subject>
  <dc:creator>PptxGenJS</dc:creator>
  <cp:lastModifiedBy>PptxGenJS</cp:lastModifiedBy>
  <cp:revision>1</cp:revision>
  <dcterms:created xsi:type="dcterms:W3CDTF">2026-04-19T15:56:08Z</dcterms:created>
  <dcterms:modified xsi:type="dcterms:W3CDTF">2026-04-19T15:56:08Z</dcterms:modified>
</cp:coreProperties>
</file>